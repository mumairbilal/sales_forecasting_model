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63" r:id="rId2"/>
    <p:sldId id="256" r:id="rId3"/>
    <p:sldId id="261" r:id="rId4"/>
    <p:sldId id="257" r:id="rId5"/>
    <p:sldId id="258" r:id="rId6"/>
    <p:sldId id="259" r:id="rId7"/>
    <p:sldId id="262" r:id="rId8"/>
    <p:sldId id="260" r:id="rId9"/>
    <p:sldId id="264" r:id="rId10"/>
    <p:sldId id="265" r:id="rId11"/>
    <p:sldId id="266" r:id="rId12"/>
    <p:sldId id="268" r:id="rId13"/>
    <p:sldId id="270" r:id="rId14"/>
    <p:sldId id="271" r:id="rId15"/>
    <p:sldId id="272" r:id="rId16"/>
  </p:sldIdLst>
  <p:sldSz cx="18288000" cy="10287000"/>
  <p:notesSz cx="6858000" cy="9144000"/>
  <p:embeddedFontLst>
    <p:embeddedFont>
      <p:font typeface="Canva Sans" panose="020B0604020202020204" charset="0"/>
      <p:regular r:id="rId18"/>
    </p:embeddedFont>
    <p:embeddedFont>
      <p:font typeface="DM Sans" panose="020F0502020204030204" pitchFamily="2" charset="0"/>
      <p:regular r:id="rId19"/>
      <p:bold r:id="rId20"/>
      <p:italic r:id="rId21"/>
      <p:boldItalic r:id="rId22"/>
    </p:embeddedFont>
    <p:embeddedFont>
      <p:font typeface="DM Sans Bold" panose="020B0604020202020204" charset="0"/>
      <p:bold r:id="rId23"/>
    </p:embeddedFont>
    <p:embeddedFont>
      <p:font typeface="Montserrat Bold" panose="020B0604020202020204" charset="0"/>
      <p:regular r:id="rId24"/>
      <p:bold r:id="rId25"/>
    </p:embeddedFont>
    <p:embeddedFont>
      <p:font typeface="Segoe UI" panose="020B0502040204020203" pitchFamily="34" charset="0"/>
      <p:regular r:id="rId26"/>
      <p:bold r:id="rId27"/>
      <p:italic r:id="rId28"/>
      <p:boldItalic r:id="rId29"/>
    </p:embeddedFont>
    <p:embeddedFont>
      <p:font typeface="Segoe UI Light" panose="020B0502040204020203" pitchFamily="34" charset="0"/>
      <p:regular r:id="rId30"/>
      <p:italic r:id="rId31"/>
    </p:embeddedFont>
    <p:embeddedFont>
      <p:font typeface="Segoe UI Semibold" panose="020B0702040204020203" pitchFamily="34" charset="0"/>
      <p:bold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ACC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F193CE-0728-490B-83C7-F0305078FDC4}" type="datetimeFigureOut">
              <a:rPr lang="en-US" smtClean="0"/>
              <a:t>5/16/2026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31692D-57F6-407E-B9AE-3FC2119815F4}" type="slidenum">
              <a:rPr lang="en-US" smtClean="0"/>
              <a:t>‹#›</a:t>
            </a:fld>
            <a:endParaRPr lang="en-US"/>
          </a:p>
        </p:txBody>
      </p:sp>
    </p:spTree>
    <p:extLst>
      <p:ext uri="{BB962C8B-B14F-4D97-AF65-F5344CB8AC3E}">
        <p14:creationId xmlns:p14="http://schemas.microsoft.com/office/powerpoint/2010/main" val="375532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6BB89-57A6-4CDE-2214-02885B23D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5BCC9F-3665-0C31-8C20-C2BB4F6237F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9254E25-BF69-C2CC-B267-A97E7FC346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B9365-6E23-FA90-3881-51DB02782D0F}"/>
              </a:ext>
            </a:extLst>
          </p:cNvPr>
          <p:cNvSpPr>
            <a:spLocks noGrp="1"/>
          </p:cNvSpPr>
          <p:nvPr>
            <p:ph type="sldNum" sz="quarter" idx="5"/>
          </p:nvPr>
        </p:nvSpPr>
        <p:spPr/>
        <p:txBody>
          <a:bodyPr/>
          <a:lstStyle/>
          <a:p>
            <a:fld id="{7F31692D-57F6-407E-B9AE-3FC2119815F4}" type="slidenum">
              <a:rPr lang="en-US" smtClean="0"/>
              <a:t>1</a:t>
            </a:fld>
            <a:endParaRPr lang="en-US"/>
          </a:p>
        </p:txBody>
      </p:sp>
    </p:spTree>
    <p:extLst>
      <p:ext uri="{BB962C8B-B14F-4D97-AF65-F5344CB8AC3E}">
        <p14:creationId xmlns:p14="http://schemas.microsoft.com/office/powerpoint/2010/main" val="989335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31692D-57F6-407E-B9AE-3FC2119815F4}" type="slidenum">
              <a:rPr lang="en-US" smtClean="0"/>
              <a:t>2</a:t>
            </a:fld>
            <a:endParaRPr lang="en-US"/>
          </a:p>
        </p:txBody>
      </p:sp>
    </p:spTree>
    <p:extLst>
      <p:ext uri="{BB962C8B-B14F-4D97-AF65-F5344CB8AC3E}">
        <p14:creationId xmlns:p14="http://schemas.microsoft.com/office/powerpoint/2010/main" val="3336171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31692D-57F6-407E-B9AE-3FC2119815F4}" type="slidenum">
              <a:rPr lang="en-US" smtClean="0"/>
              <a:t>6</a:t>
            </a:fld>
            <a:endParaRPr lang="en-US"/>
          </a:p>
        </p:txBody>
      </p:sp>
    </p:spTree>
    <p:extLst>
      <p:ext uri="{BB962C8B-B14F-4D97-AF65-F5344CB8AC3E}">
        <p14:creationId xmlns:p14="http://schemas.microsoft.com/office/powerpoint/2010/main" val="3474338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F31692D-57F6-407E-B9AE-3FC2119815F4}" type="slidenum">
              <a:rPr lang="en-US" smtClean="0"/>
              <a:t>7</a:t>
            </a:fld>
            <a:endParaRPr lang="en-US"/>
          </a:p>
        </p:txBody>
      </p:sp>
    </p:spTree>
    <p:extLst>
      <p:ext uri="{BB962C8B-B14F-4D97-AF65-F5344CB8AC3E}">
        <p14:creationId xmlns:p14="http://schemas.microsoft.com/office/powerpoint/2010/main" val="1181322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1.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sv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svg"/><Relationship Id="rId7" Type="http://schemas.openxmlformats.org/officeDocument/2006/relationships/image" Target="../media/image20.svg"/><Relationship Id="rId2" Type="http://schemas.openxmlformats.org/officeDocument/2006/relationships/image" Target="../media/image17.svg"/><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029672AF-C9D0-03C8-76FE-B25087D60642}"/>
            </a:ext>
          </a:extLst>
        </p:cNvPr>
        <p:cNvGrpSpPr/>
        <p:nvPr/>
      </p:nvGrpSpPr>
      <p:grpSpPr>
        <a:xfrm>
          <a:off x="0" y="0"/>
          <a:ext cx="0" cy="0"/>
          <a:chOff x="0" y="0"/>
          <a:chExt cx="0" cy="0"/>
        </a:xfrm>
      </p:grpSpPr>
      <p:sp>
        <p:nvSpPr>
          <p:cNvPr id="10" name="TextBox 6">
            <a:extLst>
              <a:ext uri="{FF2B5EF4-FFF2-40B4-BE49-F238E27FC236}">
                <a16:creationId xmlns:a16="http://schemas.microsoft.com/office/drawing/2014/main" id="{A16FF351-6C9E-94E4-25F3-0E6A13F18CDD}"/>
              </a:ext>
            </a:extLst>
          </p:cNvPr>
          <p:cNvSpPr txBox="1"/>
          <p:nvPr/>
        </p:nvSpPr>
        <p:spPr>
          <a:xfrm>
            <a:off x="1142998" y="2636103"/>
            <a:ext cx="13487401" cy="738664"/>
          </a:xfrm>
          <a:prstGeom prst="rect">
            <a:avLst/>
          </a:prstGeom>
        </p:spPr>
        <p:txBody>
          <a:bodyPr wrap="square" lIns="0" tIns="0" rIns="0" bIns="0" rtlCol="0" anchor="t">
            <a:spAutoFit/>
          </a:bodyPr>
          <a:lstStyle/>
          <a:p>
            <a:pPr>
              <a:spcBef>
                <a:spcPct val="0"/>
              </a:spcBef>
            </a:pPr>
            <a:r>
              <a:rPr lang="en-US" sz="48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AI Driven Business Sales Forecasting System</a:t>
            </a:r>
          </a:p>
        </p:txBody>
      </p:sp>
      <p:sp>
        <p:nvSpPr>
          <p:cNvPr id="16" name="TextBox 10">
            <a:extLst>
              <a:ext uri="{FF2B5EF4-FFF2-40B4-BE49-F238E27FC236}">
                <a16:creationId xmlns:a16="http://schemas.microsoft.com/office/drawing/2014/main" id="{57572BFE-C067-1109-512A-5CEDC0E34C99}"/>
              </a:ext>
            </a:extLst>
          </p:cNvPr>
          <p:cNvSpPr txBox="1"/>
          <p:nvPr/>
        </p:nvSpPr>
        <p:spPr>
          <a:xfrm>
            <a:off x="2315646" y="1480652"/>
            <a:ext cx="5609154" cy="632289"/>
          </a:xfrm>
          <a:prstGeom prst="rect">
            <a:avLst/>
          </a:prstGeom>
        </p:spPr>
        <p:txBody>
          <a:bodyPr wrap="square" lIns="0" tIns="0" rIns="0" bIns="0" rtlCol="0" anchor="t">
            <a:spAutoFit/>
          </a:bodyPr>
          <a:lstStyle/>
          <a:p>
            <a:pPr marL="0" lvl="0" indent="0">
              <a:lnSpc>
                <a:spcPts val="4387"/>
              </a:lnSpc>
            </a:pPr>
            <a:r>
              <a:rPr lang="en-US" sz="66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19" name="Graphic 18">
            <a:extLst>
              <a:ext uri="{FF2B5EF4-FFF2-40B4-BE49-F238E27FC236}">
                <a16:creationId xmlns:a16="http://schemas.microsoft.com/office/drawing/2014/main" id="{11065150-A466-7C64-ACE6-94EEAE92E3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999" y="1195672"/>
            <a:ext cx="853305" cy="853305"/>
          </a:xfrm>
          <a:prstGeom prst="rect">
            <a:avLst/>
          </a:prstGeom>
        </p:spPr>
      </p:pic>
      <p:sp>
        <p:nvSpPr>
          <p:cNvPr id="21" name="AutoShape 16">
            <a:extLst>
              <a:ext uri="{FF2B5EF4-FFF2-40B4-BE49-F238E27FC236}">
                <a16:creationId xmlns:a16="http://schemas.microsoft.com/office/drawing/2014/main" id="{0E865652-F7FF-041F-7BED-A56A33694945}"/>
              </a:ext>
            </a:extLst>
          </p:cNvPr>
          <p:cNvSpPr/>
          <p:nvPr/>
        </p:nvSpPr>
        <p:spPr>
          <a:xfrm>
            <a:off x="1142998" y="3411597"/>
            <a:ext cx="12573002" cy="53555"/>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latin typeface="Segoe UI" panose="020B0502040204020203" pitchFamily="34" charset="0"/>
              <a:cs typeface="Segoe UI" panose="020B0502040204020203" pitchFamily="34" charset="0"/>
            </a:endParaRPr>
          </a:p>
        </p:txBody>
      </p:sp>
      <p:pic>
        <p:nvPicPr>
          <p:cNvPr id="2" name="Picture 1">
            <a:extLst>
              <a:ext uri="{FF2B5EF4-FFF2-40B4-BE49-F238E27FC236}">
                <a16:creationId xmlns:a16="http://schemas.microsoft.com/office/drawing/2014/main" id="{CB37BF7F-1912-E83E-B337-FC875C712C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48930" y="4104154"/>
            <a:ext cx="5662670" cy="4491779"/>
          </a:xfrm>
          <a:prstGeom prst="rect">
            <a:avLst/>
          </a:prstGeom>
        </p:spPr>
      </p:pic>
      <p:sp>
        <p:nvSpPr>
          <p:cNvPr id="3" name="TextBox 14">
            <a:extLst>
              <a:ext uri="{FF2B5EF4-FFF2-40B4-BE49-F238E27FC236}">
                <a16:creationId xmlns:a16="http://schemas.microsoft.com/office/drawing/2014/main" id="{E26922BF-9001-EF04-4D24-0DD2891DB1B5}"/>
              </a:ext>
            </a:extLst>
          </p:cNvPr>
          <p:cNvSpPr txBox="1"/>
          <p:nvPr/>
        </p:nvSpPr>
        <p:spPr>
          <a:xfrm>
            <a:off x="11558528" y="8735988"/>
            <a:ext cx="5053072" cy="430887"/>
          </a:xfrm>
          <a:prstGeom prst="rect">
            <a:avLst/>
          </a:prstGeom>
        </p:spPr>
        <p:txBody>
          <a:bodyPr wrap="square" lIns="0" tIns="0" rIns="0" bIns="0" rtlCol="0" anchor="t">
            <a:spAutoFit/>
          </a:bodyPr>
          <a:lstStyle/>
          <a:p>
            <a:pPr algn="l"/>
            <a:r>
              <a:rPr lang="en-US" sz="2800" dirty="0">
                <a:solidFill>
                  <a:srgbClr val="101011"/>
                </a:solidFill>
                <a:latin typeface="Segoe UI" panose="020B0502040204020203" pitchFamily="34" charset="0"/>
                <a:ea typeface="DM Sans"/>
                <a:cs typeface="Segoe UI" panose="020B0502040204020203" pitchFamily="34" charset="0"/>
                <a:sym typeface="DM Sans"/>
              </a:rPr>
              <a:t>UNIVERSITY OF SOUTH ASIA</a:t>
            </a:r>
          </a:p>
        </p:txBody>
      </p:sp>
      <p:sp>
        <p:nvSpPr>
          <p:cNvPr id="4" name="TextBox 13">
            <a:extLst>
              <a:ext uri="{FF2B5EF4-FFF2-40B4-BE49-F238E27FC236}">
                <a16:creationId xmlns:a16="http://schemas.microsoft.com/office/drawing/2014/main" id="{E8CD6D03-6A52-8C64-16F6-88C39ED9150E}"/>
              </a:ext>
            </a:extLst>
          </p:cNvPr>
          <p:cNvSpPr txBox="1"/>
          <p:nvPr/>
        </p:nvSpPr>
        <p:spPr>
          <a:xfrm>
            <a:off x="1143000" y="5829300"/>
            <a:ext cx="4114799" cy="453907"/>
          </a:xfrm>
          <a:prstGeom prst="rect">
            <a:avLst/>
          </a:prstGeom>
        </p:spPr>
        <p:txBody>
          <a:bodyPr wrap="square" lIns="0" tIns="0" rIns="0" bIns="0" rtlCol="0" anchor="t">
            <a:spAutoFit/>
          </a:bodyPr>
          <a:lstStyle/>
          <a:p>
            <a:pPr algn="l">
              <a:lnSpc>
                <a:spcPts val="3499"/>
              </a:lnSpc>
            </a:pPr>
            <a:r>
              <a:rPr lang="en-US" sz="4000" b="1" dirty="0">
                <a:solidFill>
                  <a:srgbClr val="101011"/>
                </a:solidFill>
                <a:latin typeface="Segoe UI" panose="020B0502040204020203" pitchFamily="34" charset="0"/>
                <a:ea typeface="DM Sans Bold"/>
                <a:cs typeface="Segoe UI" panose="020B0502040204020203" pitchFamily="34" charset="0"/>
                <a:sym typeface="DM Sans Bold"/>
              </a:rPr>
              <a:t>Presented by:</a:t>
            </a:r>
          </a:p>
        </p:txBody>
      </p:sp>
      <p:sp>
        <p:nvSpPr>
          <p:cNvPr id="22" name="TextBox 14">
            <a:extLst>
              <a:ext uri="{FF2B5EF4-FFF2-40B4-BE49-F238E27FC236}">
                <a16:creationId xmlns:a16="http://schemas.microsoft.com/office/drawing/2014/main" id="{587E8904-42BA-1196-271E-8CB2C440E063}"/>
              </a:ext>
            </a:extLst>
          </p:cNvPr>
          <p:cNvSpPr txBox="1"/>
          <p:nvPr/>
        </p:nvSpPr>
        <p:spPr>
          <a:xfrm>
            <a:off x="2470515" y="6512455"/>
            <a:ext cx="7206885" cy="1661993"/>
          </a:xfrm>
          <a:prstGeom prst="rect">
            <a:avLst/>
          </a:prstGeom>
        </p:spPr>
        <p:txBody>
          <a:bodyPr wrap="square" lIns="0" tIns="0" rIns="0" bIns="0" rtlCol="0" anchor="t">
            <a:spAutoFit/>
          </a:bodyPr>
          <a:lstStyle/>
          <a:p>
            <a:pPr marL="571500" indent="-571500" algn="l">
              <a:buFont typeface="Arial" panose="020B0604020202020204" pitchFamily="34" charset="0"/>
              <a:buChar char="•"/>
            </a:pPr>
            <a:r>
              <a:rPr lang="en-US" sz="3600" dirty="0">
                <a:solidFill>
                  <a:srgbClr val="101011"/>
                </a:solidFill>
                <a:latin typeface="Segoe UI" panose="020B0502040204020203" pitchFamily="34" charset="0"/>
                <a:ea typeface="DM Sans"/>
                <a:cs typeface="Segoe UI" panose="020B0502040204020203" pitchFamily="34" charset="0"/>
                <a:sym typeface="DM Sans"/>
              </a:rPr>
              <a:t>Muhammad Umair Bilal</a:t>
            </a:r>
          </a:p>
          <a:p>
            <a:pPr marL="571500" indent="-571500" algn="l">
              <a:buFont typeface="Arial" panose="020B0604020202020204" pitchFamily="34" charset="0"/>
              <a:buChar char="•"/>
            </a:pPr>
            <a:r>
              <a:rPr lang="en-US" sz="3600" dirty="0">
                <a:solidFill>
                  <a:srgbClr val="101011"/>
                </a:solidFill>
                <a:latin typeface="Segoe UI" panose="020B0502040204020203" pitchFamily="34" charset="0"/>
                <a:ea typeface="DM Sans"/>
                <a:cs typeface="Segoe UI" panose="020B0502040204020203" pitchFamily="34" charset="0"/>
                <a:sym typeface="DM Sans"/>
              </a:rPr>
              <a:t>Hafiz Mudassir Bilal</a:t>
            </a:r>
          </a:p>
          <a:p>
            <a:pPr marL="571500" indent="-571500" algn="l">
              <a:buFont typeface="Arial" panose="020B0604020202020204" pitchFamily="34" charset="0"/>
              <a:buChar char="•"/>
            </a:pPr>
            <a:r>
              <a:rPr lang="en-US" sz="3600" dirty="0">
                <a:solidFill>
                  <a:srgbClr val="101011"/>
                </a:solidFill>
                <a:latin typeface="Segoe UI" panose="020B0502040204020203" pitchFamily="34" charset="0"/>
                <a:ea typeface="DM Sans"/>
                <a:cs typeface="Segoe UI" panose="020B0502040204020203" pitchFamily="34" charset="0"/>
                <a:sym typeface="DM Sans"/>
              </a:rPr>
              <a:t>Khuzaima Asif</a:t>
            </a:r>
          </a:p>
        </p:txBody>
      </p:sp>
      <p:sp>
        <p:nvSpPr>
          <p:cNvPr id="23" name="TextBox 13">
            <a:extLst>
              <a:ext uri="{FF2B5EF4-FFF2-40B4-BE49-F238E27FC236}">
                <a16:creationId xmlns:a16="http://schemas.microsoft.com/office/drawing/2014/main" id="{A79B44C2-93D9-ACFF-3B54-F28F95A26A7B}"/>
              </a:ext>
            </a:extLst>
          </p:cNvPr>
          <p:cNvSpPr txBox="1"/>
          <p:nvPr/>
        </p:nvSpPr>
        <p:spPr>
          <a:xfrm>
            <a:off x="1095372" y="4229100"/>
            <a:ext cx="8277227" cy="452816"/>
          </a:xfrm>
          <a:prstGeom prst="rect">
            <a:avLst/>
          </a:prstGeom>
        </p:spPr>
        <p:txBody>
          <a:bodyPr wrap="square" lIns="0" tIns="0" rIns="0" bIns="0" rtlCol="0" anchor="t">
            <a:spAutoFit/>
          </a:bodyPr>
          <a:lstStyle/>
          <a:p>
            <a:pPr algn="l">
              <a:lnSpc>
                <a:spcPts val="3499"/>
              </a:lnSpc>
            </a:pPr>
            <a:r>
              <a:rPr lang="en-US" sz="4000" b="1" dirty="0">
                <a:solidFill>
                  <a:srgbClr val="101011"/>
                </a:solidFill>
                <a:latin typeface="Segoe UI" panose="020B0502040204020203" pitchFamily="34" charset="0"/>
                <a:ea typeface="DM Sans Bold"/>
                <a:cs typeface="Segoe UI" panose="020B0502040204020203" pitchFamily="34" charset="0"/>
                <a:sym typeface="DM Sans Bold"/>
              </a:rPr>
              <a:t>Supervisor:   </a:t>
            </a:r>
            <a:r>
              <a:rPr lang="en-US" sz="3500" dirty="0">
                <a:solidFill>
                  <a:srgbClr val="101011"/>
                </a:solidFill>
                <a:latin typeface="Segoe UI" panose="020B0502040204020203" pitchFamily="34" charset="0"/>
                <a:ea typeface="DM Sans Bold"/>
                <a:cs typeface="Segoe UI" panose="020B0502040204020203" pitchFamily="34" charset="0"/>
                <a:sym typeface="DM Sans Bold"/>
              </a:rPr>
              <a:t>Ms. Sawera Kanwal</a:t>
            </a:r>
          </a:p>
        </p:txBody>
      </p:sp>
    </p:spTree>
    <p:extLst>
      <p:ext uri="{BB962C8B-B14F-4D97-AF65-F5344CB8AC3E}">
        <p14:creationId xmlns:p14="http://schemas.microsoft.com/office/powerpoint/2010/main" val="2994814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10" name="TextBox 6">
            <a:extLst>
              <a:ext uri="{FF2B5EF4-FFF2-40B4-BE49-F238E27FC236}">
                <a16:creationId xmlns:a16="http://schemas.microsoft.com/office/drawing/2014/main" id="{84D87735-5AEB-34C4-3C96-8D95F9593220}"/>
              </a:ext>
            </a:extLst>
          </p:cNvPr>
          <p:cNvSpPr txBox="1"/>
          <p:nvPr/>
        </p:nvSpPr>
        <p:spPr>
          <a:xfrm>
            <a:off x="2286001" y="1579960"/>
            <a:ext cx="6858000"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16" name="TextBox 10">
            <a:extLst>
              <a:ext uri="{FF2B5EF4-FFF2-40B4-BE49-F238E27FC236}">
                <a16:creationId xmlns:a16="http://schemas.microsoft.com/office/drawing/2014/main" id="{93197278-3B66-936A-EB0B-BA15C9143795}"/>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19" name="Graphic 18">
            <a:extLst>
              <a:ext uri="{FF2B5EF4-FFF2-40B4-BE49-F238E27FC236}">
                <a16:creationId xmlns:a16="http://schemas.microsoft.com/office/drawing/2014/main" id="{17485BAB-388F-6C53-1FAF-0CAAAF188BF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999" y="1104900"/>
            <a:ext cx="829747" cy="829747"/>
          </a:xfrm>
          <a:prstGeom prst="rect">
            <a:avLst/>
          </a:prstGeom>
        </p:spPr>
      </p:pic>
      <p:sp>
        <p:nvSpPr>
          <p:cNvPr id="21" name="AutoShape 16">
            <a:extLst>
              <a:ext uri="{FF2B5EF4-FFF2-40B4-BE49-F238E27FC236}">
                <a16:creationId xmlns:a16="http://schemas.microsoft.com/office/drawing/2014/main" id="{0F153927-DE56-C56C-30F9-827746F0A36A}"/>
              </a:ext>
            </a:extLst>
          </p:cNvPr>
          <p:cNvSpPr/>
          <p:nvPr/>
        </p:nvSpPr>
        <p:spPr>
          <a:xfrm>
            <a:off x="1142998" y="3356916"/>
            <a:ext cx="5257801" cy="22396"/>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pic>
        <p:nvPicPr>
          <p:cNvPr id="6" name="Picture 5">
            <a:extLst>
              <a:ext uri="{FF2B5EF4-FFF2-40B4-BE49-F238E27FC236}">
                <a16:creationId xmlns:a16="http://schemas.microsoft.com/office/drawing/2014/main" id="{C1262C9E-AB98-0125-EF13-F8334CCE13C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581900" y="3927846"/>
            <a:ext cx="3124200" cy="3122466"/>
          </a:xfrm>
          <a:prstGeom prst="rect">
            <a:avLst/>
          </a:prstGeom>
        </p:spPr>
      </p:pic>
      <p:pic>
        <p:nvPicPr>
          <p:cNvPr id="8" name="Picture 7">
            <a:extLst>
              <a:ext uri="{FF2B5EF4-FFF2-40B4-BE49-F238E27FC236}">
                <a16:creationId xmlns:a16="http://schemas.microsoft.com/office/drawing/2014/main" id="{C720C3C8-11EB-970E-F3EC-95F858B2D34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68727" y="3924300"/>
            <a:ext cx="3127273" cy="3122466"/>
          </a:xfrm>
          <a:prstGeom prst="rect">
            <a:avLst/>
          </a:prstGeom>
        </p:spPr>
      </p:pic>
      <p:pic>
        <p:nvPicPr>
          <p:cNvPr id="11" name="Picture 10">
            <a:extLst>
              <a:ext uri="{FF2B5EF4-FFF2-40B4-BE49-F238E27FC236}">
                <a16:creationId xmlns:a16="http://schemas.microsoft.com/office/drawing/2014/main" id="{CBDFF114-4FCE-677E-1630-737BAC47007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265127" y="3924300"/>
            <a:ext cx="3124201" cy="3124201"/>
          </a:xfrm>
          <a:prstGeom prst="rect">
            <a:avLst/>
          </a:prstGeom>
        </p:spPr>
      </p:pic>
      <p:grpSp>
        <p:nvGrpSpPr>
          <p:cNvPr id="12" name="Group 5">
            <a:extLst>
              <a:ext uri="{FF2B5EF4-FFF2-40B4-BE49-F238E27FC236}">
                <a16:creationId xmlns:a16="http://schemas.microsoft.com/office/drawing/2014/main" id="{F0DBF64D-5094-28D0-EA15-3D32C8AFDE70}"/>
              </a:ext>
            </a:extLst>
          </p:cNvPr>
          <p:cNvGrpSpPr/>
          <p:nvPr/>
        </p:nvGrpSpPr>
        <p:grpSpPr>
          <a:xfrm>
            <a:off x="824795" y="9258300"/>
            <a:ext cx="4618433" cy="648429"/>
            <a:chOff x="0" y="0"/>
            <a:chExt cx="6157911" cy="864572"/>
          </a:xfrm>
        </p:grpSpPr>
        <p:sp>
          <p:nvSpPr>
            <p:cNvPr id="13" name="Freeform 6">
              <a:extLst>
                <a:ext uri="{FF2B5EF4-FFF2-40B4-BE49-F238E27FC236}">
                  <a16:creationId xmlns:a16="http://schemas.microsoft.com/office/drawing/2014/main" id="{92AE6B8B-C98F-A3B9-2E42-D6D592834896}"/>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7"/>
              <a:stretch>
                <a:fillRect/>
              </a:stretch>
            </a:blipFill>
          </p:spPr>
          <p:txBody>
            <a:bodyPr/>
            <a:lstStyle/>
            <a:p>
              <a:endParaRPr lang="en-US"/>
            </a:p>
          </p:txBody>
        </p:sp>
        <p:sp>
          <p:nvSpPr>
            <p:cNvPr id="14" name="TextBox 7">
              <a:extLst>
                <a:ext uri="{FF2B5EF4-FFF2-40B4-BE49-F238E27FC236}">
                  <a16:creationId xmlns:a16="http://schemas.microsoft.com/office/drawing/2014/main" id="{38ABBC2F-84E8-26D4-10F9-0A0E54CD6E2A}"/>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5" name="TextBox 6">
            <a:extLst>
              <a:ext uri="{FF2B5EF4-FFF2-40B4-BE49-F238E27FC236}">
                <a16:creationId xmlns:a16="http://schemas.microsoft.com/office/drawing/2014/main" id="{593A2063-6F3D-31D5-A5DC-19D8C85FD696}"/>
              </a:ext>
            </a:extLst>
          </p:cNvPr>
          <p:cNvSpPr txBox="1"/>
          <p:nvPr/>
        </p:nvSpPr>
        <p:spPr>
          <a:xfrm>
            <a:off x="1142999" y="2476500"/>
            <a:ext cx="5410202"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Group Members</a:t>
            </a:r>
          </a:p>
        </p:txBody>
      </p:sp>
      <p:sp>
        <p:nvSpPr>
          <p:cNvPr id="17" name="TextBox 6">
            <a:extLst>
              <a:ext uri="{FF2B5EF4-FFF2-40B4-BE49-F238E27FC236}">
                <a16:creationId xmlns:a16="http://schemas.microsoft.com/office/drawing/2014/main" id="{E83F651E-C366-3A5B-3000-80FDABD3981C}"/>
              </a:ext>
            </a:extLst>
          </p:cNvPr>
          <p:cNvSpPr txBox="1"/>
          <p:nvPr/>
        </p:nvSpPr>
        <p:spPr>
          <a:xfrm>
            <a:off x="2895600" y="7309080"/>
            <a:ext cx="3127273" cy="430887"/>
          </a:xfrm>
          <a:prstGeom prst="rect">
            <a:avLst/>
          </a:prstGeom>
        </p:spPr>
        <p:txBody>
          <a:bodyPr wrap="square" lIns="0" tIns="0" rIns="0" bIns="0" rtlCol="0" anchor="t">
            <a:spAutoFit/>
          </a:bodyPr>
          <a:lstStyle/>
          <a:p>
            <a:pPr algn="ctr">
              <a:spcBef>
                <a:spcPct val="0"/>
              </a:spcBef>
            </a:pPr>
            <a:r>
              <a:rPr lang="en-US" sz="2800" b="1" dirty="0">
                <a:solidFill>
                  <a:schemeClr val="tx1">
                    <a:lumMod val="95000"/>
                    <a:lumOff val="5000"/>
                  </a:schemeClr>
                </a:solidFill>
                <a:latin typeface="Segoe UI Semibold" panose="020B0702040204020203" pitchFamily="34" charset="0"/>
                <a:ea typeface="Montserrat"/>
                <a:cs typeface="Segoe UI Semibold" panose="020B0702040204020203" pitchFamily="34" charset="0"/>
                <a:sym typeface="Montserrat"/>
              </a:rPr>
              <a:t>Muhammad Umair</a:t>
            </a:r>
          </a:p>
        </p:txBody>
      </p:sp>
      <p:sp>
        <p:nvSpPr>
          <p:cNvPr id="20" name="TextBox 6">
            <a:extLst>
              <a:ext uri="{FF2B5EF4-FFF2-40B4-BE49-F238E27FC236}">
                <a16:creationId xmlns:a16="http://schemas.microsoft.com/office/drawing/2014/main" id="{1E8E0EC7-3654-AEB0-0A01-166A77EFF6FA}"/>
              </a:ext>
            </a:extLst>
          </p:cNvPr>
          <p:cNvSpPr txBox="1"/>
          <p:nvPr/>
        </p:nvSpPr>
        <p:spPr>
          <a:xfrm>
            <a:off x="7578827" y="7309079"/>
            <a:ext cx="3127273" cy="430887"/>
          </a:xfrm>
          <a:prstGeom prst="rect">
            <a:avLst/>
          </a:prstGeom>
        </p:spPr>
        <p:txBody>
          <a:bodyPr wrap="square" lIns="0" tIns="0" rIns="0" bIns="0" rtlCol="0" anchor="t">
            <a:spAutoFit/>
          </a:bodyPr>
          <a:lstStyle/>
          <a:p>
            <a:pPr algn="ctr">
              <a:spcBef>
                <a:spcPct val="0"/>
              </a:spcBef>
            </a:pPr>
            <a:r>
              <a:rPr lang="en-US" sz="2800" b="1" dirty="0">
                <a:solidFill>
                  <a:schemeClr val="tx1">
                    <a:lumMod val="95000"/>
                    <a:lumOff val="5000"/>
                  </a:schemeClr>
                </a:solidFill>
                <a:latin typeface="Segoe UI Semibold" panose="020B0702040204020203" pitchFamily="34" charset="0"/>
                <a:ea typeface="Montserrat"/>
                <a:cs typeface="Segoe UI Semibold" panose="020B0702040204020203" pitchFamily="34" charset="0"/>
                <a:sym typeface="Montserrat"/>
              </a:rPr>
              <a:t>Hafiz Mudasir Bilal</a:t>
            </a:r>
          </a:p>
        </p:txBody>
      </p:sp>
      <p:sp>
        <p:nvSpPr>
          <p:cNvPr id="24" name="TextBox 6">
            <a:extLst>
              <a:ext uri="{FF2B5EF4-FFF2-40B4-BE49-F238E27FC236}">
                <a16:creationId xmlns:a16="http://schemas.microsoft.com/office/drawing/2014/main" id="{F9B12773-DF65-A1D5-0BB7-430795800601}"/>
              </a:ext>
            </a:extLst>
          </p:cNvPr>
          <p:cNvSpPr txBox="1"/>
          <p:nvPr/>
        </p:nvSpPr>
        <p:spPr>
          <a:xfrm>
            <a:off x="12263590" y="7320164"/>
            <a:ext cx="3127273" cy="430887"/>
          </a:xfrm>
          <a:prstGeom prst="rect">
            <a:avLst/>
          </a:prstGeom>
        </p:spPr>
        <p:txBody>
          <a:bodyPr wrap="square" lIns="0" tIns="0" rIns="0" bIns="0" rtlCol="0" anchor="t">
            <a:spAutoFit/>
          </a:bodyPr>
          <a:lstStyle/>
          <a:p>
            <a:pPr algn="ctr">
              <a:spcBef>
                <a:spcPct val="0"/>
              </a:spcBef>
            </a:pPr>
            <a:r>
              <a:rPr lang="en-US" sz="2800" b="1" dirty="0">
                <a:solidFill>
                  <a:schemeClr val="tx1">
                    <a:lumMod val="95000"/>
                    <a:lumOff val="5000"/>
                  </a:schemeClr>
                </a:solidFill>
                <a:latin typeface="Segoe UI Semibold" panose="020B0702040204020203" pitchFamily="34" charset="0"/>
                <a:ea typeface="Montserrat"/>
                <a:cs typeface="Segoe UI Semibold" panose="020B0702040204020203" pitchFamily="34" charset="0"/>
                <a:sym typeface="Montserrat"/>
              </a:rPr>
              <a:t>Khuzaima Asif</a:t>
            </a:r>
          </a:p>
        </p:txBody>
      </p:sp>
      <p:sp>
        <p:nvSpPr>
          <p:cNvPr id="25" name="Oval 24">
            <a:extLst>
              <a:ext uri="{FF2B5EF4-FFF2-40B4-BE49-F238E27FC236}">
                <a16:creationId xmlns:a16="http://schemas.microsoft.com/office/drawing/2014/main" id="{6565D6FE-C132-C3FE-9E27-7C3DBF49C8E9}"/>
              </a:ext>
            </a:extLst>
          </p:cNvPr>
          <p:cNvSpPr/>
          <p:nvPr/>
        </p:nvSpPr>
        <p:spPr>
          <a:xfrm>
            <a:off x="2973534" y="3924300"/>
            <a:ext cx="3122466" cy="3122466"/>
          </a:xfrm>
          <a:prstGeom prst="ellipse">
            <a:avLst/>
          </a:prstGeom>
          <a:noFill/>
          <a:ln w="38100">
            <a:solidFill>
              <a:srgbClr val="4BACC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7" name="Oval 26">
            <a:extLst>
              <a:ext uri="{FF2B5EF4-FFF2-40B4-BE49-F238E27FC236}">
                <a16:creationId xmlns:a16="http://schemas.microsoft.com/office/drawing/2014/main" id="{79B483A8-CA4B-F02D-5937-7BA7652B422A}"/>
              </a:ext>
            </a:extLst>
          </p:cNvPr>
          <p:cNvSpPr/>
          <p:nvPr/>
        </p:nvSpPr>
        <p:spPr>
          <a:xfrm>
            <a:off x="7578826" y="3924300"/>
            <a:ext cx="3087439" cy="3122466"/>
          </a:xfrm>
          <a:prstGeom prst="ellipse">
            <a:avLst/>
          </a:prstGeom>
          <a:noFill/>
          <a:ln w="38100">
            <a:solidFill>
              <a:srgbClr val="4BACC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8" name="Oval 27">
            <a:extLst>
              <a:ext uri="{FF2B5EF4-FFF2-40B4-BE49-F238E27FC236}">
                <a16:creationId xmlns:a16="http://schemas.microsoft.com/office/drawing/2014/main" id="{FC4F0FCC-65E1-928B-A370-ED32987CE812}"/>
              </a:ext>
            </a:extLst>
          </p:cNvPr>
          <p:cNvSpPr/>
          <p:nvPr/>
        </p:nvSpPr>
        <p:spPr>
          <a:xfrm>
            <a:off x="12269934" y="3924300"/>
            <a:ext cx="3122466" cy="3122466"/>
          </a:xfrm>
          <a:prstGeom prst="ellipse">
            <a:avLst/>
          </a:prstGeom>
          <a:noFill/>
          <a:ln w="38100">
            <a:solidFill>
              <a:srgbClr val="4BACC6"/>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29" name="TextBox 28">
            <a:extLst>
              <a:ext uri="{FF2B5EF4-FFF2-40B4-BE49-F238E27FC236}">
                <a16:creationId xmlns:a16="http://schemas.microsoft.com/office/drawing/2014/main" id="{32385304-170C-7D00-6F87-C4DC08D30793}"/>
              </a:ext>
            </a:extLst>
          </p:cNvPr>
          <p:cNvSpPr txBox="1"/>
          <p:nvPr/>
        </p:nvSpPr>
        <p:spPr>
          <a:xfrm>
            <a:off x="2968726" y="7729794"/>
            <a:ext cx="3127273" cy="461665"/>
          </a:xfrm>
          <a:prstGeom prst="rect">
            <a:avLst/>
          </a:prstGeom>
          <a:noFill/>
        </p:spPr>
        <p:txBody>
          <a:bodyPr wrap="square" rtlCol="0">
            <a:spAutoFit/>
          </a:bodyPr>
          <a:lstStyle/>
          <a:p>
            <a:pPr algn="ctr"/>
            <a:r>
              <a:rPr lang="en-US" sz="2400" dirty="0">
                <a:latin typeface="Segoe UI Light" panose="020B0502040204020203" pitchFamily="34" charset="0"/>
                <a:cs typeface="Segoe UI Light" panose="020B0502040204020203" pitchFamily="34" charset="0"/>
              </a:rPr>
              <a:t>Roll no: B-27430</a:t>
            </a:r>
          </a:p>
        </p:txBody>
      </p:sp>
      <p:sp>
        <p:nvSpPr>
          <p:cNvPr id="30" name="TextBox 29">
            <a:extLst>
              <a:ext uri="{FF2B5EF4-FFF2-40B4-BE49-F238E27FC236}">
                <a16:creationId xmlns:a16="http://schemas.microsoft.com/office/drawing/2014/main" id="{B01A46D3-AC64-F1F0-507D-960F659A66A4}"/>
              </a:ext>
            </a:extLst>
          </p:cNvPr>
          <p:cNvSpPr txBox="1"/>
          <p:nvPr/>
        </p:nvSpPr>
        <p:spPr>
          <a:xfrm>
            <a:off x="7578826" y="7729794"/>
            <a:ext cx="3127273" cy="461665"/>
          </a:xfrm>
          <a:prstGeom prst="rect">
            <a:avLst/>
          </a:prstGeom>
          <a:noFill/>
        </p:spPr>
        <p:txBody>
          <a:bodyPr wrap="square" rtlCol="0">
            <a:spAutoFit/>
          </a:bodyPr>
          <a:lstStyle/>
          <a:p>
            <a:pPr algn="ctr"/>
            <a:r>
              <a:rPr lang="en-US" sz="2400" dirty="0">
                <a:latin typeface="Segoe UI Light" panose="020B0502040204020203" pitchFamily="34" charset="0"/>
                <a:cs typeface="Segoe UI Light" panose="020B0502040204020203" pitchFamily="34" charset="0"/>
              </a:rPr>
              <a:t>Roll no: B-27431</a:t>
            </a:r>
          </a:p>
        </p:txBody>
      </p:sp>
      <p:sp>
        <p:nvSpPr>
          <p:cNvPr id="31" name="TextBox 30">
            <a:extLst>
              <a:ext uri="{FF2B5EF4-FFF2-40B4-BE49-F238E27FC236}">
                <a16:creationId xmlns:a16="http://schemas.microsoft.com/office/drawing/2014/main" id="{150C77BD-C874-3DB7-A1AC-1B218689536A}"/>
              </a:ext>
            </a:extLst>
          </p:cNvPr>
          <p:cNvSpPr txBox="1"/>
          <p:nvPr/>
        </p:nvSpPr>
        <p:spPr>
          <a:xfrm>
            <a:off x="12269934" y="7729793"/>
            <a:ext cx="3127273" cy="461665"/>
          </a:xfrm>
          <a:prstGeom prst="rect">
            <a:avLst/>
          </a:prstGeom>
          <a:noFill/>
        </p:spPr>
        <p:txBody>
          <a:bodyPr wrap="square" rtlCol="0">
            <a:spAutoFit/>
          </a:bodyPr>
          <a:lstStyle/>
          <a:p>
            <a:pPr algn="ctr"/>
            <a:r>
              <a:rPr lang="en-US" sz="2400" dirty="0">
                <a:latin typeface="Segoe UI Light" panose="020B0502040204020203" pitchFamily="34" charset="0"/>
                <a:cs typeface="Segoe UI Light" panose="020B0502040204020203" pitchFamily="34" charset="0"/>
              </a:rPr>
              <a:t>Roll no: B-27463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359AA7A6-CAF0-C321-304C-B24F4D0CFB86}"/>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42CB3DAD-41F1-7E1A-DEAC-F2A13C67A7F9}"/>
              </a:ext>
            </a:extLst>
          </p:cNvPr>
          <p:cNvSpPr txBox="1"/>
          <p:nvPr/>
        </p:nvSpPr>
        <p:spPr>
          <a:xfrm>
            <a:off x="1142999" y="3780115"/>
            <a:ext cx="10210801" cy="4308872"/>
          </a:xfrm>
          <a:prstGeom prst="rect">
            <a:avLst/>
          </a:prstGeom>
        </p:spPr>
        <p:txBody>
          <a:bodyPr wrap="square" lIns="0" tIns="0" rIns="0" bIns="0" rtlCol="0" anchor="t">
            <a:spAutoFit/>
          </a:bodyPr>
          <a:lstStyle/>
          <a:p>
            <a:pPr algn="just"/>
            <a:r>
              <a:rPr lang="en-US" sz="2800" dirty="0">
                <a:latin typeface="Segoe UI" panose="020B0502040204020203" pitchFamily="34" charset="0"/>
                <a:cs typeface="Segoe UI" panose="020B0502040204020203" pitchFamily="34" charset="0"/>
              </a:rPr>
              <a:t>Every retail or departmental store faces one common challenge, knowing what to stock next month. Buying too much leads to waste, and buying too little means lost sales. </a:t>
            </a:r>
            <a:r>
              <a:rPr lang="en-US" sz="2800" dirty="0">
                <a:latin typeface="Segoe UI Semibold" panose="020B0702040204020203" pitchFamily="34" charset="0"/>
                <a:cs typeface="Segoe UI Semibold" panose="020B0702040204020203" pitchFamily="34" charset="0"/>
              </a:rPr>
              <a:t>SalesOracle</a:t>
            </a:r>
            <a:r>
              <a:rPr lang="en-US" sz="2800" dirty="0">
                <a:latin typeface="Segoe UI" panose="020B0502040204020203" pitchFamily="34" charset="0"/>
                <a:cs typeface="Segoe UI" panose="020B0502040204020203" pitchFamily="34" charset="0"/>
              </a:rPr>
              <a:t> is built to solve exactly this problem.</a:t>
            </a:r>
          </a:p>
          <a:p>
            <a:pPr algn="just"/>
            <a:endParaRPr lang="en-US" sz="2800" dirty="0">
              <a:latin typeface="Segoe UI" panose="020B0502040204020203" pitchFamily="34" charset="0"/>
              <a:cs typeface="Segoe UI" panose="020B0502040204020203" pitchFamily="34" charset="0"/>
            </a:endParaRPr>
          </a:p>
          <a:p>
            <a:pPr algn="just"/>
            <a:r>
              <a:rPr lang="en-US" sz="2800" dirty="0">
                <a:latin typeface="Segoe UI Semibold" panose="020B0702040204020203" pitchFamily="34" charset="0"/>
                <a:cs typeface="Segoe UI Semibold" panose="020B0702040204020203" pitchFamily="34" charset="0"/>
              </a:rPr>
              <a:t>SalesOracle</a:t>
            </a:r>
            <a:r>
              <a:rPr lang="en-US" sz="2800" dirty="0">
                <a:latin typeface="Segoe UI" panose="020B0502040204020203" pitchFamily="34" charset="0"/>
                <a:cs typeface="Segoe UI" panose="020B0502040204020203" pitchFamily="34" charset="0"/>
              </a:rPr>
              <a:t> is an AI-powered web application that helps sales managers forecast their upcoming month's product sales. By simply uploading past sales data, businesses can instantly see which products are expected to perform well and which are not, allowing smarter and data-driven purchasing decisions.</a:t>
            </a:r>
          </a:p>
        </p:txBody>
      </p:sp>
      <p:sp>
        <p:nvSpPr>
          <p:cNvPr id="16" name="TextBox 6">
            <a:extLst>
              <a:ext uri="{FF2B5EF4-FFF2-40B4-BE49-F238E27FC236}">
                <a16:creationId xmlns:a16="http://schemas.microsoft.com/office/drawing/2014/main" id="{A99E1171-CEFF-CF92-6BB9-064CD99E3EFF}"/>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17" name="TextBox 10">
            <a:extLst>
              <a:ext uri="{FF2B5EF4-FFF2-40B4-BE49-F238E27FC236}">
                <a16:creationId xmlns:a16="http://schemas.microsoft.com/office/drawing/2014/main" id="{7225B64E-6046-81A3-2676-3FDFE12672BF}"/>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18" name="Graphic 17">
            <a:extLst>
              <a:ext uri="{FF2B5EF4-FFF2-40B4-BE49-F238E27FC236}">
                <a16:creationId xmlns:a16="http://schemas.microsoft.com/office/drawing/2014/main" id="{C1E24C30-1EAE-AADF-DA0D-B527CB344E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20" name="Group 5">
            <a:extLst>
              <a:ext uri="{FF2B5EF4-FFF2-40B4-BE49-F238E27FC236}">
                <a16:creationId xmlns:a16="http://schemas.microsoft.com/office/drawing/2014/main" id="{817FF990-E2DF-2987-12AF-3EF2C8E6EE27}"/>
              </a:ext>
            </a:extLst>
          </p:cNvPr>
          <p:cNvGrpSpPr/>
          <p:nvPr/>
        </p:nvGrpSpPr>
        <p:grpSpPr>
          <a:xfrm>
            <a:off x="824795" y="9258300"/>
            <a:ext cx="4618433" cy="648429"/>
            <a:chOff x="0" y="0"/>
            <a:chExt cx="6157911" cy="864572"/>
          </a:xfrm>
        </p:grpSpPr>
        <p:sp>
          <p:nvSpPr>
            <p:cNvPr id="21" name="Freeform 6">
              <a:extLst>
                <a:ext uri="{FF2B5EF4-FFF2-40B4-BE49-F238E27FC236}">
                  <a16:creationId xmlns:a16="http://schemas.microsoft.com/office/drawing/2014/main" id="{5524E3AA-E6D9-6716-52C3-C384B5F159DD}"/>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22" name="TextBox 7">
              <a:extLst>
                <a:ext uri="{FF2B5EF4-FFF2-40B4-BE49-F238E27FC236}">
                  <a16:creationId xmlns:a16="http://schemas.microsoft.com/office/drawing/2014/main" id="{B1C7969F-D7B6-2994-A772-DDD3ED7A4FBA}"/>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26" name="AutoShape 16">
            <a:extLst>
              <a:ext uri="{FF2B5EF4-FFF2-40B4-BE49-F238E27FC236}">
                <a16:creationId xmlns:a16="http://schemas.microsoft.com/office/drawing/2014/main" id="{B30D2169-B44C-CE02-DDBC-984DD3250A3B}"/>
              </a:ext>
            </a:extLst>
          </p:cNvPr>
          <p:cNvSpPr/>
          <p:nvPr/>
        </p:nvSpPr>
        <p:spPr>
          <a:xfrm>
            <a:off x="1142999" y="3356916"/>
            <a:ext cx="4038602" cy="17203"/>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27" name="TextBox 6">
            <a:extLst>
              <a:ext uri="{FF2B5EF4-FFF2-40B4-BE49-F238E27FC236}">
                <a16:creationId xmlns:a16="http://schemas.microsoft.com/office/drawing/2014/main" id="{CAAB73B0-E15C-3CCB-9478-80C3CD4916AD}"/>
              </a:ext>
            </a:extLst>
          </p:cNvPr>
          <p:cNvSpPr txBox="1"/>
          <p:nvPr/>
        </p:nvSpPr>
        <p:spPr>
          <a:xfrm>
            <a:off x="1142999" y="2476500"/>
            <a:ext cx="5410202"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Introduction</a:t>
            </a:r>
          </a:p>
        </p:txBody>
      </p:sp>
      <p:pic>
        <p:nvPicPr>
          <p:cNvPr id="29" name="Picture 28">
            <a:extLst>
              <a:ext uri="{FF2B5EF4-FFF2-40B4-BE49-F238E27FC236}">
                <a16:creationId xmlns:a16="http://schemas.microsoft.com/office/drawing/2014/main" id="{222CFFA0-9620-DDEF-90B5-E58ACF9FA6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68200" y="3679133"/>
            <a:ext cx="4431625" cy="4431625"/>
          </a:xfrm>
          <a:prstGeom prst="rect">
            <a:avLst/>
          </a:prstGeom>
        </p:spPr>
      </p:pic>
    </p:spTree>
    <p:extLst>
      <p:ext uri="{BB962C8B-B14F-4D97-AF65-F5344CB8AC3E}">
        <p14:creationId xmlns:p14="http://schemas.microsoft.com/office/powerpoint/2010/main" val="2743434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8" name="Freeform 8"/>
          <p:cNvSpPr/>
          <p:nvPr/>
        </p:nvSpPr>
        <p:spPr>
          <a:xfrm>
            <a:off x="1165734" y="4142307"/>
            <a:ext cx="564021" cy="565435"/>
          </a:xfrm>
          <a:custGeom>
            <a:avLst/>
            <a:gdLst/>
            <a:ahLst/>
            <a:cxnLst/>
            <a:rect l="l" t="t" r="r" b="b"/>
            <a:pathLst>
              <a:path w="564021" h="565435">
                <a:moveTo>
                  <a:pt x="0" y="0"/>
                </a:moveTo>
                <a:lnTo>
                  <a:pt x="564021" y="0"/>
                </a:lnTo>
                <a:lnTo>
                  <a:pt x="564021" y="565435"/>
                </a:lnTo>
                <a:lnTo>
                  <a:pt x="0" y="56543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dirty="0"/>
          </a:p>
        </p:txBody>
      </p:sp>
      <p:sp>
        <p:nvSpPr>
          <p:cNvPr id="9" name="Freeform 9"/>
          <p:cNvSpPr/>
          <p:nvPr/>
        </p:nvSpPr>
        <p:spPr>
          <a:xfrm rot="-1041512">
            <a:off x="5119438" y="4196129"/>
            <a:ext cx="501963" cy="566389"/>
          </a:xfrm>
          <a:custGeom>
            <a:avLst/>
            <a:gdLst/>
            <a:ahLst/>
            <a:cxnLst/>
            <a:rect l="l" t="t" r="r" b="b"/>
            <a:pathLst>
              <a:path w="501963" h="566389">
                <a:moveTo>
                  <a:pt x="0" y="0"/>
                </a:moveTo>
                <a:lnTo>
                  <a:pt x="501963" y="0"/>
                </a:lnTo>
                <a:lnTo>
                  <a:pt x="501963" y="566390"/>
                </a:lnTo>
                <a:lnTo>
                  <a:pt x="0" y="56639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TextBox 6">
            <a:extLst>
              <a:ext uri="{FF2B5EF4-FFF2-40B4-BE49-F238E27FC236}">
                <a16:creationId xmlns:a16="http://schemas.microsoft.com/office/drawing/2014/main" id="{84CDB283-3BF2-7AA0-F4E5-A41E898A810E}"/>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23" name="TextBox 10">
            <a:extLst>
              <a:ext uri="{FF2B5EF4-FFF2-40B4-BE49-F238E27FC236}">
                <a16:creationId xmlns:a16="http://schemas.microsoft.com/office/drawing/2014/main" id="{1B7CF2AB-E736-73AE-28E7-EEDEAD67B751}"/>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24" name="Graphic 23">
            <a:extLst>
              <a:ext uri="{FF2B5EF4-FFF2-40B4-BE49-F238E27FC236}">
                <a16:creationId xmlns:a16="http://schemas.microsoft.com/office/drawing/2014/main" id="{B7B96D4B-AEEC-9698-5731-675F45F254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42999" y="1104900"/>
            <a:ext cx="829747" cy="829747"/>
          </a:xfrm>
          <a:prstGeom prst="rect">
            <a:avLst/>
          </a:prstGeom>
        </p:spPr>
      </p:pic>
      <p:grpSp>
        <p:nvGrpSpPr>
          <p:cNvPr id="26" name="Group 5">
            <a:extLst>
              <a:ext uri="{FF2B5EF4-FFF2-40B4-BE49-F238E27FC236}">
                <a16:creationId xmlns:a16="http://schemas.microsoft.com/office/drawing/2014/main" id="{50E0A446-652C-E8BC-C876-E94D4B96FCEE}"/>
              </a:ext>
            </a:extLst>
          </p:cNvPr>
          <p:cNvGrpSpPr/>
          <p:nvPr/>
        </p:nvGrpSpPr>
        <p:grpSpPr>
          <a:xfrm>
            <a:off x="824795" y="9258300"/>
            <a:ext cx="4618433" cy="648429"/>
            <a:chOff x="0" y="0"/>
            <a:chExt cx="6157911" cy="864572"/>
          </a:xfrm>
        </p:grpSpPr>
        <p:sp>
          <p:nvSpPr>
            <p:cNvPr id="27" name="Freeform 6">
              <a:extLst>
                <a:ext uri="{FF2B5EF4-FFF2-40B4-BE49-F238E27FC236}">
                  <a16:creationId xmlns:a16="http://schemas.microsoft.com/office/drawing/2014/main" id="{6381B5EB-9392-F6D2-CD50-D9697A56332E}"/>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5"/>
              <a:stretch>
                <a:fillRect/>
              </a:stretch>
            </a:blipFill>
          </p:spPr>
          <p:txBody>
            <a:bodyPr/>
            <a:lstStyle/>
            <a:p>
              <a:endParaRPr lang="en-US"/>
            </a:p>
          </p:txBody>
        </p:sp>
        <p:sp>
          <p:nvSpPr>
            <p:cNvPr id="28" name="TextBox 7">
              <a:extLst>
                <a:ext uri="{FF2B5EF4-FFF2-40B4-BE49-F238E27FC236}">
                  <a16:creationId xmlns:a16="http://schemas.microsoft.com/office/drawing/2014/main" id="{4896E7AD-CD8C-4F18-DA7B-50622828ACA3}"/>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30" name="AutoShape 16">
            <a:extLst>
              <a:ext uri="{FF2B5EF4-FFF2-40B4-BE49-F238E27FC236}">
                <a16:creationId xmlns:a16="http://schemas.microsoft.com/office/drawing/2014/main" id="{EB2071EF-12D9-6870-4E0A-969FEF675C41}"/>
              </a:ext>
            </a:extLst>
          </p:cNvPr>
          <p:cNvSpPr/>
          <p:nvPr/>
        </p:nvSpPr>
        <p:spPr>
          <a:xfrm>
            <a:off x="1142998" y="3356916"/>
            <a:ext cx="6172201" cy="26291"/>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31" name="TextBox 6">
            <a:extLst>
              <a:ext uri="{FF2B5EF4-FFF2-40B4-BE49-F238E27FC236}">
                <a16:creationId xmlns:a16="http://schemas.microsoft.com/office/drawing/2014/main" id="{875EE7D9-01C2-EFE0-BFD9-BF589D14EF01}"/>
              </a:ext>
            </a:extLst>
          </p:cNvPr>
          <p:cNvSpPr txBox="1"/>
          <p:nvPr/>
        </p:nvSpPr>
        <p:spPr>
          <a:xfrm>
            <a:off x="1142998" y="2476500"/>
            <a:ext cx="6752155"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Problem Statement</a:t>
            </a:r>
          </a:p>
        </p:txBody>
      </p:sp>
      <p:sp>
        <p:nvSpPr>
          <p:cNvPr id="33" name="Rectangle: Rounded Corners 32">
            <a:extLst>
              <a:ext uri="{FF2B5EF4-FFF2-40B4-BE49-F238E27FC236}">
                <a16:creationId xmlns:a16="http://schemas.microsoft.com/office/drawing/2014/main" id="{EABA4E07-2C14-9321-3B66-0768C693EBE6}"/>
              </a:ext>
            </a:extLst>
          </p:cNvPr>
          <p:cNvSpPr/>
          <p:nvPr/>
        </p:nvSpPr>
        <p:spPr>
          <a:xfrm>
            <a:off x="1165734" y="4017100"/>
            <a:ext cx="5019022" cy="3856900"/>
          </a:xfrm>
          <a:prstGeom prst="roundRect">
            <a:avLst/>
          </a:prstGeom>
          <a:gradFill flip="none" rotWithShape="1">
            <a:gsLst>
              <a:gs pos="0">
                <a:schemeClr val="accent1">
                  <a:lumMod val="5000"/>
                  <a:lumOff val="95000"/>
                </a:schemeClr>
              </a:gs>
              <a:gs pos="100000">
                <a:schemeClr val="bg1">
                  <a:lumMod val="82000"/>
                </a:schemeClr>
              </a:gs>
            </a:gsLst>
            <a:path path="circle">
              <a:fillToRect r="100000" b="100000"/>
            </a:path>
            <a:tileRect l="-100000" t="-10000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01600">
              <a:schemeClr val="accent1">
                <a:satMod val="175000"/>
                <a:alpha val="40000"/>
              </a:schemeClr>
            </a:glow>
            <a:outerShdw dir="5400000" algn="ctr" rotWithShape="0">
              <a:srgbClr val="000000">
                <a:alpha val="0"/>
              </a:srgbClr>
            </a:outerShdw>
            <a:reflection stA="45000" endPos="12000" dist="2286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Rounded Corners 33">
            <a:extLst>
              <a:ext uri="{FF2B5EF4-FFF2-40B4-BE49-F238E27FC236}">
                <a16:creationId xmlns:a16="http://schemas.microsoft.com/office/drawing/2014/main" id="{437B8D5A-D334-8DA3-5CEB-D26D74F6D545}"/>
              </a:ext>
            </a:extLst>
          </p:cNvPr>
          <p:cNvSpPr/>
          <p:nvPr/>
        </p:nvSpPr>
        <p:spPr>
          <a:xfrm>
            <a:off x="6634488" y="4017100"/>
            <a:ext cx="5019021" cy="3856900"/>
          </a:xfrm>
          <a:prstGeom prst="roundRect">
            <a:avLst/>
          </a:prstGeom>
          <a:gradFill flip="none" rotWithShape="1">
            <a:gsLst>
              <a:gs pos="0">
                <a:schemeClr val="accent1">
                  <a:lumMod val="5000"/>
                  <a:lumOff val="95000"/>
                </a:schemeClr>
              </a:gs>
              <a:gs pos="100000">
                <a:schemeClr val="bg1">
                  <a:lumMod val="82000"/>
                </a:schemeClr>
              </a:gs>
            </a:gsLst>
            <a:path path="circle">
              <a:fillToRect r="100000" b="100000"/>
            </a:path>
            <a:tileRect l="-100000" t="-10000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01600">
              <a:schemeClr val="accent1">
                <a:satMod val="175000"/>
                <a:alpha val="40000"/>
              </a:schemeClr>
            </a:glow>
            <a:outerShdw dir="5400000" algn="ctr" rotWithShape="0">
              <a:srgbClr val="000000">
                <a:alpha val="0"/>
              </a:srgbClr>
            </a:outerShdw>
            <a:reflection stA="45000" endPos="12000" dist="2286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Rounded Corners 34">
            <a:extLst>
              <a:ext uri="{FF2B5EF4-FFF2-40B4-BE49-F238E27FC236}">
                <a16:creationId xmlns:a16="http://schemas.microsoft.com/office/drawing/2014/main" id="{333B323A-BE98-9D88-268C-A5FF2F21A194}"/>
              </a:ext>
            </a:extLst>
          </p:cNvPr>
          <p:cNvSpPr/>
          <p:nvPr/>
        </p:nvSpPr>
        <p:spPr>
          <a:xfrm>
            <a:off x="12103241" y="4029800"/>
            <a:ext cx="5019022" cy="3856900"/>
          </a:xfrm>
          <a:prstGeom prst="roundRect">
            <a:avLst/>
          </a:prstGeom>
          <a:gradFill flip="none" rotWithShape="1">
            <a:gsLst>
              <a:gs pos="0">
                <a:schemeClr val="accent1">
                  <a:lumMod val="5000"/>
                  <a:lumOff val="95000"/>
                </a:schemeClr>
              </a:gs>
              <a:gs pos="100000">
                <a:schemeClr val="bg1">
                  <a:lumMod val="82000"/>
                </a:schemeClr>
              </a:gs>
            </a:gsLst>
            <a:path path="circle">
              <a:fillToRect r="100000" b="100000"/>
            </a:path>
            <a:tileRect l="-100000" t="-10000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01600">
              <a:schemeClr val="accent1">
                <a:satMod val="175000"/>
                <a:alpha val="40000"/>
              </a:schemeClr>
            </a:glow>
            <a:outerShdw dir="5400000" algn="ctr" rotWithShape="0">
              <a:srgbClr val="000000">
                <a:alpha val="0"/>
              </a:srgbClr>
            </a:outerShdw>
            <a:reflection stA="45000" endPos="12000" dist="2286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1"/>
          <p:cNvSpPr txBox="1"/>
          <p:nvPr/>
        </p:nvSpPr>
        <p:spPr>
          <a:xfrm>
            <a:off x="12578899" y="4551337"/>
            <a:ext cx="3657600" cy="320601"/>
          </a:xfrm>
          <a:prstGeom prst="rect">
            <a:avLst/>
          </a:prstGeom>
        </p:spPr>
        <p:txBody>
          <a:bodyPr wrap="square" lIns="0" tIns="0" rIns="0" bIns="0" rtlCol="0" anchor="t">
            <a:spAutoFit/>
          </a:bodyPr>
          <a:lstStyle/>
          <a:p>
            <a:pPr algn="l">
              <a:lnSpc>
                <a:spcPts val="2478"/>
              </a:lnSpc>
            </a:pPr>
            <a:r>
              <a:rPr lang="en-US" sz="2600" b="1" dirty="0">
                <a:solidFill>
                  <a:srgbClr val="000000"/>
                </a:solidFill>
                <a:latin typeface="Segoe UI" panose="020B0502040204020203" pitchFamily="34" charset="0"/>
                <a:ea typeface="Canva Sans Bold"/>
                <a:cs typeface="Segoe UI" panose="020B0502040204020203" pitchFamily="34" charset="0"/>
                <a:sym typeface="Canva Sans Bold"/>
              </a:rPr>
              <a:t>High Cost of Analytics</a:t>
            </a:r>
          </a:p>
        </p:txBody>
      </p:sp>
      <p:sp>
        <p:nvSpPr>
          <p:cNvPr id="12" name="TextBox 12"/>
          <p:cNvSpPr txBox="1"/>
          <p:nvPr/>
        </p:nvSpPr>
        <p:spPr>
          <a:xfrm>
            <a:off x="12580635" y="5128343"/>
            <a:ext cx="3954765" cy="1846659"/>
          </a:xfrm>
          <a:prstGeom prst="rect">
            <a:avLst/>
          </a:prstGeom>
        </p:spPr>
        <p:txBody>
          <a:bodyPr wrap="square" lIns="0" tIns="0" rIns="0" bIns="0" rtlCol="0" anchor="t">
            <a:spAutoFit/>
          </a:bodyPr>
          <a:lstStyle/>
          <a:p>
            <a:pPr algn="just"/>
            <a:r>
              <a:rPr lang="en-US" sz="2400" dirty="0">
                <a:solidFill>
                  <a:srgbClr val="000000"/>
                </a:solidFill>
                <a:latin typeface="Segoe UI" panose="020B0502040204020203" pitchFamily="34" charset="0"/>
                <a:ea typeface="Canva Sans"/>
                <a:cs typeface="Segoe UI" panose="020B0502040204020203" pitchFamily="34" charset="0"/>
                <a:sym typeface="Canva Sans"/>
              </a:rPr>
              <a:t>Professional forecasting tools are expensive and require technical expertise, making them unaffordable for small retail businesses.</a:t>
            </a:r>
          </a:p>
        </p:txBody>
      </p:sp>
      <p:sp>
        <p:nvSpPr>
          <p:cNvPr id="15" name="TextBox 15"/>
          <p:cNvSpPr txBox="1"/>
          <p:nvPr/>
        </p:nvSpPr>
        <p:spPr>
          <a:xfrm rot="16116">
            <a:off x="7259573" y="4575354"/>
            <a:ext cx="3057706" cy="320601"/>
          </a:xfrm>
          <a:prstGeom prst="rect">
            <a:avLst/>
          </a:prstGeom>
        </p:spPr>
        <p:txBody>
          <a:bodyPr wrap="square" lIns="0" tIns="0" rIns="0" bIns="0" rtlCol="0" anchor="t">
            <a:spAutoFit/>
          </a:bodyPr>
          <a:lstStyle/>
          <a:p>
            <a:pPr algn="l">
              <a:lnSpc>
                <a:spcPts val="2520"/>
              </a:lnSpc>
            </a:pPr>
            <a:r>
              <a:rPr lang="en-US" sz="2600" b="1" dirty="0">
                <a:solidFill>
                  <a:srgbClr val="000000"/>
                </a:solidFill>
                <a:latin typeface="Segoe UI" panose="020B0502040204020203" pitchFamily="34" charset="0"/>
                <a:ea typeface="Canva Sans Bold"/>
                <a:cs typeface="Segoe UI" panose="020B0502040204020203" pitchFamily="34" charset="0"/>
                <a:sym typeface="Canva Sans Bold"/>
              </a:rPr>
              <a:t>Outdated Insights</a:t>
            </a:r>
          </a:p>
        </p:txBody>
      </p:sp>
      <p:sp>
        <p:nvSpPr>
          <p:cNvPr id="16" name="TextBox 16"/>
          <p:cNvSpPr txBox="1"/>
          <p:nvPr/>
        </p:nvSpPr>
        <p:spPr>
          <a:xfrm rot="16116">
            <a:off x="7263144" y="5151486"/>
            <a:ext cx="3819952" cy="1846659"/>
          </a:xfrm>
          <a:prstGeom prst="rect">
            <a:avLst/>
          </a:prstGeom>
        </p:spPr>
        <p:txBody>
          <a:bodyPr wrap="square" lIns="0" tIns="0" rIns="0" bIns="0" rtlCol="0" anchor="t">
            <a:spAutoFit/>
          </a:bodyPr>
          <a:lstStyle/>
          <a:p>
            <a:pPr algn="just"/>
            <a:r>
              <a:rPr lang="en-US" sz="2400" dirty="0">
                <a:solidFill>
                  <a:srgbClr val="000000"/>
                </a:solidFill>
                <a:latin typeface="Segoe UI" panose="020B0502040204020203" pitchFamily="34" charset="0"/>
                <a:ea typeface="Canva Sans"/>
                <a:cs typeface="Segoe UI" panose="020B0502040204020203" pitchFamily="34" charset="0"/>
                <a:sym typeface="Canva Sans"/>
              </a:rPr>
              <a:t>Most retail stores track sales through basic spreadsheets with no analytical capability, causing trends to be noticed too late.</a:t>
            </a:r>
          </a:p>
        </p:txBody>
      </p:sp>
      <p:sp>
        <p:nvSpPr>
          <p:cNvPr id="13" name="TextBox 13"/>
          <p:cNvSpPr txBox="1"/>
          <p:nvPr/>
        </p:nvSpPr>
        <p:spPr>
          <a:xfrm>
            <a:off x="1644866" y="4600829"/>
            <a:ext cx="3689133" cy="320601"/>
          </a:xfrm>
          <a:prstGeom prst="rect">
            <a:avLst/>
          </a:prstGeom>
        </p:spPr>
        <p:txBody>
          <a:bodyPr wrap="square" lIns="0" tIns="0" rIns="0" bIns="0" rtlCol="0" anchor="t">
            <a:spAutoFit/>
          </a:bodyPr>
          <a:lstStyle/>
          <a:p>
            <a:pPr algn="l">
              <a:lnSpc>
                <a:spcPts val="2520"/>
              </a:lnSpc>
            </a:pPr>
            <a:r>
              <a:rPr lang="en-US" sz="2600" b="1" dirty="0">
                <a:solidFill>
                  <a:srgbClr val="000000"/>
                </a:solidFill>
                <a:latin typeface="Segoe UI" panose="020B0502040204020203" pitchFamily="34" charset="0"/>
                <a:ea typeface="Canva Sans Bold"/>
                <a:cs typeface="Segoe UI" panose="020B0502040204020203" pitchFamily="34" charset="0"/>
                <a:sym typeface="Canva Sans Bold"/>
              </a:rPr>
              <a:t>Manual Guesswork</a:t>
            </a:r>
          </a:p>
        </p:txBody>
      </p:sp>
      <p:sp>
        <p:nvSpPr>
          <p:cNvPr id="14" name="TextBox 14"/>
          <p:cNvSpPr txBox="1"/>
          <p:nvPr/>
        </p:nvSpPr>
        <p:spPr>
          <a:xfrm>
            <a:off x="1644866" y="5142543"/>
            <a:ext cx="4049596" cy="1846659"/>
          </a:xfrm>
          <a:prstGeom prst="rect">
            <a:avLst/>
          </a:prstGeom>
        </p:spPr>
        <p:txBody>
          <a:bodyPr wrap="square" lIns="0" tIns="0" rIns="0" bIns="0" rtlCol="0" anchor="t">
            <a:spAutoFit/>
          </a:bodyPr>
          <a:lstStyle/>
          <a:p>
            <a:pPr algn="just"/>
            <a:r>
              <a:rPr lang="en-US" sz="2400" dirty="0">
                <a:solidFill>
                  <a:srgbClr val="000000"/>
                </a:solidFill>
                <a:latin typeface="Segoe UI" panose="020B0502040204020203" pitchFamily="34" charset="0"/>
                <a:ea typeface="Canva Sans"/>
                <a:cs typeface="Segoe UI" panose="020B0502040204020203" pitchFamily="34" charset="0"/>
                <a:sym typeface="Canva Sans"/>
              </a:rPr>
              <a:t>Sales managers rely on guessing to decide which products to stock, leading to overstocking or running out of fast-selling items.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5" name="Freeform 5"/>
          <p:cNvSpPr/>
          <p:nvPr/>
        </p:nvSpPr>
        <p:spPr>
          <a:xfrm>
            <a:off x="10698585" y="2878534"/>
            <a:ext cx="7089542" cy="3987868"/>
          </a:xfrm>
          <a:custGeom>
            <a:avLst/>
            <a:gdLst/>
            <a:ahLst/>
            <a:cxnLst/>
            <a:rect l="l" t="t" r="r" b="b"/>
            <a:pathLst>
              <a:path w="7089542" h="3987868">
                <a:moveTo>
                  <a:pt x="0" y="0"/>
                </a:moveTo>
                <a:lnTo>
                  <a:pt x="7089542" y="0"/>
                </a:lnTo>
                <a:lnTo>
                  <a:pt x="7089542" y="3987867"/>
                </a:lnTo>
                <a:lnTo>
                  <a:pt x="0" y="3987867"/>
                </a:lnTo>
                <a:lnTo>
                  <a:pt x="0" y="0"/>
                </a:lnTo>
                <a:close/>
              </a:path>
            </a:pathLst>
          </a:custGeom>
          <a:blipFill>
            <a:blip r:embed="rId2"/>
            <a:stretch>
              <a:fillRect/>
            </a:stretch>
          </a:blipFill>
        </p:spPr>
        <p:txBody>
          <a:bodyPr/>
          <a:lstStyle/>
          <a:p>
            <a:endParaRPr lang="en-US"/>
          </a:p>
        </p:txBody>
      </p:sp>
      <p:sp>
        <p:nvSpPr>
          <p:cNvPr id="6" name="Freeform 6"/>
          <p:cNvSpPr/>
          <p:nvPr/>
        </p:nvSpPr>
        <p:spPr>
          <a:xfrm>
            <a:off x="11034951" y="3084181"/>
            <a:ext cx="6416810" cy="2020563"/>
          </a:xfrm>
          <a:custGeom>
            <a:avLst/>
            <a:gdLst/>
            <a:ahLst/>
            <a:cxnLst/>
            <a:rect l="l" t="t" r="r" b="b"/>
            <a:pathLst>
              <a:path w="6416810" h="2020563">
                <a:moveTo>
                  <a:pt x="0" y="0"/>
                </a:moveTo>
                <a:lnTo>
                  <a:pt x="6416809" y="0"/>
                </a:lnTo>
                <a:lnTo>
                  <a:pt x="6416809" y="2020564"/>
                </a:lnTo>
                <a:lnTo>
                  <a:pt x="0" y="2020564"/>
                </a:lnTo>
                <a:lnTo>
                  <a:pt x="0" y="0"/>
                </a:lnTo>
                <a:close/>
              </a:path>
            </a:pathLst>
          </a:custGeom>
          <a:blipFill>
            <a:blip r:embed="rId3"/>
            <a:stretch>
              <a:fillRect t="-16774" b="-27094"/>
            </a:stretch>
          </a:blipFill>
        </p:spPr>
        <p:txBody>
          <a:bodyPr/>
          <a:lstStyle/>
          <a:p>
            <a:endParaRPr lang="en-US"/>
          </a:p>
        </p:txBody>
      </p:sp>
      <p:sp>
        <p:nvSpPr>
          <p:cNvPr id="7" name="Freeform 7"/>
          <p:cNvSpPr/>
          <p:nvPr/>
        </p:nvSpPr>
        <p:spPr>
          <a:xfrm>
            <a:off x="11034951" y="5182960"/>
            <a:ext cx="6416810" cy="1266275"/>
          </a:xfrm>
          <a:custGeom>
            <a:avLst/>
            <a:gdLst/>
            <a:ahLst/>
            <a:cxnLst/>
            <a:rect l="l" t="t" r="r" b="b"/>
            <a:pathLst>
              <a:path w="6416810" h="1266275">
                <a:moveTo>
                  <a:pt x="0" y="0"/>
                </a:moveTo>
                <a:lnTo>
                  <a:pt x="6416809" y="0"/>
                </a:lnTo>
                <a:lnTo>
                  <a:pt x="6416809" y="1266275"/>
                </a:lnTo>
                <a:lnTo>
                  <a:pt x="0" y="1266275"/>
                </a:lnTo>
                <a:lnTo>
                  <a:pt x="0" y="0"/>
                </a:lnTo>
                <a:close/>
              </a:path>
            </a:pathLst>
          </a:custGeom>
          <a:blipFill>
            <a:blip r:embed="rId4"/>
            <a:stretch>
              <a:fillRect t="-62644" b="-7396"/>
            </a:stretch>
          </a:blipFill>
        </p:spPr>
        <p:txBody>
          <a:bodyPr/>
          <a:lstStyle/>
          <a:p>
            <a:endParaRPr lang="en-US"/>
          </a:p>
        </p:txBody>
      </p:sp>
      <p:sp>
        <p:nvSpPr>
          <p:cNvPr id="9" name="TextBox 9"/>
          <p:cNvSpPr txBox="1"/>
          <p:nvPr/>
        </p:nvSpPr>
        <p:spPr>
          <a:xfrm>
            <a:off x="11323215" y="7056981"/>
            <a:ext cx="6115846" cy="677108"/>
          </a:xfrm>
          <a:prstGeom prst="rect">
            <a:avLst/>
          </a:prstGeom>
        </p:spPr>
        <p:txBody>
          <a:bodyPr lIns="0" tIns="0" rIns="0" bIns="0" rtlCol="0" anchor="t">
            <a:spAutoFit/>
          </a:bodyPr>
          <a:lstStyle/>
          <a:p>
            <a:pPr algn="ctr"/>
            <a:r>
              <a:rPr lang="en-US" sz="2200" dirty="0">
                <a:solidFill>
                  <a:schemeClr val="tx2"/>
                </a:solidFill>
                <a:latin typeface="Segoe UI Semibold" panose="020B0702040204020203" pitchFamily="34" charset="0"/>
                <a:ea typeface="Montserrat Bold"/>
                <a:cs typeface="Segoe UI Semibold" panose="020B0702040204020203" pitchFamily="34" charset="0"/>
                <a:sym typeface="Montserrat Bold"/>
              </a:rPr>
              <a:t>Showing Top 5 Products Forecasting and Recommendations</a:t>
            </a:r>
          </a:p>
        </p:txBody>
      </p:sp>
      <p:sp>
        <p:nvSpPr>
          <p:cNvPr id="10" name="TextBox 10"/>
          <p:cNvSpPr txBox="1"/>
          <p:nvPr/>
        </p:nvSpPr>
        <p:spPr>
          <a:xfrm>
            <a:off x="836239" y="4838700"/>
            <a:ext cx="9525980" cy="4062651"/>
          </a:xfrm>
          <a:prstGeom prst="rect">
            <a:avLst/>
          </a:prstGeom>
        </p:spPr>
        <p:txBody>
          <a:bodyPr wrap="square" lIns="0" tIns="0" rIns="0" bIns="0" rtlCol="0" anchor="t">
            <a:spAutoFit/>
          </a:bodyPr>
          <a:lstStyle/>
          <a:p>
            <a:pPr marL="601627" lvl="1" indent="-342900" algn="just">
              <a:buFont typeface="Wingdings" panose="05000000000000000000" pitchFamily="2" charset="2"/>
              <a:buChar char="ü"/>
            </a:pPr>
            <a:r>
              <a:rPr lang="en-US" sz="2400" b="1" dirty="0"/>
              <a:t>Automated Forecasting:</a:t>
            </a:r>
            <a:r>
              <a:rPr lang="en-US" sz="2400" dirty="0"/>
              <a:t> Predicts next month's top and least selling products using the XGBoost model.</a:t>
            </a:r>
          </a:p>
          <a:p>
            <a:pPr marL="601627" lvl="1" indent="-342900" algn="just">
              <a:buFont typeface="Wingdings" panose="05000000000000000000" pitchFamily="2" charset="2"/>
              <a:buChar char="ü"/>
            </a:pPr>
            <a:endParaRPr lang="en-US" sz="2400" dirty="0"/>
          </a:p>
          <a:p>
            <a:pPr marL="601627" lvl="1" indent="-342900" algn="just">
              <a:buFont typeface="Wingdings" panose="05000000000000000000" pitchFamily="2" charset="2"/>
              <a:buChar char="ü"/>
            </a:pPr>
            <a:r>
              <a:rPr lang="en-US" sz="2400" b="1" dirty="0"/>
              <a:t>Business Overview:</a:t>
            </a:r>
            <a:r>
              <a:rPr lang="en-US" sz="2400" dirty="0"/>
              <a:t> Delivers a complete summary of revenue, profit, and units sold instantly.</a:t>
            </a:r>
          </a:p>
          <a:p>
            <a:pPr marL="601627" lvl="1" indent="-342900" algn="just">
              <a:buFont typeface="Wingdings" panose="05000000000000000000" pitchFamily="2" charset="2"/>
              <a:buChar char="ü"/>
            </a:pPr>
            <a:endParaRPr lang="en-US" sz="2400" dirty="0"/>
          </a:p>
          <a:p>
            <a:pPr marL="601627" lvl="1" indent="-342900" algn="just">
              <a:buFont typeface="Wingdings" panose="05000000000000000000" pitchFamily="2" charset="2"/>
              <a:buChar char="ü"/>
            </a:pPr>
            <a:r>
              <a:rPr lang="en-US" sz="2400" b="1" dirty="0"/>
              <a:t>Product Recommendations:</a:t>
            </a:r>
            <a:r>
              <a:rPr lang="en-US" sz="2400" dirty="0"/>
              <a:t> Suggests related products to support better stocking decisions.</a:t>
            </a:r>
          </a:p>
          <a:p>
            <a:pPr marL="601627" lvl="1" indent="-342900" algn="just">
              <a:buFont typeface="Wingdings" panose="05000000000000000000" pitchFamily="2" charset="2"/>
              <a:buChar char="ü"/>
            </a:pPr>
            <a:endParaRPr lang="en-US" sz="2400" dirty="0"/>
          </a:p>
          <a:p>
            <a:pPr marL="601627" lvl="1" indent="-342900" algn="just">
              <a:buFont typeface="Wingdings" panose="05000000000000000000" pitchFamily="2" charset="2"/>
              <a:buChar char="ü"/>
            </a:pPr>
            <a:r>
              <a:rPr lang="en-US" sz="2400" b="1" dirty="0"/>
              <a:t>Data Intelligence:</a:t>
            </a:r>
            <a:r>
              <a:rPr lang="en-US" sz="2400" dirty="0"/>
              <a:t> Presents easy to understand graphs and analytics from uploaded sales data.</a:t>
            </a:r>
            <a:endParaRPr lang="en-US" sz="2000" spc="-79" dirty="0">
              <a:solidFill>
                <a:srgbClr val="101B40"/>
              </a:solidFill>
              <a:latin typeface="Segoe UI" panose="020B0502040204020203" pitchFamily="34" charset="0"/>
              <a:ea typeface="Montserrat"/>
              <a:cs typeface="Segoe UI" panose="020B0502040204020203" pitchFamily="34" charset="0"/>
              <a:sym typeface="Montserrat"/>
            </a:endParaRPr>
          </a:p>
        </p:txBody>
      </p:sp>
      <p:sp>
        <p:nvSpPr>
          <p:cNvPr id="11" name="TextBox 6">
            <a:extLst>
              <a:ext uri="{FF2B5EF4-FFF2-40B4-BE49-F238E27FC236}">
                <a16:creationId xmlns:a16="http://schemas.microsoft.com/office/drawing/2014/main" id="{73B8D559-B698-CCF3-1F73-54105E0D8A3F}"/>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DM Sans" pitchFamily="2" charset="0"/>
                <a:ea typeface="Montserrat"/>
                <a:cs typeface="Segoe UI" panose="020B0502040204020203" pitchFamily="34" charset="0"/>
                <a:sym typeface="Montserrat"/>
              </a:rPr>
              <a:t>AI </a:t>
            </a: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Driven</a:t>
            </a:r>
            <a:r>
              <a:rPr lang="en-US" sz="2800" dirty="0">
                <a:solidFill>
                  <a:schemeClr val="tx1">
                    <a:lumMod val="65000"/>
                    <a:lumOff val="35000"/>
                  </a:schemeClr>
                </a:solidFill>
                <a:latin typeface="DM Sans" pitchFamily="2" charset="0"/>
                <a:ea typeface="Montserrat"/>
                <a:cs typeface="Segoe UI" panose="020B0502040204020203" pitchFamily="34" charset="0"/>
                <a:sym typeface="Montserrat"/>
              </a:rPr>
              <a:t> Business Sales Forecasting System</a:t>
            </a:r>
          </a:p>
        </p:txBody>
      </p:sp>
      <p:sp>
        <p:nvSpPr>
          <p:cNvPr id="12" name="TextBox 10">
            <a:extLst>
              <a:ext uri="{FF2B5EF4-FFF2-40B4-BE49-F238E27FC236}">
                <a16:creationId xmlns:a16="http://schemas.microsoft.com/office/drawing/2014/main" id="{74A9B88A-4355-6513-261B-F24C272DC785}"/>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13" name="Graphic 12">
            <a:extLst>
              <a:ext uri="{FF2B5EF4-FFF2-40B4-BE49-F238E27FC236}">
                <a16:creationId xmlns:a16="http://schemas.microsoft.com/office/drawing/2014/main" id="{69AF1B8B-8FE1-3402-463D-9447E588DD9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2999" y="1104900"/>
            <a:ext cx="829747" cy="829747"/>
          </a:xfrm>
          <a:prstGeom prst="rect">
            <a:avLst/>
          </a:prstGeom>
        </p:spPr>
      </p:pic>
      <p:grpSp>
        <p:nvGrpSpPr>
          <p:cNvPr id="15" name="Group 5">
            <a:extLst>
              <a:ext uri="{FF2B5EF4-FFF2-40B4-BE49-F238E27FC236}">
                <a16:creationId xmlns:a16="http://schemas.microsoft.com/office/drawing/2014/main" id="{E873C4F4-4B05-C4E1-9B98-33FD5EE99CA4}"/>
              </a:ext>
            </a:extLst>
          </p:cNvPr>
          <p:cNvGrpSpPr/>
          <p:nvPr/>
        </p:nvGrpSpPr>
        <p:grpSpPr>
          <a:xfrm>
            <a:off x="824795" y="9258300"/>
            <a:ext cx="4618433" cy="648429"/>
            <a:chOff x="0" y="0"/>
            <a:chExt cx="6157911" cy="864572"/>
          </a:xfrm>
        </p:grpSpPr>
        <p:sp>
          <p:nvSpPr>
            <p:cNvPr id="16" name="Freeform 6">
              <a:extLst>
                <a:ext uri="{FF2B5EF4-FFF2-40B4-BE49-F238E27FC236}">
                  <a16:creationId xmlns:a16="http://schemas.microsoft.com/office/drawing/2014/main" id="{DD673510-6F95-DC74-A8AF-2F9981B96601}"/>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6"/>
              <a:stretch>
                <a:fillRect/>
              </a:stretch>
            </a:blipFill>
          </p:spPr>
          <p:txBody>
            <a:bodyPr/>
            <a:lstStyle/>
            <a:p>
              <a:endParaRPr lang="en-US"/>
            </a:p>
          </p:txBody>
        </p:sp>
        <p:sp>
          <p:nvSpPr>
            <p:cNvPr id="17" name="TextBox 7">
              <a:extLst>
                <a:ext uri="{FF2B5EF4-FFF2-40B4-BE49-F238E27FC236}">
                  <a16:creationId xmlns:a16="http://schemas.microsoft.com/office/drawing/2014/main" id="{F56BAE47-E538-A6A1-B997-91C46B729261}"/>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9" name="AutoShape 16">
            <a:extLst>
              <a:ext uri="{FF2B5EF4-FFF2-40B4-BE49-F238E27FC236}">
                <a16:creationId xmlns:a16="http://schemas.microsoft.com/office/drawing/2014/main" id="{7F637828-11F4-736B-B41B-F1F74C363FA1}"/>
              </a:ext>
            </a:extLst>
          </p:cNvPr>
          <p:cNvSpPr/>
          <p:nvPr/>
        </p:nvSpPr>
        <p:spPr>
          <a:xfrm>
            <a:off x="1142998" y="3356916"/>
            <a:ext cx="6019801" cy="25642"/>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20" name="TextBox 6">
            <a:extLst>
              <a:ext uri="{FF2B5EF4-FFF2-40B4-BE49-F238E27FC236}">
                <a16:creationId xmlns:a16="http://schemas.microsoft.com/office/drawing/2014/main" id="{856630B1-C838-FA49-8448-69F13A197B87}"/>
              </a:ext>
            </a:extLst>
          </p:cNvPr>
          <p:cNvSpPr txBox="1"/>
          <p:nvPr/>
        </p:nvSpPr>
        <p:spPr>
          <a:xfrm>
            <a:off x="1142998" y="2476500"/>
            <a:ext cx="7089541"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Proposed Solution</a:t>
            </a:r>
          </a:p>
        </p:txBody>
      </p:sp>
      <p:sp>
        <p:nvSpPr>
          <p:cNvPr id="21" name="TextBox 20">
            <a:extLst>
              <a:ext uri="{FF2B5EF4-FFF2-40B4-BE49-F238E27FC236}">
                <a16:creationId xmlns:a16="http://schemas.microsoft.com/office/drawing/2014/main" id="{C99CB0F1-BE12-3083-353C-C11A15611A82}"/>
              </a:ext>
            </a:extLst>
          </p:cNvPr>
          <p:cNvSpPr txBox="1"/>
          <p:nvPr/>
        </p:nvSpPr>
        <p:spPr>
          <a:xfrm>
            <a:off x="1066800" y="3543300"/>
            <a:ext cx="9219221" cy="1200329"/>
          </a:xfrm>
          <a:prstGeom prst="rect">
            <a:avLst/>
          </a:prstGeom>
          <a:noFill/>
        </p:spPr>
        <p:txBody>
          <a:bodyPr wrap="square" rtlCol="0">
            <a:spAutoFit/>
          </a:bodyPr>
          <a:lstStyle/>
          <a:p>
            <a:pPr algn="just"/>
            <a:r>
              <a:rPr lang="en-US" sz="2400" dirty="0">
                <a:latin typeface="Segoe UI Semibold" panose="020B0702040204020203" pitchFamily="34" charset="0"/>
                <a:cs typeface="Segoe UI Semibold" panose="020B0702040204020203" pitchFamily="34" charset="0"/>
              </a:rPr>
              <a:t>SalesOracle</a:t>
            </a:r>
            <a:r>
              <a:rPr lang="en-US" sz="2400" dirty="0">
                <a:latin typeface="Segoe UI" panose="020B0502040204020203" pitchFamily="34" charset="0"/>
                <a:cs typeface="Segoe UI" panose="020B0502040204020203" pitchFamily="34" charset="0"/>
              </a:rPr>
              <a:t> is an AI-driven web application designed for retail and departmental stores to replace manual forecasting with smart, data-driven decisions.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6" name="TextBox 6">
            <a:extLst>
              <a:ext uri="{FF2B5EF4-FFF2-40B4-BE49-F238E27FC236}">
                <a16:creationId xmlns:a16="http://schemas.microsoft.com/office/drawing/2014/main" id="{EFEE44EA-A6A8-B3EA-3BC4-5443175A0D9E}"/>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DM Sans" pitchFamily="2"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52232AE2-FA59-F67C-0D2E-50B18D41EF93}"/>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068F8F9B-359F-2190-CFF1-947C2ADFB4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6672EE61-7966-3D1D-DA44-E6018D0AD5F9}"/>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BA79B98B-BAFA-7170-A88D-F09F7C39770C}"/>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4"/>
              <a:stretch>
                <a:fillRect/>
              </a:stretch>
            </a:blipFill>
          </p:spPr>
          <p:txBody>
            <a:bodyPr/>
            <a:lstStyle/>
            <a:p>
              <a:endParaRPr lang="en-US"/>
            </a:p>
          </p:txBody>
        </p:sp>
        <p:sp>
          <p:nvSpPr>
            <p:cNvPr id="12" name="TextBox 7">
              <a:extLst>
                <a:ext uri="{FF2B5EF4-FFF2-40B4-BE49-F238E27FC236}">
                  <a16:creationId xmlns:a16="http://schemas.microsoft.com/office/drawing/2014/main" id="{629E54C5-32C8-A911-A976-FA4106F45D06}"/>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2657C3DF-4D2C-835C-EC48-819E412BAC21}"/>
              </a:ext>
            </a:extLst>
          </p:cNvPr>
          <p:cNvSpPr/>
          <p:nvPr/>
        </p:nvSpPr>
        <p:spPr>
          <a:xfrm>
            <a:off x="1142998" y="3356916"/>
            <a:ext cx="4419602" cy="18825"/>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A803C27F-9854-E2D5-BFE8-0BEEE481D824}"/>
              </a:ext>
            </a:extLst>
          </p:cNvPr>
          <p:cNvSpPr txBox="1"/>
          <p:nvPr/>
        </p:nvSpPr>
        <p:spPr>
          <a:xfrm>
            <a:off x="1142999" y="2476500"/>
            <a:ext cx="5410202"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Project Scope</a:t>
            </a:r>
          </a:p>
        </p:txBody>
      </p:sp>
      <p:sp>
        <p:nvSpPr>
          <p:cNvPr id="17" name="TextBox 16">
            <a:extLst>
              <a:ext uri="{FF2B5EF4-FFF2-40B4-BE49-F238E27FC236}">
                <a16:creationId xmlns:a16="http://schemas.microsoft.com/office/drawing/2014/main" id="{77818318-91E1-2772-0D1F-5511988DF372}"/>
              </a:ext>
            </a:extLst>
          </p:cNvPr>
          <p:cNvSpPr txBox="1"/>
          <p:nvPr/>
        </p:nvSpPr>
        <p:spPr>
          <a:xfrm>
            <a:off x="1033690" y="3816340"/>
            <a:ext cx="2590803" cy="553998"/>
          </a:xfrm>
          <a:prstGeom prst="rect">
            <a:avLst/>
          </a:prstGeom>
          <a:noFill/>
        </p:spPr>
        <p:txBody>
          <a:bodyPr wrap="square" rtlCol="0">
            <a:spAutoFit/>
          </a:bodyPr>
          <a:lstStyle/>
          <a:p>
            <a:r>
              <a:rPr lang="en-US" sz="3000" b="1" dirty="0">
                <a:latin typeface="Segoe UI" panose="020B0502040204020203" pitchFamily="34" charset="0"/>
                <a:cs typeface="Segoe UI" panose="020B0502040204020203" pitchFamily="34" charset="0"/>
              </a:rPr>
              <a:t>Scope Area</a:t>
            </a:r>
          </a:p>
        </p:txBody>
      </p:sp>
      <p:sp>
        <p:nvSpPr>
          <p:cNvPr id="18" name="TextBox 17">
            <a:extLst>
              <a:ext uri="{FF2B5EF4-FFF2-40B4-BE49-F238E27FC236}">
                <a16:creationId xmlns:a16="http://schemas.microsoft.com/office/drawing/2014/main" id="{BE18C1A8-1B5C-0750-DB97-6A1C2C726E35}"/>
              </a:ext>
            </a:extLst>
          </p:cNvPr>
          <p:cNvSpPr txBox="1"/>
          <p:nvPr/>
        </p:nvSpPr>
        <p:spPr>
          <a:xfrm>
            <a:off x="3962400" y="3816340"/>
            <a:ext cx="2705101" cy="553998"/>
          </a:xfrm>
          <a:prstGeom prst="rect">
            <a:avLst/>
          </a:prstGeom>
          <a:noFill/>
        </p:spPr>
        <p:txBody>
          <a:bodyPr wrap="square" rtlCol="0">
            <a:spAutoFit/>
          </a:bodyPr>
          <a:lstStyle/>
          <a:p>
            <a:r>
              <a:rPr lang="en-US" sz="3000" b="1" dirty="0">
                <a:latin typeface="Segoe UI" panose="020B0502040204020203" pitchFamily="34" charset="0"/>
                <a:cs typeface="Segoe UI" panose="020B0502040204020203" pitchFamily="34" charset="0"/>
              </a:rPr>
              <a:t>Description</a:t>
            </a:r>
          </a:p>
        </p:txBody>
      </p:sp>
      <p:sp>
        <p:nvSpPr>
          <p:cNvPr id="19" name="AutoShape 16">
            <a:extLst>
              <a:ext uri="{FF2B5EF4-FFF2-40B4-BE49-F238E27FC236}">
                <a16:creationId xmlns:a16="http://schemas.microsoft.com/office/drawing/2014/main" id="{0C8F01E9-0CA1-6D0C-63E9-0A3FA92EA852}"/>
              </a:ext>
            </a:extLst>
          </p:cNvPr>
          <p:cNvSpPr/>
          <p:nvPr/>
        </p:nvSpPr>
        <p:spPr>
          <a:xfrm>
            <a:off x="1142998" y="4389075"/>
            <a:ext cx="16111312" cy="68625"/>
          </a:xfrm>
          <a:prstGeom prst="line">
            <a:avLst/>
          </a:prstGeom>
          <a:ln>
            <a:headEnd type="none" w="sm" len="sm"/>
            <a:tailEnd type="none" w="sm" len="sm"/>
          </a:ln>
        </p:spPr>
        <p:style>
          <a:lnRef idx="2">
            <a:schemeClr val="accent5"/>
          </a:lnRef>
          <a:fillRef idx="0">
            <a:schemeClr val="accent5"/>
          </a:fillRef>
          <a:effectRef idx="1">
            <a:schemeClr val="accent5"/>
          </a:effectRef>
          <a:fontRef idx="minor">
            <a:schemeClr val="tx1"/>
          </a:fontRef>
        </p:style>
        <p:txBody>
          <a:bodyPr/>
          <a:lstStyle/>
          <a:p>
            <a:endParaRPr lang="en-US" dirty="0"/>
          </a:p>
        </p:txBody>
      </p:sp>
      <p:sp>
        <p:nvSpPr>
          <p:cNvPr id="20" name="AutoShape 16">
            <a:extLst>
              <a:ext uri="{FF2B5EF4-FFF2-40B4-BE49-F238E27FC236}">
                <a16:creationId xmlns:a16="http://schemas.microsoft.com/office/drawing/2014/main" id="{F11BA18F-5141-7390-CC88-858FEDC7A19B}"/>
              </a:ext>
            </a:extLst>
          </p:cNvPr>
          <p:cNvSpPr/>
          <p:nvPr/>
        </p:nvSpPr>
        <p:spPr>
          <a:xfrm>
            <a:off x="1142998" y="5242434"/>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1" name="AutoShape 16">
            <a:extLst>
              <a:ext uri="{FF2B5EF4-FFF2-40B4-BE49-F238E27FC236}">
                <a16:creationId xmlns:a16="http://schemas.microsoft.com/office/drawing/2014/main" id="{A6D92F7B-602F-A7B8-6892-E324D71027AF}"/>
              </a:ext>
            </a:extLst>
          </p:cNvPr>
          <p:cNvSpPr/>
          <p:nvPr/>
        </p:nvSpPr>
        <p:spPr>
          <a:xfrm>
            <a:off x="1142998" y="61416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2" name="AutoShape 16">
            <a:extLst>
              <a:ext uri="{FF2B5EF4-FFF2-40B4-BE49-F238E27FC236}">
                <a16:creationId xmlns:a16="http://schemas.microsoft.com/office/drawing/2014/main" id="{A98C88F4-0483-764D-7C71-EBF7CC98EFD4}"/>
              </a:ext>
            </a:extLst>
          </p:cNvPr>
          <p:cNvSpPr/>
          <p:nvPr/>
        </p:nvSpPr>
        <p:spPr>
          <a:xfrm>
            <a:off x="1142998" y="70560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3" name="AutoShape 16">
            <a:extLst>
              <a:ext uri="{FF2B5EF4-FFF2-40B4-BE49-F238E27FC236}">
                <a16:creationId xmlns:a16="http://schemas.microsoft.com/office/drawing/2014/main" id="{30796803-652C-C306-FC76-846438E80762}"/>
              </a:ext>
            </a:extLst>
          </p:cNvPr>
          <p:cNvSpPr/>
          <p:nvPr/>
        </p:nvSpPr>
        <p:spPr>
          <a:xfrm>
            <a:off x="1142998" y="79704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4" name="AutoShape 16">
            <a:extLst>
              <a:ext uri="{FF2B5EF4-FFF2-40B4-BE49-F238E27FC236}">
                <a16:creationId xmlns:a16="http://schemas.microsoft.com/office/drawing/2014/main" id="{B087878E-C902-602F-2933-355E54FB986B}"/>
              </a:ext>
            </a:extLst>
          </p:cNvPr>
          <p:cNvSpPr/>
          <p:nvPr/>
        </p:nvSpPr>
        <p:spPr>
          <a:xfrm>
            <a:off x="1142998" y="88848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5" name="TextBox 24">
            <a:extLst>
              <a:ext uri="{FF2B5EF4-FFF2-40B4-BE49-F238E27FC236}">
                <a16:creationId xmlns:a16="http://schemas.microsoft.com/office/drawing/2014/main" id="{2C8641A4-5530-DF4E-7326-315EE81D5A8B}"/>
              </a:ext>
            </a:extLst>
          </p:cNvPr>
          <p:cNvSpPr txBox="1"/>
          <p:nvPr/>
        </p:nvSpPr>
        <p:spPr>
          <a:xfrm>
            <a:off x="1143000" y="4620280"/>
            <a:ext cx="277072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egoe UI Semibold" panose="020B0702040204020203" pitchFamily="34" charset="0"/>
                <a:cs typeface="Segoe UI Semibold" panose="020B0702040204020203" pitchFamily="34" charset="0"/>
              </a:rPr>
              <a:t>Target Users</a:t>
            </a:r>
          </a:p>
        </p:txBody>
      </p:sp>
      <p:sp>
        <p:nvSpPr>
          <p:cNvPr id="26" name="TextBox 25">
            <a:extLst>
              <a:ext uri="{FF2B5EF4-FFF2-40B4-BE49-F238E27FC236}">
                <a16:creationId xmlns:a16="http://schemas.microsoft.com/office/drawing/2014/main" id="{33BD448C-5A98-495F-0EDE-793A408B0CE4}"/>
              </a:ext>
            </a:extLst>
          </p:cNvPr>
          <p:cNvSpPr txBox="1"/>
          <p:nvPr/>
        </p:nvSpPr>
        <p:spPr>
          <a:xfrm>
            <a:off x="4038600" y="4620280"/>
            <a:ext cx="11430000" cy="523220"/>
          </a:xfrm>
          <a:prstGeom prst="rect">
            <a:avLst/>
          </a:prstGeom>
          <a:noFill/>
        </p:spPr>
        <p:txBody>
          <a:bodyPr wrap="square" rtlCol="0">
            <a:spAutoFit/>
          </a:bodyPr>
          <a:lstStyle/>
          <a:p>
            <a:r>
              <a:rPr lang="en-US" sz="2700" dirty="0">
                <a:latin typeface="Segoe UI" panose="020B0502040204020203" pitchFamily="34" charset="0"/>
                <a:cs typeface="Segoe UI" panose="020B0502040204020203" pitchFamily="34" charset="0"/>
              </a:rPr>
              <a:t>Sales managers and store owners of retail and departmental stores.</a:t>
            </a:r>
          </a:p>
        </p:txBody>
      </p:sp>
      <p:sp>
        <p:nvSpPr>
          <p:cNvPr id="27" name="TextBox 26">
            <a:extLst>
              <a:ext uri="{FF2B5EF4-FFF2-40B4-BE49-F238E27FC236}">
                <a16:creationId xmlns:a16="http://schemas.microsoft.com/office/drawing/2014/main" id="{53F6FA1B-AED1-2E2F-5FB4-A4CE18A14527}"/>
              </a:ext>
            </a:extLst>
          </p:cNvPr>
          <p:cNvSpPr txBox="1"/>
          <p:nvPr/>
        </p:nvSpPr>
        <p:spPr>
          <a:xfrm>
            <a:off x="1143000" y="5469019"/>
            <a:ext cx="277072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egoe UI Semibold" panose="020B0702040204020203" pitchFamily="34" charset="0"/>
                <a:cs typeface="Segoe UI Semibold" panose="020B0702040204020203" pitchFamily="34" charset="0"/>
              </a:rPr>
              <a:t>Data Input</a:t>
            </a:r>
          </a:p>
        </p:txBody>
      </p:sp>
      <p:sp>
        <p:nvSpPr>
          <p:cNvPr id="28" name="TextBox 27">
            <a:extLst>
              <a:ext uri="{FF2B5EF4-FFF2-40B4-BE49-F238E27FC236}">
                <a16:creationId xmlns:a16="http://schemas.microsoft.com/office/drawing/2014/main" id="{1604B6F8-D4F6-92AC-6744-0FFE0A631308}"/>
              </a:ext>
            </a:extLst>
          </p:cNvPr>
          <p:cNvSpPr txBox="1"/>
          <p:nvPr/>
        </p:nvSpPr>
        <p:spPr>
          <a:xfrm>
            <a:off x="4038600" y="5469019"/>
            <a:ext cx="11430000" cy="523220"/>
          </a:xfrm>
          <a:prstGeom prst="rect">
            <a:avLst/>
          </a:prstGeom>
          <a:noFill/>
        </p:spPr>
        <p:txBody>
          <a:bodyPr wrap="square" rtlCol="0">
            <a:spAutoFit/>
          </a:bodyPr>
          <a:lstStyle/>
          <a:p>
            <a:r>
              <a:rPr lang="en-US" sz="2700" dirty="0">
                <a:latin typeface="Segoe UI" panose="020B0502040204020203" pitchFamily="34" charset="0"/>
                <a:cs typeface="Segoe UI" panose="020B0502040204020203" pitchFamily="34" charset="0"/>
              </a:rPr>
              <a:t>CSV files containing product, sales, quantity, revenue, and profit records.</a:t>
            </a:r>
          </a:p>
        </p:txBody>
      </p:sp>
      <p:sp>
        <p:nvSpPr>
          <p:cNvPr id="29" name="TextBox 28">
            <a:extLst>
              <a:ext uri="{FF2B5EF4-FFF2-40B4-BE49-F238E27FC236}">
                <a16:creationId xmlns:a16="http://schemas.microsoft.com/office/drawing/2014/main" id="{AE4CB049-3830-B7E3-FA09-C4D0FED6F553}"/>
              </a:ext>
            </a:extLst>
          </p:cNvPr>
          <p:cNvSpPr txBox="1"/>
          <p:nvPr/>
        </p:nvSpPr>
        <p:spPr>
          <a:xfrm>
            <a:off x="1142998" y="6371577"/>
            <a:ext cx="277072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egoe UI Semibold" panose="020B0702040204020203" pitchFamily="34" charset="0"/>
                <a:cs typeface="Segoe UI Semibold" panose="020B0702040204020203" pitchFamily="34" charset="0"/>
              </a:rPr>
              <a:t>Forecasting</a:t>
            </a:r>
          </a:p>
        </p:txBody>
      </p:sp>
      <p:sp>
        <p:nvSpPr>
          <p:cNvPr id="30" name="TextBox 29">
            <a:extLst>
              <a:ext uri="{FF2B5EF4-FFF2-40B4-BE49-F238E27FC236}">
                <a16:creationId xmlns:a16="http://schemas.microsoft.com/office/drawing/2014/main" id="{321AA1B6-22F7-0390-C61B-33CA59CF1565}"/>
              </a:ext>
            </a:extLst>
          </p:cNvPr>
          <p:cNvSpPr txBox="1"/>
          <p:nvPr/>
        </p:nvSpPr>
        <p:spPr>
          <a:xfrm>
            <a:off x="4038598" y="6371577"/>
            <a:ext cx="11430000" cy="523220"/>
          </a:xfrm>
          <a:prstGeom prst="rect">
            <a:avLst/>
          </a:prstGeom>
          <a:noFill/>
        </p:spPr>
        <p:txBody>
          <a:bodyPr wrap="square" rtlCol="0">
            <a:spAutoFit/>
          </a:bodyPr>
          <a:lstStyle/>
          <a:p>
            <a:r>
              <a:rPr lang="en-US" sz="2700" dirty="0">
                <a:latin typeface="Segoe UI" panose="020B0502040204020203" pitchFamily="34" charset="0"/>
                <a:cs typeface="Segoe UI" panose="020B0502040204020203" pitchFamily="34" charset="0"/>
              </a:rPr>
              <a:t>Predicts top 5 most and least selling products for the upcoming month.</a:t>
            </a:r>
          </a:p>
        </p:txBody>
      </p:sp>
      <p:sp>
        <p:nvSpPr>
          <p:cNvPr id="31" name="TextBox 30">
            <a:extLst>
              <a:ext uri="{FF2B5EF4-FFF2-40B4-BE49-F238E27FC236}">
                <a16:creationId xmlns:a16="http://schemas.microsoft.com/office/drawing/2014/main" id="{B7AA196C-EEAA-BA49-9092-07F5DB9FF36B}"/>
              </a:ext>
            </a:extLst>
          </p:cNvPr>
          <p:cNvSpPr txBox="1"/>
          <p:nvPr/>
        </p:nvSpPr>
        <p:spPr>
          <a:xfrm>
            <a:off x="1142998" y="7280002"/>
            <a:ext cx="277072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egoe UI Semibold" panose="020B0702040204020203" pitchFamily="34" charset="0"/>
                <a:cs typeface="Segoe UI Semibold" panose="020B0702040204020203" pitchFamily="34" charset="0"/>
              </a:rPr>
              <a:t>Analytics</a:t>
            </a:r>
          </a:p>
        </p:txBody>
      </p:sp>
      <p:sp>
        <p:nvSpPr>
          <p:cNvPr id="32" name="TextBox 31">
            <a:extLst>
              <a:ext uri="{FF2B5EF4-FFF2-40B4-BE49-F238E27FC236}">
                <a16:creationId xmlns:a16="http://schemas.microsoft.com/office/drawing/2014/main" id="{F4B22A28-3778-3A69-5EA1-9325EEEFAFB2}"/>
              </a:ext>
            </a:extLst>
          </p:cNvPr>
          <p:cNvSpPr txBox="1"/>
          <p:nvPr/>
        </p:nvSpPr>
        <p:spPr>
          <a:xfrm>
            <a:off x="4038598" y="7280002"/>
            <a:ext cx="11430000" cy="523220"/>
          </a:xfrm>
          <a:prstGeom prst="rect">
            <a:avLst/>
          </a:prstGeom>
          <a:noFill/>
        </p:spPr>
        <p:txBody>
          <a:bodyPr wrap="square" rtlCol="0">
            <a:spAutoFit/>
          </a:bodyPr>
          <a:lstStyle/>
          <a:p>
            <a:r>
              <a:rPr lang="en-US" sz="2700" dirty="0">
                <a:latin typeface="Segoe UI" panose="020B0502040204020203" pitchFamily="34" charset="0"/>
                <a:cs typeface="Segoe UI" panose="020B0502040204020203" pitchFamily="34" charset="0"/>
              </a:rPr>
              <a:t>Business overview, recommendations, and visual data intelligence.</a:t>
            </a:r>
          </a:p>
        </p:txBody>
      </p:sp>
      <p:sp>
        <p:nvSpPr>
          <p:cNvPr id="33" name="TextBox 32">
            <a:extLst>
              <a:ext uri="{FF2B5EF4-FFF2-40B4-BE49-F238E27FC236}">
                <a16:creationId xmlns:a16="http://schemas.microsoft.com/office/drawing/2014/main" id="{E1EC703F-304A-7A34-01C8-E95C66F1B231}"/>
              </a:ext>
            </a:extLst>
          </p:cNvPr>
          <p:cNvSpPr txBox="1"/>
          <p:nvPr/>
        </p:nvSpPr>
        <p:spPr>
          <a:xfrm>
            <a:off x="1130298" y="8200377"/>
            <a:ext cx="2770725" cy="52322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Segoe UI Semibold" panose="020B0702040204020203" pitchFamily="34" charset="0"/>
                <a:cs typeface="Segoe UI Semibold" panose="020B0702040204020203" pitchFamily="34" charset="0"/>
              </a:rPr>
              <a:t>Platform</a:t>
            </a:r>
          </a:p>
        </p:txBody>
      </p:sp>
      <p:sp>
        <p:nvSpPr>
          <p:cNvPr id="34" name="TextBox 33">
            <a:extLst>
              <a:ext uri="{FF2B5EF4-FFF2-40B4-BE49-F238E27FC236}">
                <a16:creationId xmlns:a16="http://schemas.microsoft.com/office/drawing/2014/main" id="{7D0DB679-A10D-A1F6-D29D-132422890859}"/>
              </a:ext>
            </a:extLst>
          </p:cNvPr>
          <p:cNvSpPr txBox="1"/>
          <p:nvPr/>
        </p:nvSpPr>
        <p:spPr>
          <a:xfrm>
            <a:off x="4025898" y="8200377"/>
            <a:ext cx="11430000" cy="523220"/>
          </a:xfrm>
          <a:prstGeom prst="rect">
            <a:avLst/>
          </a:prstGeom>
          <a:noFill/>
        </p:spPr>
        <p:txBody>
          <a:bodyPr wrap="square" rtlCol="0">
            <a:spAutoFit/>
          </a:bodyPr>
          <a:lstStyle/>
          <a:p>
            <a:r>
              <a:rPr lang="en-US" sz="2700" dirty="0">
                <a:latin typeface="Segoe UI" panose="020B0502040204020203" pitchFamily="34" charset="0"/>
                <a:cs typeface="Segoe UI" panose="020B0502040204020203" pitchFamily="34" charset="0"/>
              </a:rPr>
              <a:t>Fully web-based, accessible through any browser without installation.</a:t>
            </a:r>
          </a:p>
        </p:txBody>
      </p:sp>
      <p:pic>
        <p:nvPicPr>
          <p:cNvPr id="36" name="Picture 35">
            <a:extLst>
              <a:ext uri="{FF2B5EF4-FFF2-40B4-BE49-F238E27FC236}">
                <a16:creationId xmlns:a16="http://schemas.microsoft.com/office/drawing/2014/main" id="{480E3CBB-F818-0A6C-8624-2097848335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682084" y="956168"/>
            <a:ext cx="2767329" cy="276732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27738CD9-F3A1-E1A0-53B7-1B186AF28F69}"/>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938A93F4-242B-677F-2A3B-C0AD86706087}"/>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DM Sans" pitchFamily="2" charset="0"/>
                <a:ea typeface="Montserrat"/>
                <a:cs typeface="Segoe UI" panose="020B0502040204020203" pitchFamily="34" charset="0"/>
                <a:sym typeface="Montserrat"/>
              </a:rPr>
              <a:t>AI </a:t>
            </a: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Driven</a:t>
            </a:r>
            <a:r>
              <a:rPr lang="en-US" sz="2800" dirty="0">
                <a:solidFill>
                  <a:schemeClr val="tx1">
                    <a:lumMod val="65000"/>
                    <a:lumOff val="35000"/>
                  </a:schemeClr>
                </a:solidFill>
                <a:latin typeface="DM Sans" pitchFamily="2" charset="0"/>
                <a:ea typeface="Montserrat"/>
                <a:cs typeface="Segoe UI" panose="020B0502040204020203" pitchFamily="34" charset="0"/>
                <a:sym typeface="Montserrat"/>
              </a:rPr>
              <a:t> Business Sales Forecasting System</a:t>
            </a:r>
          </a:p>
        </p:txBody>
      </p:sp>
      <p:sp>
        <p:nvSpPr>
          <p:cNvPr id="7" name="TextBox 10">
            <a:extLst>
              <a:ext uri="{FF2B5EF4-FFF2-40B4-BE49-F238E27FC236}">
                <a16:creationId xmlns:a16="http://schemas.microsoft.com/office/drawing/2014/main" id="{A365B74F-C183-0BD4-36D5-C54F51611441}"/>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6FB300BE-F970-2345-6511-57884C20B8C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DE73E559-6839-6EAD-66E5-3E8F49BC1456}"/>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592B477E-5C79-4D3A-0B29-CA3B7F2D93A1}"/>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4"/>
              <a:stretch>
                <a:fillRect/>
              </a:stretch>
            </a:blipFill>
          </p:spPr>
          <p:txBody>
            <a:bodyPr/>
            <a:lstStyle/>
            <a:p>
              <a:endParaRPr lang="en-US"/>
            </a:p>
          </p:txBody>
        </p:sp>
        <p:sp>
          <p:nvSpPr>
            <p:cNvPr id="12" name="TextBox 7">
              <a:extLst>
                <a:ext uri="{FF2B5EF4-FFF2-40B4-BE49-F238E27FC236}">
                  <a16:creationId xmlns:a16="http://schemas.microsoft.com/office/drawing/2014/main" id="{5368614A-DF6F-CA12-81B3-F68734B469CB}"/>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8683BE42-C76C-2F7E-29F3-D00FE9EF5103}"/>
              </a:ext>
            </a:extLst>
          </p:cNvPr>
          <p:cNvSpPr/>
          <p:nvPr/>
        </p:nvSpPr>
        <p:spPr>
          <a:xfrm>
            <a:off x="1142999" y="3356916"/>
            <a:ext cx="7010400" cy="29862"/>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9050B0F3-1031-7983-C9BF-BAA464292ADC}"/>
              </a:ext>
            </a:extLst>
          </p:cNvPr>
          <p:cNvSpPr txBox="1"/>
          <p:nvPr/>
        </p:nvSpPr>
        <p:spPr>
          <a:xfrm>
            <a:off x="1142998" y="2476500"/>
            <a:ext cx="7010401"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Comparative Analysis</a:t>
            </a:r>
          </a:p>
        </p:txBody>
      </p:sp>
      <p:sp>
        <p:nvSpPr>
          <p:cNvPr id="16" name="TextBox 15">
            <a:extLst>
              <a:ext uri="{FF2B5EF4-FFF2-40B4-BE49-F238E27FC236}">
                <a16:creationId xmlns:a16="http://schemas.microsoft.com/office/drawing/2014/main" id="{16B781AD-B00B-F3DE-49CF-167D926CE8E0}"/>
              </a:ext>
            </a:extLst>
          </p:cNvPr>
          <p:cNvSpPr txBox="1"/>
          <p:nvPr/>
        </p:nvSpPr>
        <p:spPr>
          <a:xfrm>
            <a:off x="1033691" y="3816340"/>
            <a:ext cx="2242910" cy="553998"/>
          </a:xfrm>
          <a:prstGeom prst="rect">
            <a:avLst/>
          </a:prstGeom>
          <a:noFill/>
        </p:spPr>
        <p:txBody>
          <a:bodyPr wrap="square" rtlCol="0">
            <a:spAutoFit/>
          </a:bodyPr>
          <a:lstStyle/>
          <a:p>
            <a:pPr algn="ctr"/>
            <a:r>
              <a:rPr lang="en-US" sz="3000" b="1" dirty="0">
                <a:latin typeface="Segoe UI" panose="020B0502040204020203" pitchFamily="34" charset="0"/>
                <a:cs typeface="Segoe UI" panose="020B0502040204020203" pitchFamily="34" charset="0"/>
              </a:rPr>
              <a:t>Feature</a:t>
            </a:r>
          </a:p>
        </p:txBody>
      </p:sp>
      <p:sp>
        <p:nvSpPr>
          <p:cNvPr id="17" name="AutoShape 16">
            <a:extLst>
              <a:ext uri="{FF2B5EF4-FFF2-40B4-BE49-F238E27FC236}">
                <a16:creationId xmlns:a16="http://schemas.microsoft.com/office/drawing/2014/main" id="{1B02F214-2AA5-C7E5-6D07-FCA644B9D68A}"/>
              </a:ext>
            </a:extLst>
          </p:cNvPr>
          <p:cNvSpPr/>
          <p:nvPr/>
        </p:nvSpPr>
        <p:spPr>
          <a:xfrm>
            <a:off x="1142998" y="4389075"/>
            <a:ext cx="16111312" cy="68625"/>
          </a:xfrm>
          <a:prstGeom prst="line">
            <a:avLst/>
          </a:prstGeom>
          <a:ln>
            <a:headEnd type="none" w="sm" len="sm"/>
            <a:tailEnd type="none" w="sm" len="sm"/>
          </a:ln>
        </p:spPr>
        <p:style>
          <a:lnRef idx="2">
            <a:schemeClr val="accent5"/>
          </a:lnRef>
          <a:fillRef idx="0">
            <a:schemeClr val="accent5"/>
          </a:fillRef>
          <a:effectRef idx="1">
            <a:schemeClr val="accent5"/>
          </a:effectRef>
          <a:fontRef idx="minor">
            <a:schemeClr val="tx1"/>
          </a:fontRef>
        </p:style>
        <p:txBody>
          <a:bodyPr/>
          <a:lstStyle/>
          <a:p>
            <a:endParaRPr lang="en-US" dirty="0"/>
          </a:p>
        </p:txBody>
      </p:sp>
      <p:sp>
        <p:nvSpPr>
          <p:cNvPr id="18" name="AutoShape 16">
            <a:extLst>
              <a:ext uri="{FF2B5EF4-FFF2-40B4-BE49-F238E27FC236}">
                <a16:creationId xmlns:a16="http://schemas.microsoft.com/office/drawing/2014/main" id="{1D9CB9D5-D37C-5646-813C-F0D83C6CA5A3}"/>
              </a:ext>
            </a:extLst>
          </p:cNvPr>
          <p:cNvSpPr/>
          <p:nvPr/>
        </p:nvSpPr>
        <p:spPr>
          <a:xfrm>
            <a:off x="1142998" y="5242434"/>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19" name="AutoShape 16">
            <a:extLst>
              <a:ext uri="{FF2B5EF4-FFF2-40B4-BE49-F238E27FC236}">
                <a16:creationId xmlns:a16="http://schemas.microsoft.com/office/drawing/2014/main" id="{C4C42F39-B9BE-53E5-1F9A-6F61C99B98C7}"/>
              </a:ext>
            </a:extLst>
          </p:cNvPr>
          <p:cNvSpPr/>
          <p:nvPr/>
        </p:nvSpPr>
        <p:spPr>
          <a:xfrm>
            <a:off x="1142998" y="61416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0" name="AutoShape 16">
            <a:extLst>
              <a:ext uri="{FF2B5EF4-FFF2-40B4-BE49-F238E27FC236}">
                <a16:creationId xmlns:a16="http://schemas.microsoft.com/office/drawing/2014/main" id="{CA162DA0-31F8-1722-078E-0901606F572C}"/>
              </a:ext>
            </a:extLst>
          </p:cNvPr>
          <p:cNvSpPr/>
          <p:nvPr/>
        </p:nvSpPr>
        <p:spPr>
          <a:xfrm>
            <a:off x="1142998" y="70560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1" name="AutoShape 16">
            <a:extLst>
              <a:ext uri="{FF2B5EF4-FFF2-40B4-BE49-F238E27FC236}">
                <a16:creationId xmlns:a16="http://schemas.microsoft.com/office/drawing/2014/main" id="{0AC3C6FF-0A5C-3CEB-2127-CA3AB5EB5F30}"/>
              </a:ext>
            </a:extLst>
          </p:cNvPr>
          <p:cNvSpPr/>
          <p:nvPr/>
        </p:nvSpPr>
        <p:spPr>
          <a:xfrm>
            <a:off x="1142998" y="79704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2" name="AutoShape 16">
            <a:extLst>
              <a:ext uri="{FF2B5EF4-FFF2-40B4-BE49-F238E27FC236}">
                <a16:creationId xmlns:a16="http://schemas.microsoft.com/office/drawing/2014/main" id="{E3049658-6B82-7C11-BAE2-7C82295DBBE8}"/>
              </a:ext>
            </a:extLst>
          </p:cNvPr>
          <p:cNvSpPr/>
          <p:nvPr/>
        </p:nvSpPr>
        <p:spPr>
          <a:xfrm>
            <a:off x="1142998" y="8884875"/>
            <a:ext cx="16111312" cy="68625"/>
          </a:xfrm>
          <a:prstGeom prst="line">
            <a:avLst/>
          </a:prstGeom>
          <a:ln>
            <a:headEnd type="none" w="sm" len="sm"/>
            <a:tailEnd type="none" w="sm" len="sm"/>
          </a:ln>
        </p:spPr>
        <p:style>
          <a:lnRef idx="1">
            <a:schemeClr val="accent5"/>
          </a:lnRef>
          <a:fillRef idx="0">
            <a:schemeClr val="accent5"/>
          </a:fillRef>
          <a:effectRef idx="0">
            <a:schemeClr val="accent5"/>
          </a:effectRef>
          <a:fontRef idx="minor">
            <a:schemeClr val="tx1"/>
          </a:fontRef>
        </p:style>
        <p:txBody>
          <a:bodyPr/>
          <a:lstStyle/>
          <a:p>
            <a:endParaRPr lang="en-US" dirty="0"/>
          </a:p>
        </p:txBody>
      </p:sp>
      <p:sp>
        <p:nvSpPr>
          <p:cNvPr id="23" name="TextBox 22">
            <a:extLst>
              <a:ext uri="{FF2B5EF4-FFF2-40B4-BE49-F238E27FC236}">
                <a16:creationId xmlns:a16="http://schemas.microsoft.com/office/drawing/2014/main" id="{F74A9314-E971-854D-3B64-C06242EA5971}"/>
              </a:ext>
            </a:extLst>
          </p:cNvPr>
          <p:cNvSpPr txBox="1"/>
          <p:nvPr/>
        </p:nvSpPr>
        <p:spPr>
          <a:xfrm>
            <a:off x="1143000" y="4620280"/>
            <a:ext cx="2770725" cy="523220"/>
          </a:xfrm>
          <a:prstGeom prst="rect">
            <a:avLst/>
          </a:prstGeom>
          <a:noFill/>
        </p:spPr>
        <p:txBody>
          <a:bodyPr wrap="square" rtlCol="0">
            <a:spAutoFit/>
          </a:bodyPr>
          <a:lstStyle/>
          <a:p>
            <a:r>
              <a:rPr lang="en-US" sz="2800" dirty="0">
                <a:latin typeface="Segoe UI" panose="020B0502040204020203" pitchFamily="34" charset="0"/>
                <a:cs typeface="Segoe UI" panose="020B0502040204020203" pitchFamily="34" charset="0"/>
              </a:rPr>
              <a:t>AI Forecasting</a:t>
            </a:r>
          </a:p>
        </p:txBody>
      </p:sp>
      <p:sp>
        <p:nvSpPr>
          <p:cNvPr id="24" name="TextBox 23">
            <a:extLst>
              <a:ext uri="{FF2B5EF4-FFF2-40B4-BE49-F238E27FC236}">
                <a16:creationId xmlns:a16="http://schemas.microsoft.com/office/drawing/2014/main" id="{E7ED0DD2-EE55-1B7F-34F3-345F9C768F39}"/>
              </a:ext>
            </a:extLst>
          </p:cNvPr>
          <p:cNvSpPr txBox="1"/>
          <p:nvPr/>
        </p:nvSpPr>
        <p:spPr>
          <a:xfrm>
            <a:off x="7315200" y="4620280"/>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25" name="TextBox 24">
            <a:extLst>
              <a:ext uri="{FF2B5EF4-FFF2-40B4-BE49-F238E27FC236}">
                <a16:creationId xmlns:a16="http://schemas.microsoft.com/office/drawing/2014/main" id="{4547620F-19B6-AEF1-62E1-E9D2C8713835}"/>
              </a:ext>
            </a:extLst>
          </p:cNvPr>
          <p:cNvSpPr txBox="1"/>
          <p:nvPr/>
        </p:nvSpPr>
        <p:spPr>
          <a:xfrm>
            <a:off x="1143000" y="5469019"/>
            <a:ext cx="2770725" cy="523220"/>
          </a:xfrm>
          <a:prstGeom prst="rect">
            <a:avLst/>
          </a:prstGeom>
          <a:noFill/>
        </p:spPr>
        <p:txBody>
          <a:bodyPr wrap="square" rtlCol="0">
            <a:spAutoFit/>
          </a:bodyPr>
          <a:lstStyle/>
          <a:p>
            <a:r>
              <a:rPr lang="en-US" sz="2800" dirty="0">
                <a:latin typeface="Segoe UI" panose="020B0502040204020203" pitchFamily="34" charset="0"/>
                <a:cs typeface="Segoe UI" panose="020B0502040204020203" pitchFamily="34" charset="0"/>
              </a:rPr>
              <a:t>Easy to Use</a:t>
            </a:r>
          </a:p>
        </p:txBody>
      </p:sp>
      <p:sp>
        <p:nvSpPr>
          <p:cNvPr id="26" name="TextBox 25">
            <a:extLst>
              <a:ext uri="{FF2B5EF4-FFF2-40B4-BE49-F238E27FC236}">
                <a16:creationId xmlns:a16="http://schemas.microsoft.com/office/drawing/2014/main" id="{8C68D538-F125-C034-BDEB-56E829DD3808}"/>
              </a:ext>
            </a:extLst>
          </p:cNvPr>
          <p:cNvSpPr txBox="1"/>
          <p:nvPr/>
        </p:nvSpPr>
        <p:spPr>
          <a:xfrm>
            <a:off x="7315200" y="5448300"/>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27" name="TextBox 26">
            <a:extLst>
              <a:ext uri="{FF2B5EF4-FFF2-40B4-BE49-F238E27FC236}">
                <a16:creationId xmlns:a16="http://schemas.microsoft.com/office/drawing/2014/main" id="{7A3B1519-9C3B-8E18-53F9-576CC3AC4281}"/>
              </a:ext>
            </a:extLst>
          </p:cNvPr>
          <p:cNvSpPr txBox="1"/>
          <p:nvPr/>
        </p:nvSpPr>
        <p:spPr>
          <a:xfrm>
            <a:off x="1142998" y="6371577"/>
            <a:ext cx="2770725" cy="523220"/>
          </a:xfrm>
          <a:prstGeom prst="rect">
            <a:avLst/>
          </a:prstGeom>
          <a:noFill/>
        </p:spPr>
        <p:txBody>
          <a:bodyPr wrap="square" rtlCol="0">
            <a:spAutoFit/>
          </a:bodyPr>
          <a:lstStyle/>
          <a:p>
            <a:r>
              <a:rPr lang="en-US" sz="2800" dirty="0">
                <a:latin typeface="Segoe UI" panose="020B0502040204020203" pitchFamily="34" charset="0"/>
                <a:cs typeface="Segoe UI" panose="020B0502040204020203" pitchFamily="34" charset="0"/>
              </a:rPr>
              <a:t>Affordable</a:t>
            </a:r>
          </a:p>
        </p:txBody>
      </p:sp>
      <p:sp>
        <p:nvSpPr>
          <p:cNvPr id="29" name="TextBox 28">
            <a:extLst>
              <a:ext uri="{FF2B5EF4-FFF2-40B4-BE49-F238E27FC236}">
                <a16:creationId xmlns:a16="http://schemas.microsoft.com/office/drawing/2014/main" id="{3D2502AF-1253-A9DB-EB2C-F944876B9E14}"/>
              </a:ext>
            </a:extLst>
          </p:cNvPr>
          <p:cNvSpPr txBox="1"/>
          <p:nvPr/>
        </p:nvSpPr>
        <p:spPr>
          <a:xfrm>
            <a:off x="1142998" y="7280002"/>
            <a:ext cx="4419602" cy="523220"/>
          </a:xfrm>
          <a:prstGeom prst="rect">
            <a:avLst/>
          </a:prstGeom>
          <a:noFill/>
        </p:spPr>
        <p:txBody>
          <a:bodyPr wrap="square" rtlCol="0">
            <a:spAutoFit/>
          </a:bodyPr>
          <a:lstStyle/>
          <a:p>
            <a:r>
              <a:rPr lang="en-US" sz="2800" dirty="0">
                <a:latin typeface="Segoe UI" panose="020B0502040204020203" pitchFamily="34" charset="0"/>
                <a:cs typeface="Segoe UI" panose="020B0502040204020203" pitchFamily="34" charset="0"/>
              </a:rPr>
              <a:t>Product Recommendations</a:t>
            </a:r>
          </a:p>
        </p:txBody>
      </p:sp>
      <p:sp>
        <p:nvSpPr>
          <p:cNvPr id="31" name="TextBox 30">
            <a:extLst>
              <a:ext uri="{FF2B5EF4-FFF2-40B4-BE49-F238E27FC236}">
                <a16:creationId xmlns:a16="http://schemas.microsoft.com/office/drawing/2014/main" id="{60BD6843-66AC-FC87-7FE9-64249BB8A53F}"/>
              </a:ext>
            </a:extLst>
          </p:cNvPr>
          <p:cNvSpPr txBox="1"/>
          <p:nvPr/>
        </p:nvSpPr>
        <p:spPr>
          <a:xfrm>
            <a:off x="1130297" y="8277880"/>
            <a:ext cx="4281827" cy="523220"/>
          </a:xfrm>
          <a:prstGeom prst="rect">
            <a:avLst/>
          </a:prstGeom>
          <a:noFill/>
        </p:spPr>
        <p:txBody>
          <a:bodyPr wrap="square" rtlCol="0">
            <a:spAutoFit/>
          </a:bodyPr>
          <a:lstStyle/>
          <a:p>
            <a:r>
              <a:rPr lang="en-US" sz="2800" dirty="0">
                <a:latin typeface="Segoe UI" panose="020B0502040204020203" pitchFamily="34" charset="0"/>
                <a:cs typeface="Segoe UI" panose="020B0502040204020203" pitchFamily="34" charset="0"/>
              </a:rPr>
              <a:t>Next Month Forecasting</a:t>
            </a:r>
          </a:p>
        </p:txBody>
      </p:sp>
      <p:sp>
        <p:nvSpPr>
          <p:cNvPr id="33" name="TextBox 32">
            <a:extLst>
              <a:ext uri="{FF2B5EF4-FFF2-40B4-BE49-F238E27FC236}">
                <a16:creationId xmlns:a16="http://schemas.microsoft.com/office/drawing/2014/main" id="{E69CD49B-EEE0-0B33-CE88-A1161D8F2C5A}"/>
              </a:ext>
            </a:extLst>
          </p:cNvPr>
          <p:cNvSpPr txBox="1"/>
          <p:nvPr/>
        </p:nvSpPr>
        <p:spPr>
          <a:xfrm>
            <a:off x="6376144" y="3764956"/>
            <a:ext cx="2653556" cy="553998"/>
          </a:xfrm>
          <a:prstGeom prst="rect">
            <a:avLst/>
          </a:prstGeom>
          <a:noFill/>
        </p:spPr>
        <p:txBody>
          <a:bodyPr wrap="square" rtlCol="0">
            <a:spAutoFit/>
          </a:bodyPr>
          <a:lstStyle/>
          <a:p>
            <a:pPr algn="ctr"/>
            <a:r>
              <a:rPr lang="en-US" sz="3000" b="1" dirty="0">
                <a:latin typeface="Segoe UI" panose="020B0502040204020203" pitchFamily="34" charset="0"/>
                <a:cs typeface="Segoe UI" panose="020B0502040204020203" pitchFamily="34" charset="0"/>
              </a:rPr>
              <a:t>Spreadsheets</a:t>
            </a:r>
          </a:p>
        </p:txBody>
      </p:sp>
      <p:sp>
        <p:nvSpPr>
          <p:cNvPr id="34" name="TextBox 33">
            <a:extLst>
              <a:ext uri="{FF2B5EF4-FFF2-40B4-BE49-F238E27FC236}">
                <a16:creationId xmlns:a16="http://schemas.microsoft.com/office/drawing/2014/main" id="{C04B5E3E-083D-D35C-2764-B85C151E70E5}"/>
              </a:ext>
            </a:extLst>
          </p:cNvPr>
          <p:cNvSpPr txBox="1"/>
          <p:nvPr/>
        </p:nvSpPr>
        <p:spPr>
          <a:xfrm>
            <a:off x="9323721" y="3764956"/>
            <a:ext cx="1981200" cy="553998"/>
          </a:xfrm>
          <a:prstGeom prst="rect">
            <a:avLst/>
          </a:prstGeom>
          <a:noFill/>
        </p:spPr>
        <p:txBody>
          <a:bodyPr wrap="square" rtlCol="0">
            <a:spAutoFit/>
          </a:bodyPr>
          <a:lstStyle/>
          <a:p>
            <a:pPr algn="ctr"/>
            <a:r>
              <a:rPr lang="en-US" sz="3000" b="1" dirty="0">
                <a:latin typeface="Segoe UI" panose="020B0502040204020203" pitchFamily="34" charset="0"/>
                <a:cs typeface="Segoe UI" panose="020B0502040204020203" pitchFamily="34" charset="0"/>
              </a:rPr>
              <a:t>Tableau</a:t>
            </a:r>
          </a:p>
        </p:txBody>
      </p:sp>
      <p:sp>
        <p:nvSpPr>
          <p:cNvPr id="35" name="TextBox 34">
            <a:extLst>
              <a:ext uri="{FF2B5EF4-FFF2-40B4-BE49-F238E27FC236}">
                <a16:creationId xmlns:a16="http://schemas.microsoft.com/office/drawing/2014/main" id="{BF1BBEFC-3BC3-0CB7-60F1-F087F1FCA15F}"/>
              </a:ext>
            </a:extLst>
          </p:cNvPr>
          <p:cNvSpPr txBox="1"/>
          <p:nvPr/>
        </p:nvSpPr>
        <p:spPr>
          <a:xfrm>
            <a:off x="11760196" y="3765332"/>
            <a:ext cx="1981200" cy="553998"/>
          </a:xfrm>
          <a:prstGeom prst="rect">
            <a:avLst/>
          </a:prstGeom>
          <a:noFill/>
        </p:spPr>
        <p:txBody>
          <a:bodyPr wrap="square" rtlCol="0">
            <a:spAutoFit/>
          </a:bodyPr>
          <a:lstStyle/>
          <a:p>
            <a:pPr algn="ctr"/>
            <a:r>
              <a:rPr lang="en-US" sz="3000" b="1" dirty="0">
                <a:latin typeface="Segoe UI" panose="020B0502040204020203" pitchFamily="34" charset="0"/>
                <a:cs typeface="Segoe UI" panose="020B0502040204020203" pitchFamily="34" charset="0"/>
              </a:rPr>
              <a:t>Power BI</a:t>
            </a:r>
          </a:p>
        </p:txBody>
      </p:sp>
      <p:sp>
        <p:nvSpPr>
          <p:cNvPr id="36" name="TextBox 35">
            <a:extLst>
              <a:ext uri="{FF2B5EF4-FFF2-40B4-BE49-F238E27FC236}">
                <a16:creationId xmlns:a16="http://schemas.microsoft.com/office/drawing/2014/main" id="{96F63E17-8543-40D5-E695-E35ACBCC58F4}"/>
              </a:ext>
            </a:extLst>
          </p:cNvPr>
          <p:cNvSpPr txBox="1"/>
          <p:nvPr/>
        </p:nvSpPr>
        <p:spPr>
          <a:xfrm>
            <a:off x="14651946" y="3765332"/>
            <a:ext cx="2242910" cy="553998"/>
          </a:xfrm>
          <a:prstGeom prst="rect">
            <a:avLst/>
          </a:prstGeom>
          <a:noFill/>
        </p:spPr>
        <p:txBody>
          <a:bodyPr wrap="square" rtlCol="0">
            <a:spAutoFit/>
          </a:bodyPr>
          <a:lstStyle/>
          <a:p>
            <a:pPr algn="ctr"/>
            <a:r>
              <a:rPr lang="en-US" sz="3000" b="1" dirty="0">
                <a:latin typeface="Segoe UI" panose="020B0502040204020203" pitchFamily="34" charset="0"/>
                <a:cs typeface="Segoe UI" panose="020B0502040204020203" pitchFamily="34" charset="0"/>
              </a:rPr>
              <a:t>SalesOracle</a:t>
            </a:r>
          </a:p>
        </p:txBody>
      </p:sp>
      <p:sp>
        <p:nvSpPr>
          <p:cNvPr id="37" name="TextBox 36">
            <a:extLst>
              <a:ext uri="{FF2B5EF4-FFF2-40B4-BE49-F238E27FC236}">
                <a16:creationId xmlns:a16="http://schemas.microsoft.com/office/drawing/2014/main" id="{5B8B2FA8-BFA3-EA7E-BDE7-AB766F1ED1D5}"/>
              </a:ext>
            </a:extLst>
          </p:cNvPr>
          <p:cNvSpPr txBox="1"/>
          <p:nvPr/>
        </p:nvSpPr>
        <p:spPr>
          <a:xfrm>
            <a:off x="10047621" y="4632980"/>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38" name="TextBox 37">
            <a:extLst>
              <a:ext uri="{FF2B5EF4-FFF2-40B4-BE49-F238E27FC236}">
                <a16:creationId xmlns:a16="http://schemas.microsoft.com/office/drawing/2014/main" id="{DE23119C-918E-0E45-7D84-CBE235E4338C}"/>
              </a:ext>
            </a:extLst>
          </p:cNvPr>
          <p:cNvSpPr txBox="1"/>
          <p:nvPr/>
        </p:nvSpPr>
        <p:spPr>
          <a:xfrm>
            <a:off x="10047621" y="5444478"/>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39" name="TextBox 38">
            <a:extLst>
              <a:ext uri="{FF2B5EF4-FFF2-40B4-BE49-F238E27FC236}">
                <a16:creationId xmlns:a16="http://schemas.microsoft.com/office/drawing/2014/main" id="{83888157-909F-0CF1-A4A7-9A11781537BC}"/>
              </a:ext>
            </a:extLst>
          </p:cNvPr>
          <p:cNvSpPr txBox="1"/>
          <p:nvPr/>
        </p:nvSpPr>
        <p:spPr>
          <a:xfrm>
            <a:off x="7315200" y="6372880"/>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40" name="TextBox 39">
            <a:extLst>
              <a:ext uri="{FF2B5EF4-FFF2-40B4-BE49-F238E27FC236}">
                <a16:creationId xmlns:a16="http://schemas.microsoft.com/office/drawing/2014/main" id="{E80A6BCE-B326-C822-59B2-963FB4DD7F0C}"/>
              </a:ext>
            </a:extLst>
          </p:cNvPr>
          <p:cNvSpPr txBox="1"/>
          <p:nvPr/>
        </p:nvSpPr>
        <p:spPr>
          <a:xfrm>
            <a:off x="10047621" y="6369058"/>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1" name="TextBox 40">
            <a:extLst>
              <a:ext uri="{FF2B5EF4-FFF2-40B4-BE49-F238E27FC236}">
                <a16:creationId xmlns:a16="http://schemas.microsoft.com/office/drawing/2014/main" id="{9AF380BA-0CAD-E4CC-F3B5-62877A5CB6C4}"/>
              </a:ext>
            </a:extLst>
          </p:cNvPr>
          <p:cNvSpPr txBox="1"/>
          <p:nvPr/>
        </p:nvSpPr>
        <p:spPr>
          <a:xfrm>
            <a:off x="12484096" y="6369058"/>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2" name="TextBox 41">
            <a:extLst>
              <a:ext uri="{FF2B5EF4-FFF2-40B4-BE49-F238E27FC236}">
                <a16:creationId xmlns:a16="http://schemas.microsoft.com/office/drawing/2014/main" id="{B53F7BFE-17BB-2560-8BA3-F2D4D001FBEA}"/>
              </a:ext>
            </a:extLst>
          </p:cNvPr>
          <p:cNvSpPr txBox="1"/>
          <p:nvPr/>
        </p:nvSpPr>
        <p:spPr>
          <a:xfrm>
            <a:off x="7315200" y="7287280"/>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3" name="TextBox 42">
            <a:extLst>
              <a:ext uri="{FF2B5EF4-FFF2-40B4-BE49-F238E27FC236}">
                <a16:creationId xmlns:a16="http://schemas.microsoft.com/office/drawing/2014/main" id="{16A290D9-FBC6-7565-DDF0-697EBDE9D766}"/>
              </a:ext>
            </a:extLst>
          </p:cNvPr>
          <p:cNvSpPr txBox="1"/>
          <p:nvPr/>
        </p:nvSpPr>
        <p:spPr>
          <a:xfrm>
            <a:off x="10047621" y="7283458"/>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4" name="TextBox 43">
            <a:extLst>
              <a:ext uri="{FF2B5EF4-FFF2-40B4-BE49-F238E27FC236}">
                <a16:creationId xmlns:a16="http://schemas.microsoft.com/office/drawing/2014/main" id="{A0179B13-0353-BCE6-6C2D-2FD3E7CCEABB}"/>
              </a:ext>
            </a:extLst>
          </p:cNvPr>
          <p:cNvSpPr txBox="1"/>
          <p:nvPr/>
        </p:nvSpPr>
        <p:spPr>
          <a:xfrm>
            <a:off x="12484096" y="7283458"/>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0019435F-1E71-8A6E-BDFD-F89BCC357749}"/>
              </a:ext>
            </a:extLst>
          </p:cNvPr>
          <p:cNvSpPr txBox="1"/>
          <p:nvPr/>
        </p:nvSpPr>
        <p:spPr>
          <a:xfrm>
            <a:off x="7315200" y="8195322"/>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6" name="TextBox 45">
            <a:extLst>
              <a:ext uri="{FF2B5EF4-FFF2-40B4-BE49-F238E27FC236}">
                <a16:creationId xmlns:a16="http://schemas.microsoft.com/office/drawing/2014/main" id="{0BCCCC78-3A02-700D-3B12-2A09B4547319}"/>
              </a:ext>
            </a:extLst>
          </p:cNvPr>
          <p:cNvSpPr txBox="1"/>
          <p:nvPr/>
        </p:nvSpPr>
        <p:spPr>
          <a:xfrm>
            <a:off x="10047621" y="8191500"/>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7" name="TextBox 46">
            <a:extLst>
              <a:ext uri="{FF2B5EF4-FFF2-40B4-BE49-F238E27FC236}">
                <a16:creationId xmlns:a16="http://schemas.microsoft.com/office/drawing/2014/main" id="{1B116821-CA64-C94E-128E-8E2438FC07E7}"/>
              </a:ext>
            </a:extLst>
          </p:cNvPr>
          <p:cNvSpPr txBox="1"/>
          <p:nvPr/>
        </p:nvSpPr>
        <p:spPr>
          <a:xfrm>
            <a:off x="12484096" y="8191500"/>
            <a:ext cx="533400" cy="523220"/>
          </a:xfrm>
          <a:prstGeom prst="rect">
            <a:avLst/>
          </a:prstGeom>
          <a:noFill/>
        </p:spPr>
        <p:txBody>
          <a:bodyPr wrap="square" rtlCol="0">
            <a:spAutoFit/>
          </a:bodyPr>
          <a:lstStyle/>
          <a:p>
            <a:pPr algn="ctr"/>
            <a:r>
              <a:rPr lang="en-US" sz="2800" dirty="0">
                <a:solidFill>
                  <a:srgbClr val="C00000"/>
                </a:solidFill>
              </a:rPr>
              <a:t>✗</a:t>
            </a:r>
            <a:endParaRPr lang="en-US" sz="2700" dirty="0">
              <a:solidFill>
                <a:srgbClr val="C00000"/>
              </a:solidFill>
              <a:latin typeface="Segoe UI" panose="020B0502040204020203" pitchFamily="34" charset="0"/>
              <a:cs typeface="Segoe UI" panose="020B0502040204020203" pitchFamily="34" charset="0"/>
            </a:endParaRPr>
          </a:p>
        </p:txBody>
      </p:sp>
      <p:sp>
        <p:nvSpPr>
          <p:cNvPr id="48" name="TextBox 47">
            <a:extLst>
              <a:ext uri="{FF2B5EF4-FFF2-40B4-BE49-F238E27FC236}">
                <a16:creationId xmlns:a16="http://schemas.microsoft.com/office/drawing/2014/main" id="{F6727E89-7F25-E822-87A5-4E7E0AACD676}"/>
              </a:ext>
            </a:extLst>
          </p:cNvPr>
          <p:cNvSpPr txBox="1"/>
          <p:nvPr/>
        </p:nvSpPr>
        <p:spPr>
          <a:xfrm>
            <a:off x="15506701" y="4620280"/>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49" name="TextBox 48">
            <a:extLst>
              <a:ext uri="{FF2B5EF4-FFF2-40B4-BE49-F238E27FC236}">
                <a16:creationId xmlns:a16="http://schemas.microsoft.com/office/drawing/2014/main" id="{25BA1E80-DD10-EA72-464D-D01F90877CD3}"/>
              </a:ext>
            </a:extLst>
          </p:cNvPr>
          <p:cNvSpPr txBox="1"/>
          <p:nvPr/>
        </p:nvSpPr>
        <p:spPr>
          <a:xfrm>
            <a:off x="15506701" y="5444478"/>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50" name="TextBox 49">
            <a:extLst>
              <a:ext uri="{FF2B5EF4-FFF2-40B4-BE49-F238E27FC236}">
                <a16:creationId xmlns:a16="http://schemas.microsoft.com/office/drawing/2014/main" id="{D1150F7D-7FFC-D7A1-1035-464B9DA16550}"/>
              </a:ext>
            </a:extLst>
          </p:cNvPr>
          <p:cNvSpPr txBox="1"/>
          <p:nvPr/>
        </p:nvSpPr>
        <p:spPr>
          <a:xfrm>
            <a:off x="15506701" y="6372436"/>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51" name="TextBox 50">
            <a:extLst>
              <a:ext uri="{FF2B5EF4-FFF2-40B4-BE49-F238E27FC236}">
                <a16:creationId xmlns:a16="http://schemas.microsoft.com/office/drawing/2014/main" id="{3335F520-FBF5-4E6E-9251-08789CED56CF}"/>
              </a:ext>
            </a:extLst>
          </p:cNvPr>
          <p:cNvSpPr txBox="1"/>
          <p:nvPr/>
        </p:nvSpPr>
        <p:spPr>
          <a:xfrm>
            <a:off x="15506701" y="7233543"/>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52" name="TextBox 51">
            <a:extLst>
              <a:ext uri="{FF2B5EF4-FFF2-40B4-BE49-F238E27FC236}">
                <a16:creationId xmlns:a16="http://schemas.microsoft.com/office/drawing/2014/main" id="{FF51C83F-4462-649E-9EBC-6879B3B59166}"/>
              </a:ext>
            </a:extLst>
          </p:cNvPr>
          <p:cNvSpPr txBox="1"/>
          <p:nvPr/>
        </p:nvSpPr>
        <p:spPr>
          <a:xfrm>
            <a:off x="15506701" y="8200377"/>
            <a:ext cx="533400" cy="523220"/>
          </a:xfrm>
          <a:prstGeom prst="rect">
            <a:avLst/>
          </a:prstGeom>
          <a:noFill/>
        </p:spPr>
        <p:txBody>
          <a:bodyPr wrap="square" rtlCol="0">
            <a:spAutoFit/>
          </a:bodyPr>
          <a:lstStyle/>
          <a:p>
            <a:pPr algn="ctr"/>
            <a:r>
              <a:rPr lang="en-US" sz="2800" dirty="0">
                <a:solidFill>
                  <a:srgbClr val="00B050"/>
                </a:solidFill>
              </a:rPr>
              <a:t>✓</a:t>
            </a:r>
            <a:endParaRPr lang="en-US" sz="2700" dirty="0">
              <a:solidFill>
                <a:srgbClr val="00B050"/>
              </a:solidFill>
              <a:latin typeface="Segoe UI" panose="020B0502040204020203" pitchFamily="34" charset="0"/>
              <a:cs typeface="Segoe UI" panose="020B0502040204020203" pitchFamily="34" charset="0"/>
            </a:endParaRPr>
          </a:p>
        </p:txBody>
      </p:sp>
      <p:sp>
        <p:nvSpPr>
          <p:cNvPr id="53" name="TextBox 52">
            <a:extLst>
              <a:ext uri="{FF2B5EF4-FFF2-40B4-BE49-F238E27FC236}">
                <a16:creationId xmlns:a16="http://schemas.microsoft.com/office/drawing/2014/main" id="{70982B0A-C2F2-C08F-8426-44CDBB5A97E9}"/>
              </a:ext>
            </a:extLst>
          </p:cNvPr>
          <p:cNvSpPr txBox="1"/>
          <p:nvPr/>
        </p:nvSpPr>
        <p:spPr>
          <a:xfrm>
            <a:off x="11678613" y="4629157"/>
            <a:ext cx="2144366" cy="523220"/>
          </a:xfrm>
          <a:prstGeom prst="rect">
            <a:avLst/>
          </a:prstGeom>
          <a:noFill/>
        </p:spPr>
        <p:txBody>
          <a:bodyPr wrap="square" rtlCol="0">
            <a:spAutoFit/>
          </a:bodyPr>
          <a:lstStyle/>
          <a:p>
            <a:pPr algn="ctr"/>
            <a:r>
              <a:rPr lang="en-US" sz="2800" dirty="0">
                <a:solidFill>
                  <a:schemeClr val="accent5">
                    <a:lumMod val="50000"/>
                  </a:schemeClr>
                </a:solidFill>
                <a:latin typeface="Segoe UI" panose="020B0502040204020203" pitchFamily="34" charset="0"/>
                <a:cs typeface="Segoe UI" panose="020B0502040204020203" pitchFamily="34" charset="0"/>
              </a:rPr>
              <a:t>Limited</a:t>
            </a:r>
            <a:endParaRPr lang="en-US" sz="2700" dirty="0">
              <a:solidFill>
                <a:schemeClr val="accent5">
                  <a:lumMod val="50000"/>
                </a:schemeClr>
              </a:solidFill>
              <a:latin typeface="Segoe UI" panose="020B0502040204020203" pitchFamily="34" charset="0"/>
              <a:cs typeface="Segoe UI" panose="020B0502040204020203" pitchFamily="34" charset="0"/>
            </a:endParaRPr>
          </a:p>
        </p:txBody>
      </p:sp>
      <p:sp>
        <p:nvSpPr>
          <p:cNvPr id="54" name="TextBox 53">
            <a:extLst>
              <a:ext uri="{FF2B5EF4-FFF2-40B4-BE49-F238E27FC236}">
                <a16:creationId xmlns:a16="http://schemas.microsoft.com/office/drawing/2014/main" id="{6832B921-C18E-B9D9-96F0-BEA40E949BB1}"/>
              </a:ext>
            </a:extLst>
          </p:cNvPr>
          <p:cNvSpPr txBox="1"/>
          <p:nvPr/>
        </p:nvSpPr>
        <p:spPr>
          <a:xfrm>
            <a:off x="11678613" y="5444478"/>
            <a:ext cx="2144366" cy="523220"/>
          </a:xfrm>
          <a:prstGeom prst="rect">
            <a:avLst/>
          </a:prstGeom>
          <a:noFill/>
        </p:spPr>
        <p:txBody>
          <a:bodyPr wrap="square" rtlCol="0">
            <a:spAutoFit/>
          </a:bodyPr>
          <a:lstStyle/>
          <a:p>
            <a:pPr algn="ctr"/>
            <a:r>
              <a:rPr lang="en-US" sz="2800" dirty="0">
                <a:solidFill>
                  <a:schemeClr val="accent5">
                    <a:lumMod val="50000"/>
                  </a:schemeClr>
                </a:solidFill>
                <a:latin typeface="Segoe UI" panose="020B0502040204020203" pitchFamily="34" charset="0"/>
                <a:cs typeface="Segoe UI" panose="020B0502040204020203" pitchFamily="34" charset="0"/>
              </a:rPr>
              <a:t>Limited</a:t>
            </a:r>
            <a:endParaRPr lang="en-US" sz="2700" dirty="0">
              <a:solidFill>
                <a:schemeClr val="accent5">
                  <a:lumMod val="50000"/>
                </a:schemeClr>
              </a:solidFill>
              <a:latin typeface="Segoe UI" panose="020B0502040204020203" pitchFamily="34" charset="0"/>
              <a:cs typeface="Segoe UI" panose="020B0502040204020203" pitchFamily="34" charset="0"/>
            </a:endParaRPr>
          </a:p>
        </p:txBody>
      </p:sp>
      <p:pic>
        <p:nvPicPr>
          <p:cNvPr id="56" name="Picture 55">
            <a:extLst>
              <a:ext uri="{FF2B5EF4-FFF2-40B4-BE49-F238E27FC236}">
                <a16:creationId xmlns:a16="http://schemas.microsoft.com/office/drawing/2014/main" id="{AA352FB6-0CE3-E0E5-CFFC-88823478A2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77800" y="808361"/>
            <a:ext cx="2489205" cy="2489205"/>
          </a:xfrm>
          <a:prstGeom prst="rect">
            <a:avLst/>
          </a:prstGeom>
        </p:spPr>
      </p:pic>
    </p:spTree>
    <p:extLst>
      <p:ext uri="{BB962C8B-B14F-4D97-AF65-F5344CB8AC3E}">
        <p14:creationId xmlns:p14="http://schemas.microsoft.com/office/powerpoint/2010/main" val="3853055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5" name="TextBox 6">
            <a:extLst>
              <a:ext uri="{FF2B5EF4-FFF2-40B4-BE49-F238E27FC236}">
                <a16:creationId xmlns:a16="http://schemas.microsoft.com/office/drawing/2014/main" id="{BDC2ED5F-C040-249D-A5AF-FEA38335C90C}"/>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9616C650-106A-E483-6BF5-B7C670162067}"/>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445B885F-334D-CDCE-6EE8-6AC721C596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CDC5CB28-643A-5EB9-CDCE-D7EF9872140B}"/>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1846A725-3898-124A-CF0C-14BD07560766}"/>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12" name="TextBox 7">
              <a:extLst>
                <a:ext uri="{FF2B5EF4-FFF2-40B4-BE49-F238E27FC236}">
                  <a16:creationId xmlns:a16="http://schemas.microsoft.com/office/drawing/2014/main" id="{39967AAF-C3FF-5B8F-8A46-E2E64A440120}"/>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2414C64A-F110-F2DB-37FD-4F0F2BE3D5F1}"/>
              </a:ext>
            </a:extLst>
          </p:cNvPr>
          <p:cNvSpPr/>
          <p:nvPr/>
        </p:nvSpPr>
        <p:spPr>
          <a:xfrm>
            <a:off x="1142998" y="3356916"/>
            <a:ext cx="13868402" cy="59075"/>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9905EFF7-46B9-A257-FBB9-56159B5760C4}"/>
              </a:ext>
            </a:extLst>
          </p:cNvPr>
          <p:cNvSpPr txBox="1"/>
          <p:nvPr/>
        </p:nvSpPr>
        <p:spPr>
          <a:xfrm>
            <a:off x="1142998" y="2476500"/>
            <a:ext cx="13868402"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Functional &amp; Non-functional requirements</a:t>
            </a:r>
          </a:p>
        </p:txBody>
      </p:sp>
      <p:sp>
        <p:nvSpPr>
          <p:cNvPr id="16" name="Rectangle: Rounded Corners 15">
            <a:extLst>
              <a:ext uri="{FF2B5EF4-FFF2-40B4-BE49-F238E27FC236}">
                <a16:creationId xmlns:a16="http://schemas.microsoft.com/office/drawing/2014/main" id="{A90AC7C8-E21E-0FD9-E646-7FF005172FD7}"/>
              </a:ext>
            </a:extLst>
          </p:cNvPr>
          <p:cNvSpPr/>
          <p:nvPr/>
        </p:nvSpPr>
        <p:spPr>
          <a:xfrm>
            <a:off x="1142998" y="3752225"/>
            <a:ext cx="7772402" cy="5338505"/>
          </a:xfrm>
          <a:prstGeom prst="roundRect">
            <a:avLst/>
          </a:prstGeom>
          <a:gradFill flip="none" rotWithShape="1">
            <a:gsLst>
              <a:gs pos="0">
                <a:schemeClr val="accent1">
                  <a:lumMod val="5000"/>
                  <a:lumOff val="95000"/>
                </a:schemeClr>
              </a:gs>
              <a:gs pos="100000">
                <a:schemeClr val="bg1">
                  <a:lumMod val="82000"/>
                </a:schemeClr>
              </a:gs>
            </a:gsLst>
            <a:path path="circle">
              <a:fillToRect r="100000" b="100000"/>
            </a:path>
            <a:tileRect l="-100000" t="-10000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01600">
              <a:schemeClr val="accent1">
                <a:satMod val="175000"/>
                <a:alpha val="40000"/>
              </a:schemeClr>
            </a:glow>
            <a:outerShdw dir="5400000" algn="ctr" rotWithShape="0">
              <a:srgbClr val="000000">
                <a:alpha val="0"/>
              </a:srgbClr>
            </a:outerShdw>
            <a:reflection stA="45000" endPos="12000" dist="2286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Rounded Corners 16">
            <a:extLst>
              <a:ext uri="{FF2B5EF4-FFF2-40B4-BE49-F238E27FC236}">
                <a16:creationId xmlns:a16="http://schemas.microsoft.com/office/drawing/2014/main" id="{1AB47582-E1C3-E298-BE87-2095A50DD737}"/>
              </a:ext>
            </a:extLst>
          </p:cNvPr>
          <p:cNvSpPr/>
          <p:nvPr/>
        </p:nvSpPr>
        <p:spPr>
          <a:xfrm>
            <a:off x="9525000" y="3752226"/>
            <a:ext cx="7467602" cy="5338504"/>
          </a:xfrm>
          <a:prstGeom prst="roundRect">
            <a:avLst/>
          </a:prstGeom>
          <a:gradFill flip="none" rotWithShape="1">
            <a:gsLst>
              <a:gs pos="0">
                <a:schemeClr val="accent1">
                  <a:lumMod val="5000"/>
                  <a:lumOff val="95000"/>
                </a:schemeClr>
              </a:gs>
              <a:gs pos="100000">
                <a:schemeClr val="bg1">
                  <a:lumMod val="82000"/>
                </a:schemeClr>
              </a:gs>
            </a:gsLst>
            <a:path path="circle">
              <a:fillToRect r="100000" b="100000"/>
            </a:path>
            <a:tileRect l="-100000" t="-100000"/>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glow rad="101600">
              <a:schemeClr val="accent1">
                <a:satMod val="175000"/>
                <a:alpha val="40000"/>
              </a:schemeClr>
            </a:glow>
            <a:outerShdw dir="5400000" algn="ctr" rotWithShape="0">
              <a:srgbClr val="000000">
                <a:alpha val="0"/>
              </a:srgbClr>
            </a:outerShdw>
            <a:reflection stA="45000" endPos="12000" dist="228600" dir="5400000" sy="-100000" algn="bl" rotWithShape="0"/>
            <a:softEdge rad="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54A46487-8D5A-37E3-EE8D-C09C69928248}"/>
              </a:ext>
            </a:extLst>
          </p:cNvPr>
          <p:cNvSpPr txBox="1"/>
          <p:nvPr/>
        </p:nvSpPr>
        <p:spPr>
          <a:xfrm>
            <a:off x="1972746" y="4914900"/>
            <a:ext cx="6028254" cy="3405291"/>
          </a:xfrm>
          <a:prstGeom prst="rect">
            <a:avLst/>
          </a:prstGeom>
          <a:noFill/>
        </p:spPr>
        <p:txBody>
          <a:bodyPr wrap="square" rtlCol="0">
            <a:spAutoFit/>
          </a:bodyPr>
          <a:lstStyle/>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CSV file upload for sales data</a:t>
            </a:r>
          </a:p>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Business overview display</a:t>
            </a:r>
          </a:p>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Next month sales forecasting</a:t>
            </a:r>
          </a:p>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Product recommendations</a:t>
            </a:r>
          </a:p>
        </p:txBody>
      </p:sp>
      <p:sp>
        <p:nvSpPr>
          <p:cNvPr id="19" name="TextBox 13">
            <a:extLst>
              <a:ext uri="{FF2B5EF4-FFF2-40B4-BE49-F238E27FC236}">
                <a16:creationId xmlns:a16="http://schemas.microsoft.com/office/drawing/2014/main" id="{7AC1B64A-1CDC-8C8E-5FA8-DC710A0C9D60}"/>
              </a:ext>
            </a:extLst>
          </p:cNvPr>
          <p:cNvSpPr txBox="1"/>
          <p:nvPr/>
        </p:nvSpPr>
        <p:spPr>
          <a:xfrm>
            <a:off x="1972746" y="4414291"/>
            <a:ext cx="4275654" cy="321755"/>
          </a:xfrm>
          <a:prstGeom prst="rect">
            <a:avLst/>
          </a:prstGeom>
        </p:spPr>
        <p:txBody>
          <a:bodyPr wrap="square" lIns="0" tIns="0" rIns="0" bIns="0" rtlCol="0" anchor="t">
            <a:spAutoFit/>
          </a:bodyPr>
          <a:lstStyle/>
          <a:p>
            <a:pPr algn="l">
              <a:lnSpc>
                <a:spcPts val="2520"/>
              </a:lnSpc>
            </a:pPr>
            <a:r>
              <a:rPr lang="en-US" sz="2800" b="1" dirty="0">
                <a:solidFill>
                  <a:srgbClr val="000000"/>
                </a:solidFill>
                <a:latin typeface="Segoe UI" panose="020B0502040204020203" pitchFamily="34" charset="0"/>
                <a:ea typeface="Canva Sans Bold"/>
                <a:cs typeface="Segoe UI" panose="020B0502040204020203" pitchFamily="34" charset="0"/>
                <a:sym typeface="Canva Sans Bold"/>
              </a:rPr>
              <a:t>Functional requirements</a:t>
            </a:r>
          </a:p>
        </p:txBody>
      </p:sp>
      <p:sp>
        <p:nvSpPr>
          <p:cNvPr id="20" name="TextBox 13">
            <a:extLst>
              <a:ext uri="{FF2B5EF4-FFF2-40B4-BE49-F238E27FC236}">
                <a16:creationId xmlns:a16="http://schemas.microsoft.com/office/drawing/2014/main" id="{0463894C-1063-93D4-EBBE-24F07D63FF98}"/>
              </a:ext>
            </a:extLst>
          </p:cNvPr>
          <p:cNvSpPr txBox="1"/>
          <p:nvPr/>
        </p:nvSpPr>
        <p:spPr>
          <a:xfrm>
            <a:off x="10287001" y="4414291"/>
            <a:ext cx="5257801" cy="321755"/>
          </a:xfrm>
          <a:prstGeom prst="rect">
            <a:avLst/>
          </a:prstGeom>
        </p:spPr>
        <p:txBody>
          <a:bodyPr wrap="square" lIns="0" tIns="0" rIns="0" bIns="0" rtlCol="0" anchor="t">
            <a:spAutoFit/>
          </a:bodyPr>
          <a:lstStyle/>
          <a:p>
            <a:pPr algn="l">
              <a:lnSpc>
                <a:spcPts val="2520"/>
              </a:lnSpc>
            </a:pPr>
            <a:r>
              <a:rPr lang="en-US" sz="2800" b="1" dirty="0">
                <a:solidFill>
                  <a:srgbClr val="000000"/>
                </a:solidFill>
                <a:latin typeface="Segoe UI" panose="020B0502040204020203" pitchFamily="34" charset="0"/>
                <a:ea typeface="Canva Sans Bold"/>
                <a:cs typeface="Segoe UI" panose="020B0502040204020203" pitchFamily="34" charset="0"/>
                <a:sym typeface="Canva Sans Bold"/>
              </a:rPr>
              <a:t>Non-functional requirements</a:t>
            </a:r>
          </a:p>
        </p:txBody>
      </p:sp>
      <p:sp>
        <p:nvSpPr>
          <p:cNvPr id="21" name="TextBox 20">
            <a:extLst>
              <a:ext uri="{FF2B5EF4-FFF2-40B4-BE49-F238E27FC236}">
                <a16:creationId xmlns:a16="http://schemas.microsoft.com/office/drawing/2014/main" id="{B7BA2822-FC64-09D2-7419-E3EA6DBDF9F1}"/>
              </a:ext>
            </a:extLst>
          </p:cNvPr>
          <p:cNvSpPr txBox="1"/>
          <p:nvPr/>
        </p:nvSpPr>
        <p:spPr>
          <a:xfrm>
            <a:off x="10287000" y="4914899"/>
            <a:ext cx="6477003" cy="3405291"/>
          </a:xfrm>
          <a:prstGeom prst="rect">
            <a:avLst/>
          </a:prstGeom>
          <a:noFill/>
        </p:spPr>
        <p:txBody>
          <a:bodyPr wrap="square" rtlCol="0">
            <a:spAutoFit/>
          </a:bodyPr>
          <a:lstStyle/>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Instant results after upload</a:t>
            </a:r>
          </a:p>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Simple and easy to use interface</a:t>
            </a:r>
          </a:p>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Accurate XGBoost based forecasting</a:t>
            </a:r>
          </a:p>
          <a:p>
            <a:pPr marL="457200" indent="-457200">
              <a:lnSpc>
                <a:spcPct val="200000"/>
              </a:lnSpc>
              <a:buFont typeface="Wingdings" panose="05000000000000000000" pitchFamily="2" charset="2"/>
              <a:buChar char="ü"/>
            </a:pPr>
            <a:r>
              <a:rPr lang="en-US" sz="2800" dirty="0">
                <a:latin typeface="Segoe UI" panose="020B0502040204020203" pitchFamily="34" charset="0"/>
                <a:cs typeface="Segoe UI" panose="020B0502040204020203" pitchFamily="34" charset="0"/>
              </a:rPr>
              <a:t>Fully web-based and accessible</a:t>
            </a:r>
          </a:p>
        </p:txBody>
      </p:sp>
      <p:pic>
        <p:nvPicPr>
          <p:cNvPr id="25" name="Picture 24">
            <a:extLst>
              <a:ext uri="{FF2B5EF4-FFF2-40B4-BE49-F238E27FC236}">
                <a16:creationId xmlns:a16="http://schemas.microsoft.com/office/drawing/2014/main" id="{8AEF8E57-5ADB-954B-D598-ADD2E6885B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49200" y="337862"/>
            <a:ext cx="2514602" cy="251460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56C8F7BE-E334-28E1-03A8-03D578227346}"/>
            </a:ext>
          </a:extLst>
        </p:cNvPr>
        <p:cNvGrpSpPr/>
        <p:nvPr/>
      </p:nvGrpSpPr>
      <p:grpSpPr>
        <a:xfrm>
          <a:off x="0" y="0"/>
          <a:ext cx="0" cy="0"/>
          <a:chOff x="0" y="0"/>
          <a:chExt cx="0" cy="0"/>
        </a:xfrm>
      </p:grpSpPr>
      <p:sp>
        <p:nvSpPr>
          <p:cNvPr id="5" name="TextBox 6">
            <a:extLst>
              <a:ext uri="{FF2B5EF4-FFF2-40B4-BE49-F238E27FC236}">
                <a16:creationId xmlns:a16="http://schemas.microsoft.com/office/drawing/2014/main" id="{65A41505-C86D-2948-A936-CCA0AE5A1A6E}"/>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200029E8-F079-7D8A-FBAB-3574C0CE60CB}"/>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51C6FFFC-671B-A527-1E5D-78F5291683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A1A74E17-C383-997C-A687-A00490F608A8}"/>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FB713E5C-F0DA-95E1-995F-74190090CF03}"/>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12" name="TextBox 7">
              <a:extLst>
                <a:ext uri="{FF2B5EF4-FFF2-40B4-BE49-F238E27FC236}">
                  <a16:creationId xmlns:a16="http://schemas.microsoft.com/office/drawing/2014/main" id="{54CDED33-D15B-EDC8-BADA-EADA194432A6}"/>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2AE4ED86-EA13-0495-D9B6-F8D4326BF247}"/>
              </a:ext>
            </a:extLst>
          </p:cNvPr>
          <p:cNvSpPr/>
          <p:nvPr/>
        </p:nvSpPr>
        <p:spPr>
          <a:xfrm>
            <a:off x="1142998" y="3356916"/>
            <a:ext cx="6477001" cy="27590"/>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145D27E6-2F4D-8F18-8377-C9DA8C3CEEDF}"/>
              </a:ext>
            </a:extLst>
          </p:cNvPr>
          <p:cNvSpPr txBox="1"/>
          <p:nvPr/>
        </p:nvSpPr>
        <p:spPr>
          <a:xfrm>
            <a:off x="1142998" y="2476500"/>
            <a:ext cx="6629401"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System Architecture</a:t>
            </a:r>
          </a:p>
        </p:txBody>
      </p:sp>
      <p:sp>
        <p:nvSpPr>
          <p:cNvPr id="6" name="TextBox 5">
            <a:extLst>
              <a:ext uri="{FF2B5EF4-FFF2-40B4-BE49-F238E27FC236}">
                <a16:creationId xmlns:a16="http://schemas.microsoft.com/office/drawing/2014/main" id="{5FE7A432-82E2-19B7-3AA7-9E20010B7B7A}"/>
              </a:ext>
            </a:extLst>
          </p:cNvPr>
          <p:cNvSpPr txBox="1"/>
          <p:nvPr/>
        </p:nvSpPr>
        <p:spPr>
          <a:xfrm>
            <a:off x="1033690" y="3619500"/>
            <a:ext cx="2590803" cy="553998"/>
          </a:xfrm>
          <a:prstGeom prst="rect">
            <a:avLst/>
          </a:prstGeom>
          <a:noFill/>
        </p:spPr>
        <p:txBody>
          <a:bodyPr wrap="square" rtlCol="0">
            <a:spAutoFit/>
          </a:bodyPr>
          <a:lstStyle/>
          <a:p>
            <a:pPr marL="457200" indent="-457200">
              <a:buFont typeface="Arial" panose="020B0604020202020204" pitchFamily="34" charset="0"/>
              <a:buChar char="•"/>
            </a:pPr>
            <a:r>
              <a:rPr lang="en-US" sz="3000" b="1" dirty="0">
                <a:latin typeface="Segoe UI" panose="020B0502040204020203" pitchFamily="34" charset="0"/>
                <a:cs typeface="Segoe UI" panose="020B0502040204020203" pitchFamily="34" charset="0"/>
              </a:rPr>
              <a:t>Data Layer</a:t>
            </a:r>
          </a:p>
        </p:txBody>
      </p:sp>
      <p:sp>
        <p:nvSpPr>
          <p:cNvPr id="9" name="TextBox 8">
            <a:extLst>
              <a:ext uri="{FF2B5EF4-FFF2-40B4-BE49-F238E27FC236}">
                <a16:creationId xmlns:a16="http://schemas.microsoft.com/office/drawing/2014/main" id="{857A6D9F-9510-6460-3F1D-10BFC73F03D5}"/>
              </a:ext>
            </a:extLst>
          </p:cNvPr>
          <p:cNvSpPr txBox="1"/>
          <p:nvPr/>
        </p:nvSpPr>
        <p:spPr>
          <a:xfrm>
            <a:off x="1557872" y="4229100"/>
            <a:ext cx="6824128" cy="923330"/>
          </a:xfrm>
          <a:prstGeom prst="rect">
            <a:avLst/>
          </a:prstGeom>
          <a:noFill/>
        </p:spPr>
        <p:txBody>
          <a:bodyPr wrap="square" rtlCol="0">
            <a:spAutoFit/>
          </a:bodyPr>
          <a:lstStyle/>
          <a:p>
            <a:r>
              <a:rPr lang="en-US" sz="2700" dirty="0">
                <a:solidFill>
                  <a:srgbClr val="2B2B2B"/>
                </a:solidFill>
                <a:latin typeface="Segoe UI" panose="020B0502040204020203" pitchFamily="34" charset="0"/>
                <a:ea typeface="Inter"/>
                <a:cs typeface="Segoe UI" panose="020B0502040204020203" pitchFamily="34" charset="0"/>
                <a:sym typeface="Inter"/>
              </a:rPr>
              <a:t>Automating data preprocessing and feature engineering to prepare features.</a:t>
            </a:r>
            <a:endParaRPr lang="en-US" sz="2700" dirty="0">
              <a:latin typeface="Segoe UI" panose="020B0502040204020203" pitchFamily="34" charset="0"/>
              <a:cs typeface="Segoe UI" panose="020B0502040204020203" pitchFamily="34" charset="0"/>
            </a:endParaRPr>
          </a:p>
        </p:txBody>
      </p:sp>
      <p:sp>
        <p:nvSpPr>
          <p:cNvPr id="13" name="TextBox 12">
            <a:extLst>
              <a:ext uri="{FF2B5EF4-FFF2-40B4-BE49-F238E27FC236}">
                <a16:creationId xmlns:a16="http://schemas.microsoft.com/office/drawing/2014/main" id="{E42D84F0-2601-0183-3AAA-F1DEE2E635D2}"/>
              </a:ext>
            </a:extLst>
          </p:cNvPr>
          <p:cNvSpPr txBox="1"/>
          <p:nvPr/>
        </p:nvSpPr>
        <p:spPr>
          <a:xfrm>
            <a:off x="1071790" y="5295900"/>
            <a:ext cx="3881210" cy="553998"/>
          </a:xfrm>
          <a:prstGeom prst="rect">
            <a:avLst/>
          </a:prstGeom>
          <a:noFill/>
        </p:spPr>
        <p:txBody>
          <a:bodyPr wrap="square" rtlCol="0">
            <a:spAutoFit/>
          </a:bodyPr>
          <a:lstStyle/>
          <a:p>
            <a:pPr marL="457200" indent="-457200">
              <a:buFont typeface="Arial" panose="020B0604020202020204" pitchFamily="34" charset="0"/>
              <a:buChar char="•"/>
            </a:pPr>
            <a:r>
              <a:rPr lang="en-US" sz="3000" b="1" dirty="0">
                <a:latin typeface="Segoe UI" panose="020B0502040204020203" pitchFamily="34" charset="0"/>
                <a:cs typeface="Segoe UI" panose="020B0502040204020203" pitchFamily="34" charset="0"/>
              </a:rPr>
              <a:t>Application Layer</a:t>
            </a:r>
          </a:p>
        </p:txBody>
      </p:sp>
      <p:sp>
        <p:nvSpPr>
          <p:cNvPr id="16" name="TextBox 15">
            <a:extLst>
              <a:ext uri="{FF2B5EF4-FFF2-40B4-BE49-F238E27FC236}">
                <a16:creationId xmlns:a16="http://schemas.microsoft.com/office/drawing/2014/main" id="{07C866DA-FD8C-00C3-61CD-CCF95CC00CEF}"/>
              </a:ext>
            </a:extLst>
          </p:cNvPr>
          <p:cNvSpPr txBox="1"/>
          <p:nvPr/>
        </p:nvSpPr>
        <p:spPr>
          <a:xfrm>
            <a:off x="1644867" y="5981700"/>
            <a:ext cx="3308133" cy="1338828"/>
          </a:xfrm>
          <a:prstGeom prst="rect">
            <a:avLst/>
          </a:prstGeom>
          <a:noFill/>
        </p:spPr>
        <p:txBody>
          <a:bodyPr wrap="square" rtlCol="0">
            <a:spAutoFit/>
          </a:bodyPr>
          <a:lstStyle/>
          <a:p>
            <a:pPr marL="457200" indent="-457200">
              <a:buFont typeface="Arial" panose="020B0604020202020204" pitchFamily="34" charset="0"/>
              <a:buChar char="•"/>
            </a:pPr>
            <a:r>
              <a:rPr lang="en-US" sz="2700" dirty="0">
                <a:solidFill>
                  <a:srgbClr val="2B2B2B"/>
                </a:solidFill>
                <a:latin typeface="Segoe UI" panose="020B0502040204020203" pitchFamily="34" charset="0"/>
                <a:ea typeface="Inter"/>
                <a:cs typeface="Segoe UI" panose="020B0502040204020203" pitchFamily="34" charset="0"/>
                <a:sym typeface="Inter"/>
              </a:rPr>
              <a:t>Python</a:t>
            </a:r>
          </a:p>
          <a:p>
            <a:pPr marL="457200" indent="-457200">
              <a:buFont typeface="Arial" panose="020B0604020202020204" pitchFamily="34" charset="0"/>
              <a:buChar char="•"/>
            </a:pPr>
            <a:r>
              <a:rPr lang="en-US" sz="2700" dirty="0">
                <a:solidFill>
                  <a:srgbClr val="2B2B2B"/>
                </a:solidFill>
                <a:latin typeface="Segoe UI" panose="020B0502040204020203" pitchFamily="34" charset="0"/>
                <a:cs typeface="Segoe UI" panose="020B0502040204020203" pitchFamily="34" charset="0"/>
                <a:sym typeface="Inter"/>
              </a:rPr>
              <a:t>Scikit-Learn</a:t>
            </a:r>
          </a:p>
          <a:p>
            <a:pPr marL="457200" indent="-457200">
              <a:buFont typeface="Arial" panose="020B0604020202020204" pitchFamily="34" charset="0"/>
              <a:buChar char="•"/>
            </a:pPr>
            <a:r>
              <a:rPr lang="en-US" sz="2700" dirty="0">
                <a:solidFill>
                  <a:srgbClr val="2B2B2B"/>
                </a:solidFill>
                <a:latin typeface="Segoe UI" panose="020B0502040204020203" pitchFamily="34" charset="0"/>
                <a:cs typeface="Segoe UI" panose="020B0502040204020203" pitchFamily="34" charset="0"/>
                <a:sym typeface="Inter"/>
              </a:rPr>
              <a:t>XGBoost</a:t>
            </a:r>
            <a:endParaRPr lang="en-US" sz="2700" dirty="0">
              <a:latin typeface="Segoe UI" panose="020B0502040204020203" pitchFamily="34" charset="0"/>
              <a:cs typeface="Segoe UI" panose="020B0502040204020203" pitchFamily="34" charset="0"/>
            </a:endParaRPr>
          </a:p>
        </p:txBody>
      </p:sp>
      <p:sp>
        <p:nvSpPr>
          <p:cNvPr id="17" name="TextBox 16">
            <a:extLst>
              <a:ext uri="{FF2B5EF4-FFF2-40B4-BE49-F238E27FC236}">
                <a16:creationId xmlns:a16="http://schemas.microsoft.com/office/drawing/2014/main" id="{473BABF2-25E3-7602-386A-FDB6459DBFA3}"/>
              </a:ext>
            </a:extLst>
          </p:cNvPr>
          <p:cNvSpPr txBox="1"/>
          <p:nvPr/>
        </p:nvSpPr>
        <p:spPr>
          <a:xfrm>
            <a:off x="1094075" y="7353300"/>
            <a:ext cx="4087525" cy="553998"/>
          </a:xfrm>
          <a:prstGeom prst="rect">
            <a:avLst/>
          </a:prstGeom>
          <a:noFill/>
        </p:spPr>
        <p:txBody>
          <a:bodyPr wrap="square" rtlCol="0">
            <a:spAutoFit/>
          </a:bodyPr>
          <a:lstStyle/>
          <a:p>
            <a:pPr marL="457200" indent="-457200">
              <a:buFont typeface="Arial" panose="020B0604020202020204" pitchFamily="34" charset="0"/>
              <a:buChar char="•"/>
            </a:pPr>
            <a:r>
              <a:rPr lang="en-US" sz="3000" b="1" dirty="0">
                <a:latin typeface="Segoe UI" panose="020B0502040204020203" pitchFamily="34" charset="0"/>
                <a:cs typeface="Segoe UI" panose="020B0502040204020203" pitchFamily="34" charset="0"/>
              </a:rPr>
              <a:t>Presentation Layer</a:t>
            </a:r>
          </a:p>
        </p:txBody>
      </p:sp>
      <p:sp>
        <p:nvSpPr>
          <p:cNvPr id="18" name="TextBox 17">
            <a:extLst>
              <a:ext uri="{FF2B5EF4-FFF2-40B4-BE49-F238E27FC236}">
                <a16:creationId xmlns:a16="http://schemas.microsoft.com/office/drawing/2014/main" id="{951A2DD1-669F-0541-E921-EFC8A6BB20D8}"/>
              </a:ext>
            </a:extLst>
          </p:cNvPr>
          <p:cNvSpPr txBox="1"/>
          <p:nvPr/>
        </p:nvSpPr>
        <p:spPr>
          <a:xfrm>
            <a:off x="1606676" y="7962900"/>
            <a:ext cx="6824128" cy="1200329"/>
          </a:xfrm>
          <a:prstGeom prst="rect">
            <a:avLst/>
          </a:prstGeom>
          <a:noFill/>
        </p:spPr>
        <p:txBody>
          <a:bodyPr wrap="square" rtlCol="0">
            <a:spAutoFit/>
          </a:bodyPr>
          <a:lstStyle/>
          <a:p>
            <a:r>
              <a:rPr lang="en-US" sz="2400" dirty="0">
                <a:solidFill>
                  <a:srgbClr val="2B2B2B"/>
                </a:solidFill>
                <a:latin typeface="Segoe UI" panose="020B0502040204020203" pitchFamily="34" charset="0"/>
                <a:ea typeface="Inter"/>
                <a:cs typeface="Segoe UI" panose="020B0502040204020203" pitchFamily="34" charset="0"/>
                <a:sym typeface="Inter"/>
              </a:rPr>
              <a:t>Streamlit - Rapid, Python-based framework powering the interactive web application and user dashboard.</a:t>
            </a:r>
            <a:endParaRPr lang="en-US" sz="2400" dirty="0">
              <a:latin typeface="Segoe UI" panose="020B0502040204020203" pitchFamily="34" charset="0"/>
              <a:cs typeface="Segoe UI" panose="020B0502040204020203" pitchFamily="34" charset="0"/>
            </a:endParaRPr>
          </a:p>
        </p:txBody>
      </p:sp>
      <p:sp>
        <p:nvSpPr>
          <p:cNvPr id="19" name="Freeform 8">
            <a:extLst>
              <a:ext uri="{FF2B5EF4-FFF2-40B4-BE49-F238E27FC236}">
                <a16:creationId xmlns:a16="http://schemas.microsoft.com/office/drawing/2014/main" id="{D73F985B-893C-2EEE-953C-983655BD43A6}"/>
              </a:ext>
            </a:extLst>
          </p:cNvPr>
          <p:cNvSpPr/>
          <p:nvPr/>
        </p:nvSpPr>
        <p:spPr>
          <a:xfrm>
            <a:off x="8736598" y="3772451"/>
            <a:ext cx="8865602" cy="1839612"/>
          </a:xfrm>
          <a:custGeom>
            <a:avLst/>
            <a:gdLst/>
            <a:ahLst/>
            <a:cxnLst/>
            <a:rect l="l" t="t" r="r" b="b"/>
            <a:pathLst>
              <a:path w="8865602" h="1839612">
                <a:moveTo>
                  <a:pt x="0" y="0"/>
                </a:moveTo>
                <a:lnTo>
                  <a:pt x="8865602" y="0"/>
                </a:lnTo>
                <a:lnTo>
                  <a:pt x="8865602" y="1839613"/>
                </a:lnTo>
                <a:lnTo>
                  <a:pt x="0" y="18396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20" name="Group 19">
            <a:extLst>
              <a:ext uri="{FF2B5EF4-FFF2-40B4-BE49-F238E27FC236}">
                <a16:creationId xmlns:a16="http://schemas.microsoft.com/office/drawing/2014/main" id="{5776E60F-38D0-6947-62FA-FEB2A3D7BB25}"/>
              </a:ext>
            </a:extLst>
          </p:cNvPr>
          <p:cNvGrpSpPr/>
          <p:nvPr/>
        </p:nvGrpSpPr>
        <p:grpSpPr>
          <a:xfrm>
            <a:off x="8133763" y="6343550"/>
            <a:ext cx="2195475" cy="1698842"/>
            <a:chOff x="0" y="-19050"/>
            <a:chExt cx="837325" cy="647916"/>
          </a:xfrm>
        </p:grpSpPr>
        <p:sp>
          <p:nvSpPr>
            <p:cNvPr id="75" name="Freeform 10">
              <a:extLst>
                <a:ext uri="{FF2B5EF4-FFF2-40B4-BE49-F238E27FC236}">
                  <a16:creationId xmlns:a16="http://schemas.microsoft.com/office/drawing/2014/main" id="{49507D3B-27E1-509A-3E51-B9825DB1755D}"/>
                </a:ext>
              </a:extLst>
            </p:cNvPr>
            <p:cNvSpPr/>
            <p:nvPr/>
          </p:nvSpPr>
          <p:spPr>
            <a:xfrm>
              <a:off x="0" y="0"/>
              <a:ext cx="837325" cy="628866"/>
            </a:xfrm>
            <a:custGeom>
              <a:avLst/>
              <a:gdLst/>
              <a:ahLst/>
              <a:cxnLst/>
              <a:rect l="l" t="t" r="r" b="b"/>
              <a:pathLst>
                <a:path w="837325" h="628866">
                  <a:moveTo>
                    <a:pt x="91684" y="0"/>
                  </a:moveTo>
                  <a:lnTo>
                    <a:pt x="745641" y="0"/>
                  </a:lnTo>
                  <a:cubicBezTo>
                    <a:pt x="796276" y="0"/>
                    <a:pt x="837325" y="41048"/>
                    <a:pt x="837325" y="91684"/>
                  </a:cubicBezTo>
                  <a:lnTo>
                    <a:pt x="837325" y="537182"/>
                  </a:lnTo>
                  <a:cubicBezTo>
                    <a:pt x="837325" y="587817"/>
                    <a:pt x="796276" y="628866"/>
                    <a:pt x="745641" y="628866"/>
                  </a:cubicBezTo>
                  <a:lnTo>
                    <a:pt x="91684" y="628866"/>
                  </a:lnTo>
                  <a:cubicBezTo>
                    <a:pt x="41048" y="628866"/>
                    <a:pt x="0" y="587817"/>
                    <a:pt x="0" y="537182"/>
                  </a:cubicBezTo>
                  <a:lnTo>
                    <a:pt x="0" y="91684"/>
                  </a:lnTo>
                  <a:cubicBezTo>
                    <a:pt x="0" y="41048"/>
                    <a:pt x="41048" y="0"/>
                    <a:pt x="91684" y="0"/>
                  </a:cubicBezTo>
                  <a:close/>
                </a:path>
              </a:pathLst>
            </a:custGeom>
            <a:solidFill>
              <a:srgbClr val="FFFFFF"/>
            </a:solidFill>
          </p:spPr>
          <p:txBody>
            <a:bodyPr/>
            <a:lstStyle/>
            <a:p>
              <a:endParaRPr lang="en-US"/>
            </a:p>
          </p:txBody>
        </p:sp>
        <p:sp>
          <p:nvSpPr>
            <p:cNvPr id="76" name="TextBox 11">
              <a:extLst>
                <a:ext uri="{FF2B5EF4-FFF2-40B4-BE49-F238E27FC236}">
                  <a16:creationId xmlns:a16="http://schemas.microsoft.com/office/drawing/2014/main" id="{6207B1B7-E2A5-BCFE-3E73-6015AADF11C8}"/>
                </a:ext>
              </a:extLst>
            </p:cNvPr>
            <p:cNvSpPr txBox="1"/>
            <p:nvPr/>
          </p:nvSpPr>
          <p:spPr>
            <a:xfrm>
              <a:off x="0" y="-19050"/>
              <a:ext cx="837325" cy="64791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1" name="Group 20">
            <a:extLst>
              <a:ext uri="{FF2B5EF4-FFF2-40B4-BE49-F238E27FC236}">
                <a16:creationId xmlns:a16="http://schemas.microsoft.com/office/drawing/2014/main" id="{C1A5826C-1965-5793-E0CE-13C2AFD3B43C}"/>
              </a:ext>
            </a:extLst>
          </p:cNvPr>
          <p:cNvGrpSpPr/>
          <p:nvPr/>
        </p:nvGrpSpPr>
        <p:grpSpPr>
          <a:xfrm>
            <a:off x="9053286" y="6302125"/>
            <a:ext cx="372837" cy="372837"/>
            <a:chOff x="0" y="0"/>
            <a:chExt cx="812800" cy="812800"/>
          </a:xfrm>
        </p:grpSpPr>
        <p:sp>
          <p:nvSpPr>
            <p:cNvPr id="73" name="Freeform 13">
              <a:extLst>
                <a:ext uri="{FF2B5EF4-FFF2-40B4-BE49-F238E27FC236}">
                  <a16:creationId xmlns:a16="http://schemas.microsoft.com/office/drawing/2014/main" id="{FC426B35-2462-006C-FD02-ED42A628A3F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2A4B4"/>
            </a:solidFill>
          </p:spPr>
          <p:txBody>
            <a:bodyPr/>
            <a:lstStyle/>
            <a:p>
              <a:endParaRPr lang="en-US"/>
            </a:p>
          </p:txBody>
        </p:sp>
        <p:sp>
          <p:nvSpPr>
            <p:cNvPr id="74" name="TextBox 14">
              <a:extLst>
                <a:ext uri="{FF2B5EF4-FFF2-40B4-BE49-F238E27FC236}">
                  <a16:creationId xmlns:a16="http://schemas.microsoft.com/office/drawing/2014/main" id="{079ECA18-A28A-D745-53BF-33FEFB7DAFF5}"/>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2" name="Group 21">
            <a:extLst>
              <a:ext uri="{FF2B5EF4-FFF2-40B4-BE49-F238E27FC236}">
                <a16:creationId xmlns:a16="http://schemas.microsoft.com/office/drawing/2014/main" id="{D71F6700-D676-0E26-3BC8-69BCDCD9D766}"/>
              </a:ext>
            </a:extLst>
          </p:cNvPr>
          <p:cNvGrpSpPr/>
          <p:nvPr/>
        </p:nvGrpSpPr>
        <p:grpSpPr>
          <a:xfrm>
            <a:off x="9521374" y="6313917"/>
            <a:ext cx="570047" cy="109214"/>
            <a:chOff x="0" y="-19050"/>
            <a:chExt cx="217408" cy="41653"/>
          </a:xfrm>
        </p:grpSpPr>
        <p:sp>
          <p:nvSpPr>
            <p:cNvPr id="71" name="Freeform 16">
              <a:extLst>
                <a:ext uri="{FF2B5EF4-FFF2-40B4-BE49-F238E27FC236}">
                  <a16:creationId xmlns:a16="http://schemas.microsoft.com/office/drawing/2014/main" id="{CF49CF27-7157-12F7-23D1-26A116698323}"/>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42A4B4"/>
            </a:solidFill>
          </p:spPr>
          <p:txBody>
            <a:bodyPr/>
            <a:lstStyle/>
            <a:p>
              <a:endParaRPr lang="en-US"/>
            </a:p>
          </p:txBody>
        </p:sp>
        <p:sp>
          <p:nvSpPr>
            <p:cNvPr id="72" name="TextBox 17">
              <a:extLst>
                <a:ext uri="{FF2B5EF4-FFF2-40B4-BE49-F238E27FC236}">
                  <a16:creationId xmlns:a16="http://schemas.microsoft.com/office/drawing/2014/main" id="{BDEB914E-1642-DF6A-D440-EE388D6BB870}"/>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3" name="Group 22">
            <a:extLst>
              <a:ext uri="{FF2B5EF4-FFF2-40B4-BE49-F238E27FC236}">
                <a16:creationId xmlns:a16="http://schemas.microsoft.com/office/drawing/2014/main" id="{2CEC5240-34DD-4D3A-7F93-D1D87019E92C}"/>
              </a:ext>
            </a:extLst>
          </p:cNvPr>
          <p:cNvGrpSpPr/>
          <p:nvPr/>
        </p:nvGrpSpPr>
        <p:grpSpPr>
          <a:xfrm>
            <a:off x="10735861" y="6343550"/>
            <a:ext cx="2280602" cy="1698842"/>
            <a:chOff x="0" y="-19050"/>
            <a:chExt cx="837325" cy="647916"/>
          </a:xfrm>
        </p:grpSpPr>
        <p:sp>
          <p:nvSpPr>
            <p:cNvPr id="69" name="Freeform 19">
              <a:extLst>
                <a:ext uri="{FF2B5EF4-FFF2-40B4-BE49-F238E27FC236}">
                  <a16:creationId xmlns:a16="http://schemas.microsoft.com/office/drawing/2014/main" id="{39D6C8B4-6C0D-129C-272D-AB1DC1AD5A3C}"/>
                </a:ext>
              </a:extLst>
            </p:cNvPr>
            <p:cNvSpPr/>
            <p:nvPr/>
          </p:nvSpPr>
          <p:spPr>
            <a:xfrm>
              <a:off x="0" y="0"/>
              <a:ext cx="837325" cy="628866"/>
            </a:xfrm>
            <a:custGeom>
              <a:avLst/>
              <a:gdLst/>
              <a:ahLst/>
              <a:cxnLst/>
              <a:rect l="l" t="t" r="r" b="b"/>
              <a:pathLst>
                <a:path w="837325" h="628866">
                  <a:moveTo>
                    <a:pt x="91684" y="0"/>
                  </a:moveTo>
                  <a:lnTo>
                    <a:pt x="745641" y="0"/>
                  </a:lnTo>
                  <a:cubicBezTo>
                    <a:pt x="796276" y="0"/>
                    <a:pt x="837325" y="41048"/>
                    <a:pt x="837325" y="91684"/>
                  </a:cubicBezTo>
                  <a:lnTo>
                    <a:pt x="837325" y="537182"/>
                  </a:lnTo>
                  <a:cubicBezTo>
                    <a:pt x="837325" y="587817"/>
                    <a:pt x="796276" y="628866"/>
                    <a:pt x="745641" y="628866"/>
                  </a:cubicBezTo>
                  <a:lnTo>
                    <a:pt x="91684" y="628866"/>
                  </a:lnTo>
                  <a:cubicBezTo>
                    <a:pt x="41048" y="628866"/>
                    <a:pt x="0" y="587817"/>
                    <a:pt x="0" y="537182"/>
                  </a:cubicBezTo>
                  <a:lnTo>
                    <a:pt x="0" y="91684"/>
                  </a:lnTo>
                  <a:cubicBezTo>
                    <a:pt x="0" y="41048"/>
                    <a:pt x="41048" y="0"/>
                    <a:pt x="91684" y="0"/>
                  </a:cubicBezTo>
                  <a:close/>
                </a:path>
              </a:pathLst>
            </a:custGeom>
            <a:solidFill>
              <a:srgbClr val="FFFFFF"/>
            </a:solidFill>
          </p:spPr>
          <p:txBody>
            <a:bodyPr/>
            <a:lstStyle/>
            <a:p>
              <a:endParaRPr lang="en-US"/>
            </a:p>
          </p:txBody>
        </p:sp>
        <p:sp>
          <p:nvSpPr>
            <p:cNvPr id="70" name="TextBox 20">
              <a:extLst>
                <a:ext uri="{FF2B5EF4-FFF2-40B4-BE49-F238E27FC236}">
                  <a16:creationId xmlns:a16="http://schemas.microsoft.com/office/drawing/2014/main" id="{EFF9F81E-6260-0C31-1A0C-0964C636982E}"/>
                </a:ext>
              </a:extLst>
            </p:cNvPr>
            <p:cNvSpPr txBox="1"/>
            <p:nvPr/>
          </p:nvSpPr>
          <p:spPr>
            <a:xfrm>
              <a:off x="0" y="-19050"/>
              <a:ext cx="837325" cy="64791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4" name="Group 23">
            <a:extLst>
              <a:ext uri="{FF2B5EF4-FFF2-40B4-BE49-F238E27FC236}">
                <a16:creationId xmlns:a16="http://schemas.microsoft.com/office/drawing/2014/main" id="{9674D3D9-B6B5-165F-3934-168941C16AA5}"/>
              </a:ext>
            </a:extLst>
          </p:cNvPr>
          <p:cNvGrpSpPr/>
          <p:nvPr/>
        </p:nvGrpSpPr>
        <p:grpSpPr>
          <a:xfrm>
            <a:off x="11644846" y="6202290"/>
            <a:ext cx="382417" cy="382417"/>
            <a:chOff x="0" y="0"/>
            <a:chExt cx="812800" cy="812800"/>
          </a:xfrm>
        </p:grpSpPr>
        <p:sp>
          <p:nvSpPr>
            <p:cNvPr id="67" name="Freeform 22">
              <a:extLst>
                <a:ext uri="{FF2B5EF4-FFF2-40B4-BE49-F238E27FC236}">
                  <a16:creationId xmlns:a16="http://schemas.microsoft.com/office/drawing/2014/main" id="{29028DCE-94B8-7E7F-2333-BEF79AC46B2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E043"/>
            </a:solidFill>
          </p:spPr>
          <p:txBody>
            <a:bodyPr/>
            <a:lstStyle/>
            <a:p>
              <a:endParaRPr lang="en-US"/>
            </a:p>
          </p:txBody>
        </p:sp>
        <p:sp>
          <p:nvSpPr>
            <p:cNvPr id="68" name="TextBox 23">
              <a:extLst>
                <a:ext uri="{FF2B5EF4-FFF2-40B4-BE49-F238E27FC236}">
                  <a16:creationId xmlns:a16="http://schemas.microsoft.com/office/drawing/2014/main" id="{770ADB65-40E4-B3A5-8958-707B97D86BC5}"/>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5" name="Group 24">
            <a:extLst>
              <a:ext uri="{FF2B5EF4-FFF2-40B4-BE49-F238E27FC236}">
                <a16:creationId xmlns:a16="http://schemas.microsoft.com/office/drawing/2014/main" id="{E458CB19-311D-3D73-2EC1-BCA248EC760E}"/>
              </a:ext>
            </a:extLst>
          </p:cNvPr>
          <p:cNvGrpSpPr/>
          <p:nvPr/>
        </p:nvGrpSpPr>
        <p:grpSpPr>
          <a:xfrm>
            <a:off x="10973678" y="6313917"/>
            <a:ext cx="570047" cy="109214"/>
            <a:chOff x="0" y="-19050"/>
            <a:chExt cx="217408" cy="41653"/>
          </a:xfrm>
        </p:grpSpPr>
        <p:sp>
          <p:nvSpPr>
            <p:cNvPr id="65" name="Freeform 25">
              <a:extLst>
                <a:ext uri="{FF2B5EF4-FFF2-40B4-BE49-F238E27FC236}">
                  <a16:creationId xmlns:a16="http://schemas.microsoft.com/office/drawing/2014/main" id="{0648E27B-EBBA-9CF7-39BA-3FD184B95F99}"/>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8AE043"/>
            </a:solidFill>
          </p:spPr>
          <p:txBody>
            <a:bodyPr/>
            <a:lstStyle/>
            <a:p>
              <a:endParaRPr lang="en-US"/>
            </a:p>
          </p:txBody>
        </p:sp>
        <p:sp>
          <p:nvSpPr>
            <p:cNvPr id="66" name="TextBox 26">
              <a:extLst>
                <a:ext uri="{FF2B5EF4-FFF2-40B4-BE49-F238E27FC236}">
                  <a16:creationId xmlns:a16="http://schemas.microsoft.com/office/drawing/2014/main" id="{7C2FFA6D-97D8-F9AF-4152-9567F6F755BC}"/>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6" name="Group 25">
            <a:extLst>
              <a:ext uri="{FF2B5EF4-FFF2-40B4-BE49-F238E27FC236}">
                <a16:creationId xmlns:a16="http://schemas.microsoft.com/office/drawing/2014/main" id="{C0A9BCFA-0444-8DB2-3C82-8A31EC3A45F3}"/>
              </a:ext>
            </a:extLst>
          </p:cNvPr>
          <p:cNvGrpSpPr/>
          <p:nvPr/>
        </p:nvGrpSpPr>
        <p:grpSpPr>
          <a:xfrm>
            <a:off x="12288729" y="6323831"/>
            <a:ext cx="570047" cy="109214"/>
            <a:chOff x="0" y="-19050"/>
            <a:chExt cx="217408" cy="41653"/>
          </a:xfrm>
        </p:grpSpPr>
        <p:sp>
          <p:nvSpPr>
            <p:cNvPr id="63" name="Freeform 28">
              <a:extLst>
                <a:ext uri="{FF2B5EF4-FFF2-40B4-BE49-F238E27FC236}">
                  <a16:creationId xmlns:a16="http://schemas.microsoft.com/office/drawing/2014/main" id="{8CE484EE-2DA1-BA37-23AE-1BF6113BAA41}"/>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8AE043"/>
            </a:solidFill>
          </p:spPr>
          <p:txBody>
            <a:bodyPr/>
            <a:lstStyle/>
            <a:p>
              <a:endParaRPr lang="en-US"/>
            </a:p>
          </p:txBody>
        </p:sp>
        <p:sp>
          <p:nvSpPr>
            <p:cNvPr id="64" name="TextBox 29">
              <a:extLst>
                <a:ext uri="{FF2B5EF4-FFF2-40B4-BE49-F238E27FC236}">
                  <a16:creationId xmlns:a16="http://schemas.microsoft.com/office/drawing/2014/main" id="{8D055B3E-6EC6-A27D-666A-AD81452D64B7}"/>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7" name="Group 26">
            <a:extLst>
              <a:ext uri="{FF2B5EF4-FFF2-40B4-BE49-F238E27FC236}">
                <a16:creationId xmlns:a16="http://schemas.microsoft.com/office/drawing/2014/main" id="{DB4D359C-15B8-1F90-E255-348ECADB67E1}"/>
              </a:ext>
            </a:extLst>
          </p:cNvPr>
          <p:cNvGrpSpPr/>
          <p:nvPr/>
        </p:nvGrpSpPr>
        <p:grpSpPr>
          <a:xfrm>
            <a:off x="13366392" y="6396880"/>
            <a:ext cx="2195475" cy="1698842"/>
            <a:chOff x="0" y="-19050"/>
            <a:chExt cx="837325" cy="647916"/>
          </a:xfrm>
        </p:grpSpPr>
        <p:sp>
          <p:nvSpPr>
            <p:cNvPr id="61" name="Freeform 31">
              <a:extLst>
                <a:ext uri="{FF2B5EF4-FFF2-40B4-BE49-F238E27FC236}">
                  <a16:creationId xmlns:a16="http://schemas.microsoft.com/office/drawing/2014/main" id="{6087C995-1418-8085-93C3-3AED32DC2D2A}"/>
                </a:ext>
              </a:extLst>
            </p:cNvPr>
            <p:cNvSpPr/>
            <p:nvPr/>
          </p:nvSpPr>
          <p:spPr>
            <a:xfrm>
              <a:off x="0" y="0"/>
              <a:ext cx="837325" cy="628866"/>
            </a:xfrm>
            <a:custGeom>
              <a:avLst/>
              <a:gdLst/>
              <a:ahLst/>
              <a:cxnLst/>
              <a:rect l="l" t="t" r="r" b="b"/>
              <a:pathLst>
                <a:path w="837325" h="628866">
                  <a:moveTo>
                    <a:pt x="91684" y="0"/>
                  </a:moveTo>
                  <a:lnTo>
                    <a:pt x="745641" y="0"/>
                  </a:lnTo>
                  <a:cubicBezTo>
                    <a:pt x="796276" y="0"/>
                    <a:pt x="837325" y="41048"/>
                    <a:pt x="837325" y="91684"/>
                  </a:cubicBezTo>
                  <a:lnTo>
                    <a:pt x="837325" y="537182"/>
                  </a:lnTo>
                  <a:cubicBezTo>
                    <a:pt x="837325" y="587817"/>
                    <a:pt x="796276" y="628866"/>
                    <a:pt x="745641" y="628866"/>
                  </a:cubicBezTo>
                  <a:lnTo>
                    <a:pt x="91684" y="628866"/>
                  </a:lnTo>
                  <a:cubicBezTo>
                    <a:pt x="41048" y="628866"/>
                    <a:pt x="0" y="587817"/>
                    <a:pt x="0" y="537182"/>
                  </a:cubicBezTo>
                  <a:lnTo>
                    <a:pt x="0" y="91684"/>
                  </a:lnTo>
                  <a:cubicBezTo>
                    <a:pt x="0" y="41048"/>
                    <a:pt x="41048" y="0"/>
                    <a:pt x="91684" y="0"/>
                  </a:cubicBezTo>
                  <a:close/>
                </a:path>
              </a:pathLst>
            </a:custGeom>
            <a:solidFill>
              <a:srgbClr val="FFFFFF"/>
            </a:solidFill>
          </p:spPr>
          <p:txBody>
            <a:bodyPr/>
            <a:lstStyle/>
            <a:p>
              <a:endParaRPr lang="en-US"/>
            </a:p>
          </p:txBody>
        </p:sp>
        <p:sp>
          <p:nvSpPr>
            <p:cNvPr id="62" name="TextBox 32">
              <a:extLst>
                <a:ext uri="{FF2B5EF4-FFF2-40B4-BE49-F238E27FC236}">
                  <a16:creationId xmlns:a16="http://schemas.microsoft.com/office/drawing/2014/main" id="{CA3F3D62-B506-AB21-2A94-17200B471C3C}"/>
                </a:ext>
              </a:extLst>
            </p:cNvPr>
            <p:cNvSpPr txBox="1"/>
            <p:nvPr/>
          </p:nvSpPr>
          <p:spPr>
            <a:xfrm>
              <a:off x="0" y="-19050"/>
              <a:ext cx="837325" cy="64791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8" name="Group 27">
            <a:extLst>
              <a:ext uri="{FF2B5EF4-FFF2-40B4-BE49-F238E27FC236}">
                <a16:creationId xmlns:a16="http://schemas.microsoft.com/office/drawing/2014/main" id="{E4599F96-B87B-4F31-3DAC-55E69A3D08C9}"/>
              </a:ext>
            </a:extLst>
          </p:cNvPr>
          <p:cNvGrpSpPr/>
          <p:nvPr/>
        </p:nvGrpSpPr>
        <p:grpSpPr>
          <a:xfrm>
            <a:off x="14249400" y="6202290"/>
            <a:ext cx="382417" cy="382417"/>
            <a:chOff x="0" y="0"/>
            <a:chExt cx="812800" cy="812800"/>
          </a:xfrm>
        </p:grpSpPr>
        <p:sp>
          <p:nvSpPr>
            <p:cNvPr id="59" name="Freeform 34">
              <a:extLst>
                <a:ext uri="{FF2B5EF4-FFF2-40B4-BE49-F238E27FC236}">
                  <a16:creationId xmlns:a16="http://schemas.microsoft.com/office/drawing/2014/main" id="{8E7FC669-AB5C-477E-A24C-2FAE35E61FC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2A4B4"/>
            </a:solidFill>
          </p:spPr>
          <p:txBody>
            <a:bodyPr/>
            <a:lstStyle/>
            <a:p>
              <a:endParaRPr lang="en-US"/>
            </a:p>
          </p:txBody>
        </p:sp>
        <p:sp>
          <p:nvSpPr>
            <p:cNvPr id="60" name="TextBox 35">
              <a:extLst>
                <a:ext uri="{FF2B5EF4-FFF2-40B4-BE49-F238E27FC236}">
                  <a16:creationId xmlns:a16="http://schemas.microsoft.com/office/drawing/2014/main" id="{61988B3E-C048-7CCC-44FF-54015B713F43}"/>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29" name="Group 28">
            <a:extLst>
              <a:ext uri="{FF2B5EF4-FFF2-40B4-BE49-F238E27FC236}">
                <a16:creationId xmlns:a16="http://schemas.microsoft.com/office/drawing/2014/main" id="{596F3790-A88B-8729-9D7F-2957734281E7}"/>
              </a:ext>
            </a:extLst>
          </p:cNvPr>
          <p:cNvGrpSpPr/>
          <p:nvPr/>
        </p:nvGrpSpPr>
        <p:grpSpPr>
          <a:xfrm>
            <a:off x="13578232" y="6313917"/>
            <a:ext cx="570047" cy="109214"/>
            <a:chOff x="0" y="-19050"/>
            <a:chExt cx="217408" cy="41653"/>
          </a:xfrm>
        </p:grpSpPr>
        <p:sp>
          <p:nvSpPr>
            <p:cNvPr id="57" name="Freeform 37">
              <a:extLst>
                <a:ext uri="{FF2B5EF4-FFF2-40B4-BE49-F238E27FC236}">
                  <a16:creationId xmlns:a16="http://schemas.microsoft.com/office/drawing/2014/main" id="{DDD3FFFB-EFF1-4CAE-7C08-EA9BB72E4C55}"/>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42A4B4"/>
            </a:solidFill>
          </p:spPr>
          <p:txBody>
            <a:bodyPr/>
            <a:lstStyle/>
            <a:p>
              <a:endParaRPr lang="en-US"/>
            </a:p>
          </p:txBody>
        </p:sp>
        <p:sp>
          <p:nvSpPr>
            <p:cNvPr id="58" name="TextBox 38">
              <a:extLst>
                <a:ext uri="{FF2B5EF4-FFF2-40B4-BE49-F238E27FC236}">
                  <a16:creationId xmlns:a16="http://schemas.microsoft.com/office/drawing/2014/main" id="{8310CEDB-DA93-4B24-3659-21F8CB23F5DA}"/>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30" name="Group 29">
            <a:extLst>
              <a:ext uri="{FF2B5EF4-FFF2-40B4-BE49-F238E27FC236}">
                <a16:creationId xmlns:a16="http://schemas.microsoft.com/office/drawing/2014/main" id="{76CA7787-3163-E0AB-62E3-C91A65234EDA}"/>
              </a:ext>
            </a:extLst>
          </p:cNvPr>
          <p:cNvGrpSpPr/>
          <p:nvPr/>
        </p:nvGrpSpPr>
        <p:grpSpPr>
          <a:xfrm>
            <a:off x="14730482" y="6313917"/>
            <a:ext cx="570047" cy="109214"/>
            <a:chOff x="0" y="-19050"/>
            <a:chExt cx="217408" cy="41653"/>
          </a:xfrm>
        </p:grpSpPr>
        <p:sp>
          <p:nvSpPr>
            <p:cNvPr id="55" name="Freeform 40">
              <a:extLst>
                <a:ext uri="{FF2B5EF4-FFF2-40B4-BE49-F238E27FC236}">
                  <a16:creationId xmlns:a16="http://schemas.microsoft.com/office/drawing/2014/main" id="{0A96B7DE-08C9-57B3-53AC-6C6E875A6858}"/>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42A4B4"/>
            </a:solidFill>
          </p:spPr>
          <p:txBody>
            <a:bodyPr/>
            <a:lstStyle/>
            <a:p>
              <a:endParaRPr lang="en-US"/>
            </a:p>
          </p:txBody>
        </p:sp>
        <p:sp>
          <p:nvSpPr>
            <p:cNvPr id="56" name="TextBox 41">
              <a:extLst>
                <a:ext uri="{FF2B5EF4-FFF2-40B4-BE49-F238E27FC236}">
                  <a16:creationId xmlns:a16="http://schemas.microsoft.com/office/drawing/2014/main" id="{940D19A4-5563-CEBA-9DCE-51DA17DEFB5F}"/>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31" name="Group 30">
            <a:extLst>
              <a:ext uri="{FF2B5EF4-FFF2-40B4-BE49-F238E27FC236}">
                <a16:creationId xmlns:a16="http://schemas.microsoft.com/office/drawing/2014/main" id="{5A219B88-5B00-49C4-6920-1F286418200A}"/>
              </a:ext>
            </a:extLst>
          </p:cNvPr>
          <p:cNvGrpSpPr/>
          <p:nvPr/>
        </p:nvGrpSpPr>
        <p:grpSpPr>
          <a:xfrm>
            <a:off x="15947425" y="6343550"/>
            <a:ext cx="2195475" cy="1698842"/>
            <a:chOff x="0" y="-19050"/>
            <a:chExt cx="837325" cy="647916"/>
          </a:xfrm>
        </p:grpSpPr>
        <p:sp>
          <p:nvSpPr>
            <p:cNvPr id="53" name="Freeform 43">
              <a:extLst>
                <a:ext uri="{FF2B5EF4-FFF2-40B4-BE49-F238E27FC236}">
                  <a16:creationId xmlns:a16="http://schemas.microsoft.com/office/drawing/2014/main" id="{3E42626C-1029-C1CC-EFC9-7725624C0B18}"/>
                </a:ext>
              </a:extLst>
            </p:cNvPr>
            <p:cNvSpPr/>
            <p:nvPr/>
          </p:nvSpPr>
          <p:spPr>
            <a:xfrm>
              <a:off x="0" y="0"/>
              <a:ext cx="837325" cy="628866"/>
            </a:xfrm>
            <a:custGeom>
              <a:avLst/>
              <a:gdLst/>
              <a:ahLst/>
              <a:cxnLst/>
              <a:rect l="l" t="t" r="r" b="b"/>
              <a:pathLst>
                <a:path w="837325" h="628866">
                  <a:moveTo>
                    <a:pt x="91684" y="0"/>
                  </a:moveTo>
                  <a:lnTo>
                    <a:pt x="745641" y="0"/>
                  </a:lnTo>
                  <a:cubicBezTo>
                    <a:pt x="796276" y="0"/>
                    <a:pt x="837325" y="41048"/>
                    <a:pt x="837325" y="91684"/>
                  </a:cubicBezTo>
                  <a:lnTo>
                    <a:pt x="837325" y="537182"/>
                  </a:lnTo>
                  <a:cubicBezTo>
                    <a:pt x="837325" y="587817"/>
                    <a:pt x="796276" y="628866"/>
                    <a:pt x="745641" y="628866"/>
                  </a:cubicBezTo>
                  <a:lnTo>
                    <a:pt x="91684" y="628866"/>
                  </a:lnTo>
                  <a:cubicBezTo>
                    <a:pt x="41048" y="628866"/>
                    <a:pt x="0" y="587817"/>
                    <a:pt x="0" y="537182"/>
                  </a:cubicBezTo>
                  <a:lnTo>
                    <a:pt x="0" y="91684"/>
                  </a:lnTo>
                  <a:cubicBezTo>
                    <a:pt x="0" y="41048"/>
                    <a:pt x="41048" y="0"/>
                    <a:pt x="91684" y="0"/>
                  </a:cubicBezTo>
                  <a:close/>
                </a:path>
              </a:pathLst>
            </a:custGeom>
            <a:solidFill>
              <a:srgbClr val="FFFFFF"/>
            </a:solidFill>
          </p:spPr>
          <p:txBody>
            <a:bodyPr/>
            <a:lstStyle/>
            <a:p>
              <a:endParaRPr lang="en-US"/>
            </a:p>
          </p:txBody>
        </p:sp>
        <p:sp>
          <p:nvSpPr>
            <p:cNvPr id="54" name="TextBox 44">
              <a:extLst>
                <a:ext uri="{FF2B5EF4-FFF2-40B4-BE49-F238E27FC236}">
                  <a16:creationId xmlns:a16="http://schemas.microsoft.com/office/drawing/2014/main" id="{2A9F2624-55FC-923E-5BD9-F2F479DC9192}"/>
                </a:ext>
              </a:extLst>
            </p:cNvPr>
            <p:cNvSpPr txBox="1"/>
            <p:nvPr/>
          </p:nvSpPr>
          <p:spPr>
            <a:xfrm>
              <a:off x="0" y="-19050"/>
              <a:ext cx="837325" cy="647916"/>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32" name="Group 31">
            <a:extLst>
              <a:ext uri="{FF2B5EF4-FFF2-40B4-BE49-F238E27FC236}">
                <a16:creationId xmlns:a16="http://schemas.microsoft.com/office/drawing/2014/main" id="{843FC1DC-56B8-F8A5-5C99-51D82ED7A407}"/>
              </a:ext>
            </a:extLst>
          </p:cNvPr>
          <p:cNvGrpSpPr/>
          <p:nvPr/>
        </p:nvGrpSpPr>
        <p:grpSpPr>
          <a:xfrm>
            <a:off x="16853954" y="6202290"/>
            <a:ext cx="382417" cy="382417"/>
            <a:chOff x="0" y="0"/>
            <a:chExt cx="812800" cy="812800"/>
          </a:xfrm>
        </p:grpSpPr>
        <p:sp>
          <p:nvSpPr>
            <p:cNvPr id="51" name="Freeform 46">
              <a:extLst>
                <a:ext uri="{FF2B5EF4-FFF2-40B4-BE49-F238E27FC236}">
                  <a16:creationId xmlns:a16="http://schemas.microsoft.com/office/drawing/2014/main" id="{A6F75599-604F-23C8-1A2C-993809373C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E043"/>
            </a:solidFill>
          </p:spPr>
          <p:txBody>
            <a:bodyPr/>
            <a:lstStyle/>
            <a:p>
              <a:endParaRPr lang="en-US"/>
            </a:p>
          </p:txBody>
        </p:sp>
        <p:sp>
          <p:nvSpPr>
            <p:cNvPr id="52" name="TextBox 47">
              <a:extLst>
                <a:ext uri="{FF2B5EF4-FFF2-40B4-BE49-F238E27FC236}">
                  <a16:creationId xmlns:a16="http://schemas.microsoft.com/office/drawing/2014/main" id="{F1A2A202-16E7-53BC-D0B7-1819831896F3}"/>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33" name="Group 32">
            <a:extLst>
              <a:ext uri="{FF2B5EF4-FFF2-40B4-BE49-F238E27FC236}">
                <a16:creationId xmlns:a16="http://schemas.microsoft.com/office/drawing/2014/main" id="{29B7D245-C82C-055C-5BCB-3B70AA3BCE83}"/>
              </a:ext>
            </a:extLst>
          </p:cNvPr>
          <p:cNvGrpSpPr/>
          <p:nvPr/>
        </p:nvGrpSpPr>
        <p:grpSpPr>
          <a:xfrm>
            <a:off x="16182786" y="6313917"/>
            <a:ext cx="570047" cy="109214"/>
            <a:chOff x="0" y="-19050"/>
            <a:chExt cx="217408" cy="41653"/>
          </a:xfrm>
        </p:grpSpPr>
        <p:sp>
          <p:nvSpPr>
            <p:cNvPr id="49" name="Freeform 49">
              <a:extLst>
                <a:ext uri="{FF2B5EF4-FFF2-40B4-BE49-F238E27FC236}">
                  <a16:creationId xmlns:a16="http://schemas.microsoft.com/office/drawing/2014/main" id="{02782BC6-0B94-BEB0-60B8-71B2032F7A77}"/>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8AE043"/>
            </a:solidFill>
          </p:spPr>
          <p:txBody>
            <a:bodyPr/>
            <a:lstStyle/>
            <a:p>
              <a:endParaRPr lang="en-US"/>
            </a:p>
          </p:txBody>
        </p:sp>
        <p:sp>
          <p:nvSpPr>
            <p:cNvPr id="50" name="TextBox 50">
              <a:extLst>
                <a:ext uri="{FF2B5EF4-FFF2-40B4-BE49-F238E27FC236}">
                  <a16:creationId xmlns:a16="http://schemas.microsoft.com/office/drawing/2014/main" id="{D925A839-1BC1-2BD5-11FC-2C38E54A4A10}"/>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grpSp>
        <p:nvGrpSpPr>
          <p:cNvPr id="34" name="Group 33">
            <a:extLst>
              <a:ext uri="{FF2B5EF4-FFF2-40B4-BE49-F238E27FC236}">
                <a16:creationId xmlns:a16="http://schemas.microsoft.com/office/drawing/2014/main" id="{9C39003D-E888-5D5B-14AC-AE16D1D66591}"/>
              </a:ext>
            </a:extLst>
          </p:cNvPr>
          <p:cNvGrpSpPr/>
          <p:nvPr/>
        </p:nvGrpSpPr>
        <p:grpSpPr>
          <a:xfrm>
            <a:off x="17341146" y="6311260"/>
            <a:ext cx="583921" cy="111871"/>
            <a:chOff x="0" y="-19050"/>
            <a:chExt cx="217408" cy="41653"/>
          </a:xfrm>
        </p:grpSpPr>
        <p:sp>
          <p:nvSpPr>
            <p:cNvPr id="47" name="Freeform 52">
              <a:extLst>
                <a:ext uri="{FF2B5EF4-FFF2-40B4-BE49-F238E27FC236}">
                  <a16:creationId xmlns:a16="http://schemas.microsoft.com/office/drawing/2014/main" id="{0E505628-FDE6-4093-1990-E7342222B67D}"/>
                </a:ext>
              </a:extLst>
            </p:cNvPr>
            <p:cNvSpPr/>
            <p:nvPr/>
          </p:nvSpPr>
          <p:spPr>
            <a:xfrm>
              <a:off x="0" y="0"/>
              <a:ext cx="217408" cy="22603"/>
            </a:xfrm>
            <a:custGeom>
              <a:avLst/>
              <a:gdLst/>
              <a:ahLst/>
              <a:cxnLst/>
              <a:rect l="l" t="t" r="r" b="b"/>
              <a:pathLst>
                <a:path w="217408" h="22603">
                  <a:moveTo>
                    <a:pt x="11301" y="0"/>
                  </a:moveTo>
                  <a:lnTo>
                    <a:pt x="206107" y="0"/>
                  </a:lnTo>
                  <a:cubicBezTo>
                    <a:pt x="212349" y="0"/>
                    <a:pt x="217408" y="5060"/>
                    <a:pt x="217408" y="11301"/>
                  </a:cubicBezTo>
                  <a:lnTo>
                    <a:pt x="217408" y="11301"/>
                  </a:lnTo>
                  <a:cubicBezTo>
                    <a:pt x="217408" y="17543"/>
                    <a:pt x="212349" y="22603"/>
                    <a:pt x="206107" y="22603"/>
                  </a:cubicBezTo>
                  <a:lnTo>
                    <a:pt x="11301" y="22603"/>
                  </a:lnTo>
                  <a:cubicBezTo>
                    <a:pt x="5060" y="22603"/>
                    <a:pt x="0" y="17543"/>
                    <a:pt x="0" y="11301"/>
                  </a:cubicBezTo>
                  <a:lnTo>
                    <a:pt x="0" y="11301"/>
                  </a:lnTo>
                  <a:cubicBezTo>
                    <a:pt x="0" y="5060"/>
                    <a:pt x="5060" y="0"/>
                    <a:pt x="11301" y="0"/>
                  </a:cubicBezTo>
                  <a:close/>
                </a:path>
              </a:pathLst>
            </a:custGeom>
            <a:solidFill>
              <a:srgbClr val="8AE043"/>
            </a:solidFill>
          </p:spPr>
          <p:txBody>
            <a:bodyPr/>
            <a:lstStyle/>
            <a:p>
              <a:endParaRPr lang="en-US"/>
            </a:p>
          </p:txBody>
        </p:sp>
        <p:sp>
          <p:nvSpPr>
            <p:cNvPr id="48" name="TextBox 53">
              <a:extLst>
                <a:ext uri="{FF2B5EF4-FFF2-40B4-BE49-F238E27FC236}">
                  <a16:creationId xmlns:a16="http://schemas.microsoft.com/office/drawing/2014/main" id="{3D4D8F68-305D-C1FA-8135-B404CB5EF4BD}"/>
                </a:ext>
              </a:extLst>
            </p:cNvPr>
            <p:cNvSpPr txBox="1"/>
            <p:nvPr/>
          </p:nvSpPr>
          <p:spPr>
            <a:xfrm>
              <a:off x="0" y="-19050"/>
              <a:ext cx="217408" cy="41653"/>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p>
          </p:txBody>
        </p:sp>
      </p:grpSp>
      <p:sp>
        <p:nvSpPr>
          <p:cNvPr id="35" name="Freeform 54">
            <a:extLst>
              <a:ext uri="{FF2B5EF4-FFF2-40B4-BE49-F238E27FC236}">
                <a16:creationId xmlns:a16="http://schemas.microsoft.com/office/drawing/2014/main" id="{615C406A-9F8C-CB07-F5A7-03DBF838C110}"/>
              </a:ext>
            </a:extLst>
          </p:cNvPr>
          <p:cNvSpPr/>
          <p:nvPr/>
        </p:nvSpPr>
        <p:spPr>
          <a:xfrm>
            <a:off x="15219111" y="5248401"/>
            <a:ext cx="1850633" cy="991828"/>
          </a:xfrm>
          <a:custGeom>
            <a:avLst/>
            <a:gdLst/>
            <a:ahLst/>
            <a:cxnLst/>
            <a:rect l="l" t="t" r="r" b="b"/>
            <a:pathLst>
              <a:path w="1850633" h="991828">
                <a:moveTo>
                  <a:pt x="0" y="0"/>
                </a:moveTo>
                <a:lnTo>
                  <a:pt x="0" y="642271"/>
                </a:lnTo>
                <a:cubicBezTo>
                  <a:pt x="0" y="662480"/>
                  <a:pt x="8029" y="681862"/>
                  <a:pt x="22318" y="696152"/>
                </a:cubicBezTo>
                <a:cubicBezTo>
                  <a:pt x="36609" y="710442"/>
                  <a:pt x="55991" y="718471"/>
                  <a:pt x="76200" y="718471"/>
                </a:cubicBezTo>
                <a:lnTo>
                  <a:pt x="1774433" y="718471"/>
                </a:lnTo>
                <a:cubicBezTo>
                  <a:pt x="1794643" y="718471"/>
                  <a:pt x="1814024" y="726499"/>
                  <a:pt x="1828315" y="740789"/>
                </a:cubicBezTo>
                <a:cubicBezTo>
                  <a:pt x="1842606" y="755079"/>
                  <a:pt x="1850633" y="774461"/>
                  <a:pt x="1850633" y="794671"/>
                </a:cubicBezTo>
                <a:lnTo>
                  <a:pt x="1850633" y="991828"/>
                </a:lnTo>
              </a:path>
            </a:pathLst>
          </a:custGeom>
          <a:ln w="38100" cap="rnd">
            <a:solidFill>
              <a:srgbClr val="8AE043"/>
            </a:solidFill>
            <a:prstDash val="sysDot"/>
            <a:headEnd type="none" w="sm" len="sm"/>
            <a:tailEnd type="none" w="sm" len="sm"/>
          </a:ln>
        </p:spPr>
        <p:txBody>
          <a:bodyPr/>
          <a:lstStyle/>
          <a:p>
            <a:endParaRPr lang="en-US"/>
          </a:p>
        </p:txBody>
      </p:sp>
      <p:sp>
        <p:nvSpPr>
          <p:cNvPr id="36" name="Freeform 55">
            <a:extLst>
              <a:ext uri="{FF2B5EF4-FFF2-40B4-BE49-F238E27FC236}">
                <a16:creationId xmlns:a16="http://schemas.microsoft.com/office/drawing/2014/main" id="{4F47D119-62E8-FF19-FCA3-74679546BCB0}"/>
              </a:ext>
            </a:extLst>
          </p:cNvPr>
          <p:cNvSpPr/>
          <p:nvPr/>
        </p:nvSpPr>
        <p:spPr>
          <a:xfrm>
            <a:off x="13678622" y="5248401"/>
            <a:ext cx="761986" cy="976632"/>
          </a:xfrm>
          <a:custGeom>
            <a:avLst/>
            <a:gdLst/>
            <a:ahLst/>
            <a:cxnLst/>
            <a:rect l="l" t="t" r="r" b="b"/>
            <a:pathLst>
              <a:path w="761986" h="976632">
                <a:moveTo>
                  <a:pt x="0" y="0"/>
                </a:moveTo>
                <a:lnTo>
                  <a:pt x="0" y="642271"/>
                </a:lnTo>
                <a:cubicBezTo>
                  <a:pt x="0" y="662480"/>
                  <a:pt x="8029" y="681862"/>
                  <a:pt x="22318" y="696152"/>
                </a:cubicBezTo>
                <a:cubicBezTo>
                  <a:pt x="36609" y="710442"/>
                  <a:pt x="55991" y="718471"/>
                  <a:pt x="76200" y="718471"/>
                </a:cubicBezTo>
                <a:lnTo>
                  <a:pt x="685786" y="718471"/>
                </a:lnTo>
                <a:cubicBezTo>
                  <a:pt x="727871" y="718471"/>
                  <a:pt x="761986" y="752586"/>
                  <a:pt x="761986" y="794671"/>
                </a:cubicBezTo>
                <a:lnTo>
                  <a:pt x="761986" y="976632"/>
                </a:lnTo>
              </a:path>
            </a:pathLst>
          </a:custGeom>
          <a:ln w="38100" cap="rnd">
            <a:solidFill>
              <a:srgbClr val="42A4B4"/>
            </a:solidFill>
            <a:prstDash val="sysDot"/>
            <a:headEnd type="none" w="sm" len="sm"/>
            <a:tailEnd type="none" w="sm" len="sm"/>
          </a:ln>
        </p:spPr>
        <p:txBody>
          <a:bodyPr/>
          <a:lstStyle/>
          <a:p>
            <a:endParaRPr lang="en-US"/>
          </a:p>
        </p:txBody>
      </p:sp>
      <p:sp>
        <p:nvSpPr>
          <p:cNvPr id="37" name="Freeform 56">
            <a:extLst>
              <a:ext uri="{FF2B5EF4-FFF2-40B4-BE49-F238E27FC236}">
                <a16:creationId xmlns:a16="http://schemas.microsoft.com/office/drawing/2014/main" id="{11E1E5CC-81E2-0326-24EE-2A2EF2F85FAD}"/>
              </a:ext>
            </a:extLst>
          </p:cNvPr>
          <p:cNvSpPr/>
          <p:nvPr/>
        </p:nvSpPr>
        <p:spPr>
          <a:xfrm>
            <a:off x="11837723" y="5248401"/>
            <a:ext cx="255077" cy="1014422"/>
          </a:xfrm>
          <a:custGeom>
            <a:avLst/>
            <a:gdLst/>
            <a:ahLst/>
            <a:cxnLst/>
            <a:rect l="l" t="t" r="r" b="b"/>
            <a:pathLst>
              <a:path w="255077" h="1014422">
                <a:moveTo>
                  <a:pt x="255077" y="0"/>
                </a:moveTo>
                <a:lnTo>
                  <a:pt x="255077" y="642271"/>
                </a:lnTo>
                <a:cubicBezTo>
                  <a:pt x="255077" y="684355"/>
                  <a:pt x="220961" y="718471"/>
                  <a:pt x="178877" y="718471"/>
                </a:cubicBezTo>
                <a:lnTo>
                  <a:pt x="76200" y="718471"/>
                </a:lnTo>
                <a:cubicBezTo>
                  <a:pt x="55990" y="718471"/>
                  <a:pt x="36609" y="726499"/>
                  <a:pt x="22319" y="740789"/>
                </a:cubicBezTo>
                <a:cubicBezTo>
                  <a:pt x="8028" y="755079"/>
                  <a:pt x="0" y="774461"/>
                  <a:pt x="0" y="794671"/>
                </a:cubicBezTo>
                <a:lnTo>
                  <a:pt x="0" y="1014422"/>
                </a:lnTo>
              </a:path>
            </a:pathLst>
          </a:custGeom>
          <a:ln w="38100" cap="rnd">
            <a:solidFill>
              <a:srgbClr val="8AE043"/>
            </a:solidFill>
            <a:prstDash val="sysDot"/>
            <a:headEnd type="none" w="sm" len="sm"/>
            <a:tailEnd type="none" w="sm" len="sm"/>
          </a:ln>
        </p:spPr>
        <p:txBody>
          <a:bodyPr/>
          <a:lstStyle/>
          <a:p>
            <a:endParaRPr lang="en-US"/>
          </a:p>
        </p:txBody>
      </p:sp>
      <p:sp>
        <p:nvSpPr>
          <p:cNvPr id="38" name="Freeform 57">
            <a:extLst>
              <a:ext uri="{FF2B5EF4-FFF2-40B4-BE49-F238E27FC236}">
                <a16:creationId xmlns:a16="http://schemas.microsoft.com/office/drawing/2014/main" id="{855B2569-A05F-6B7E-4191-E877852479C4}"/>
              </a:ext>
            </a:extLst>
          </p:cNvPr>
          <p:cNvSpPr/>
          <p:nvPr/>
        </p:nvSpPr>
        <p:spPr>
          <a:xfrm>
            <a:off x="9231500" y="5248401"/>
            <a:ext cx="1307655" cy="1017004"/>
          </a:xfrm>
          <a:custGeom>
            <a:avLst/>
            <a:gdLst/>
            <a:ahLst/>
            <a:cxnLst/>
            <a:rect l="l" t="t" r="r" b="b"/>
            <a:pathLst>
              <a:path w="1307655" h="1017004">
                <a:moveTo>
                  <a:pt x="1307655" y="0"/>
                </a:moveTo>
                <a:lnTo>
                  <a:pt x="1307655" y="642271"/>
                </a:lnTo>
                <a:cubicBezTo>
                  <a:pt x="1307655" y="662480"/>
                  <a:pt x="1299627" y="681862"/>
                  <a:pt x="1285336" y="696152"/>
                </a:cubicBezTo>
                <a:cubicBezTo>
                  <a:pt x="1271046" y="710442"/>
                  <a:pt x="1251665" y="718471"/>
                  <a:pt x="1231455" y="718471"/>
                </a:cubicBezTo>
                <a:lnTo>
                  <a:pt x="76200" y="718471"/>
                </a:lnTo>
                <a:cubicBezTo>
                  <a:pt x="55990" y="718471"/>
                  <a:pt x="36609" y="726499"/>
                  <a:pt x="22319" y="740789"/>
                </a:cubicBezTo>
                <a:cubicBezTo>
                  <a:pt x="8028" y="755079"/>
                  <a:pt x="0" y="774461"/>
                  <a:pt x="0" y="794671"/>
                </a:cubicBezTo>
                <a:lnTo>
                  <a:pt x="0" y="1017004"/>
                </a:lnTo>
              </a:path>
            </a:pathLst>
          </a:custGeom>
          <a:ln w="38100" cap="rnd">
            <a:solidFill>
              <a:srgbClr val="42A4B4"/>
            </a:solidFill>
            <a:prstDash val="sysDot"/>
            <a:headEnd type="none" w="sm" len="sm"/>
            <a:tailEnd type="none" w="sm" len="sm"/>
          </a:ln>
        </p:spPr>
        <p:txBody>
          <a:bodyPr/>
          <a:lstStyle/>
          <a:p>
            <a:endParaRPr lang="en-US"/>
          </a:p>
        </p:txBody>
      </p:sp>
      <p:sp>
        <p:nvSpPr>
          <p:cNvPr id="39" name="TextBox 62">
            <a:extLst>
              <a:ext uri="{FF2B5EF4-FFF2-40B4-BE49-F238E27FC236}">
                <a16:creationId xmlns:a16="http://schemas.microsoft.com/office/drawing/2014/main" id="{1EDC199B-446E-ED30-F2FC-D6B4C84A4207}"/>
              </a:ext>
            </a:extLst>
          </p:cNvPr>
          <p:cNvSpPr txBox="1"/>
          <p:nvPr/>
        </p:nvSpPr>
        <p:spPr>
          <a:xfrm>
            <a:off x="9115677" y="6364466"/>
            <a:ext cx="248056" cy="21031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793"/>
              </a:lnSpc>
              <a:spcBef>
                <a:spcPct val="0"/>
              </a:spcBef>
            </a:pPr>
            <a:r>
              <a:rPr lang="en-US" sz="1281" b="1" dirty="0">
                <a:solidFill>
                  <a:srgbClr val="FFFFFF"/>
                </a:solidFill>
                <a:latin typeface="Segoe UI" panose="020B0502040204020203" pitchFamily="34" charset="0"/>
                <a:ea typeface="Garet Bold"/>
                <a:cs typeface="Segoe UI" panose="020B0502040204020203" pitchFamily="34" charset="0"/>
                <a:sym typeface="Garet Bold"/>
              </a:rPr>
              <a:t>01</a:t>
            </a:r>
          </a:p>
        </p:txBody>
      </p:sp>
      <p:sp>
        <p:nvSpPr>
          <p:cNvPr id="40" name="TextBox 63">
            <a:extLst>
              <a:ext uri="{FF2B5EF4-FFF2-40B4-BE49-F238E27FC236}">
                <a16:creationId xmlns:a16="http://schemas.microsoft.com/office/drawing/2014/main" id="{5419D056-D9C5-ADD1-0118-C8060CB9D3EE}"/>
              </a:ext>
            </a:extLst>
          </p:cNvPr>
          <p:cNvSpPr txBox="1"/>
          <p:nvPr/>
        </p:nvSpPr>
        <p:spPr>
          <a:xfrm>
            <a:off x="8133764" y="6815414"/>
            <a:ext cx="2195474" cy="86177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Data </a:t>
            </a:r>
          </a:p>
          <a:p>
            <a:pPr algn="ctr">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Import</a:t>
            </a:r>
          </a:p>
        </p:txBody>
      </p:sp>
      <p:sp>
        <p:nvSpPr>
          <p:cNvPr id="41" name="TextBox 65">
            <a:extLst>
              <a:ext uri="{FF2B5EF4-FFF2-40B4-BE49-F238E27FC236}">
                <a16:creationId xmlns:a16="http://schemas.microsoft.com/office/drawing/2014/main" id="{2980D3ED-31BB-A329-C959-A411A86461F1}"/>
              </a:ext>
            </a:extLst>
          </p:cNvPr>
          <p:cNvSpPr txBox="1"/>
          <p:nvPr/>
        </p:nvSpPr>
        <p:spPr>
          <a:xfrm>
            <a:off x="11708839" y="6266967"/>
            <a:ext cx="254429" cy="21127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39"/>
              </a:lnSpc>
              <a:spcBef>
                <a:spcPct val="0"/>
              </a:spcBef>
            </a:pPr>
            <a:r>
              <a:rPr lang="en-US" sz="1314" b="1" dirty="0">
                <a:solidFill>
                  <a:srgbClr val="000000"/>
                </a:solidFill>
                <a:latin typeface="Segoe UI" panose="020B0502040204020203" pitchFamily="34" charset="0"/>
                <a:ea typeface="Garet Bold"/>
                <a:cs typeface="Segoe UI" panose="020B0502040204020203" pitchFamily="34" charset="0"/>
                <a:sym typeface="Garet Bold"/>
              </a:rPr>
              <a:t>02</a:t>
            </a:r>
          </a:p>
        </p:txBody>
      </p:sp>
      <p:sp>
        <p:nvSpPr>
          <p:cNvPr id="42" name="TextBox 68">
            <a:extLst>
              <a:ext uri="{FF2B5EF4-FFF2-40B4-BE49-F238E27FC236}">
                <a16:creationId xmlns:a16="http://schemas.microsoft.com/office/drawing/2014/main" id="{2210923B-5752-548E-BE6B-D3DDE2CC0FC6}"/>
              </a:ext>
            </a:extLst>
          </p:cNvPr>
          <p:cNvSpPr txBox="1"/>
          <p:nvPr/>
        </p:nvSpPr>
        <p:spPr>
          <a:xfrm>
            <a:off x="14313394" y="6266967"/>
            <a:ext cx="254429" cy="21127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39"/>
              </a:lnSpc>
              <a:spcBef>
                <a:spcPct val="0"/>
              </a:spcBef>
            </a:pPr>
            <a:r>
              <a:rPr lang="en-US" sz="1314" b="1" dirty="0">
                <a:solidFill>
                  <a:srgbClr val="FFFFFF"/>
                </a:solidFill>
                <a:latin typeface="Segoe UI" panose="020B0502040204020203" pitchFamily="34" charset="0"/>
                <a:ea typeface="Garet Bold"/>
                <a:cs typeface="Segoe UI" panose="020B0502040204020203" pitchFamily="34" charset="0"/>
                <a:sym typeface="Garet Bold"/>
              </a:rPr>
              <a:t>03</a:t>
            </a:r>
          </a:p>
        </p:txBody>
      </p:sp>
      <p:sp>
        <p:nvSpPr>
          <p:cNvPr id="43" name="TextBox 71">
            <a:extLst>
              <a:ext uri="{FF2B5EF4-FFF2-40B4-BE49-F238E27FC236}">
                <a16:creationId xmlns:a16="http://schemas.microsoft.com/office/drawing/2014/main" id="{F1BE55F3-3828-30AF-CA56-F87CF57450DE}"/>
              </a:ext>
            </a:extLst>
          </p:cNvPr>
          <p:cNvSpPr txBox="1"/>
          <p:nvPr/>
        </p:nvSpPr>
        <p:spPr>
          <a:xfrm>
            <a:off x="16920384" y="6273650"/>
            <a:ext cx="260622" cy="228332"/>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1884"/>
              </a:lnSpc>
              <a:spcBef>
                <a:spcPct val="0"/>
              </a:spcBef>
            </a:pPr>
            <a:r>
              <a:rPr lang="en-US" sz="1346" b="1" dirty="0">
                <a:solidFill>
                  <a:srgbClr val="000000"/>
                </a:solidFill>
                <a:latin typeface="Garet Bold"/>
                <a:ea typeface="Garet Bold"/>
                <a:cs typeface="Garet Bold"/>
                <a:sym typeface="Garet Bold"/>
              </a:rPr>
              <a:t>04</a:t>
            </a:r>
          </a:p>
        </p:txBody>
      </p:sp>
      <p:sp>
        <p:nvSpPr>
          <p:cNvPr id="44" name="TextBox 63">
            <a:extLst>
              <a:ext uri="{FF2B5EF4-FFF2-40B4-BE49-F238E27FC236}">
                <a16:creationId xmlns:a16="http://schemas.microsoft.com/office/drawing/2014/main" id="{BA05C94F-4360-2403-738B-9CF9671E39A6}"/>
              </a:ext>
            </a:extLst>
          </p:cNvPr>
          <p:cNvSpPr txBox="1"/>
          <p:nvPr/>
        </p:nvSpPr>
        <p:spPr>
          <a:xfrm>
            <a:off x="10792847" y="6853395"/>
            <a:ext cx="2195474" cy="800219"/>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2600" b="1" dirty="0">
                <a:solidFill>
                  <a:srgbClr val="000000"/>
                </a:solidFill>
                <a:latin typeface="Segoe UI" panose="020B0502040204020203" pitchFamily="34" charset="0"/>
                <a:ea typeface="Garet Bold"/>
                <a:cs typeface="Segoe UI" panose="020B0502040204020203" pitchFamily="34" charset="0"/>
                <a:sym typeface="Garet Bold"/>
              </a:rPr>
              <a:t>Feature Engineering</a:t>
            </a:r>
          </a:p>
        </p:txBody>
      </p:sp>
      <p:sp>
        <p:nvSpPr>
          <p:cNvPr id="45" name="TextBox 63">
            <a:extLst>
              <a:ext uri="{FF2B5EF4-FFF2-40B4-BE49-F238E27FC236}">
                <a16:creationId xmlns:a16="http://schemas.microsoft.com/office/drawing/2014/main" id="{ED69A331-4992-7203-2D2F-DEA2E7627940}"/>
              </a:ext>
            </a:extLst>
          </p:cNvPr>
          <p:cNvSpPr txBox="1"/>
          <p:nvPr/>
        </p:nvSpPr>
        <p:spPr>
          <a:xfrm>
            <a:off x="13335000" y="6819900"/>
            <a:ext cx="2195474" cy="800219"/>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2600" b="1" dirty="0">
                <a:solidFill>
                  <a:srgbClr val="000000"/>
                </a:solidFill>
                <a:latin typeface="Segoe UI" panose="020B0502040204020203" pitchFamily="34" charset="0"/>
                <a:ea typeface="Garet Bold"/>
                <a:cs typeface="Segoe UI" panose="020B0502040204020203" pitchFamily="34" charset="0"/>
                <a:sym typeface="Garet Bold"/>
              </a:rPr>
              <a:t>Model Forecasting</a:t>
            </a:r>
          </a:p>
        </p:txBody>
      </p:sp>
      <p:sp>
        <p:nvSpPr>
          <p:cNvPr id="46" name="TextBox 63">
            <a:extLst>
              <a:ext uri="{FF2B5EF4-FFF2-40B4-BE49-F238E27FC236}">
                <a16:creationId xmlns:a16="http://schemas.microsoft.com/office/drawing/2014/main" id="{CF10B6D3-F4C6-97A2-AEDA-93D16F8A0A87}"/>
              </a:ext>
            </a:extLst>
          </p:cNvPr>
          <p:cNvSpPr txBox="1"/>
          <p:nvPr/>
        </p:nvSpPr>
        <p:spPr>
          <a:xfrm>
            <a:off x="15947425" y="6791840"/>
            <a:ext cx="2195474" cy="86177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Output Results</a:t>
            </a:r>
          </a:p>
        </p:txBody>
      </p:sp>
    </p:spTree>
    <p:extLst>
      <p:ext uri="{BB962C8B-B14F-4D97-AF65-F5344CB8AC3E}">
        <p14:creationId xmlns:p14="http://schemas.microsoft.com/office/powerpoint/2010/main" val="145522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01E36A5B-9307-2160-6860-5202DDF4F0D7}"/>
            </a:ext>
          </a:extLst>
        </p:cNvPr>
        <p:cNvGrpSpPr/>
        <p:nvPr/>
      </p:nvGrpSpPr>
      <p:grpSpPr>
        <a:xfrm>
          <a:off x="0" y="0"/>
          <a:ext cx="0" cy="0"/>
          <a:chOff x="0" y="0"/>
          <a:chExt cx="0" cy="0"/>
        </a:xfrm>
      </p:grpSpPr>
      <p:sp>
        <p:nvSpPr>
          <p:cNvPr id="84" name="Freeform 2">
            <a:extLst>
              <a:ext uri="{FF2B5EF4-FFF2-40B4-BE49-F238E27FC236}">
                <a16:creationId xmlns:a16="http://schemas.microsoft.com/office/drawing/2014/main" id="{218F6959-1B32-C246-4C7F-E1626B246E93}"/>
              </a:ext>
            </a:extLst>
          </p:cNvPr>
          <p:cNvSpPr/>
          <p:nvPr/>
        </p:nvSpPr>
        <p:spPr>
          <a:xfrm flipH="1">
            <a:off x="8242798" y="2171700"/>
            <a:ext cx="2065460" cy="6916084"/>
          </a:xfrm>
          <a:custGeom>
            <a:avLst/>
            <a:gdLst/>
            <a:ahLst/>
            <a:cxnLst/>
            <a:rect l="l" t="t" r="r" b="b"/>
            <a:pathLst>
              <a:path w="2065460" h="7906067">
                <a:moveTo>
                  <a:pt x="2065460" y="0"/>
                </a:moveTo>
                <a:lnTo>
                  <a:pt x="0" y="0"/>
                </a:lnTo>
                <a:lnTo>
                  <a:pt x="0" y="7906067"/>
                </a:lnTo>
                <a:lnTo>
                  <a:pt x="2065460" y="7906067"/>
                </a:lnTo>
                <a:lnTo>
                  <a:pt x="2065460" y="0"/>
                </a:lnTo>
                <a:close/>
              </a:path>
            </a:pathLst>
          </a:custGeom>
          <a:blipFill>
            <a:blip>
              <a:extLst>
                <a:ext uri="{96DAC541-7B7A-43D3-8B79-37D633B846F1}">
                  <asvg:svgBlip xmlns:asvg="http://schemas.microsoft.com/office/drawing/2016/SVG/main" r:embed="rId2"/>
                </a:ext>
              </a:extLst>
            </a:blip>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000" dirty="0">
              <a:latin typeface="Segoe UI" panose="020B0502040204020203" pitchFamily="34" charset="0"/>
              <a:cs typeface="Segoe UI" panose="020B0502040204020203" pitchFamily="34" charset="0"/>
            </a:endParaRPr>
          </a:p>
        </p:txBody>
      </p:sp>
      <p:sp>
        <p:nvSpPr>
          <p:cNvPr id="5" name="TextBox 6">
            <a:extLst>
              <a:ext uri="{FF2B5EF4-FFF2-40B4-BE49-F238E27FC236}">
                <a16:creationId xmlns:a16="http://schemas.microsoft.com/office/drawing/2014/main" id="{FC500E2D-CEAA-FD0D-DAB8-7ABAF412513F}"/>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61511117-BE9B-8E1B-BD47-BC075DEC674D}"/>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63C7622E-2418-0598-6A9C-38A2E88A1E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AFC14A4B-DB8C-BC7B-7C65-050801A6591E}"/>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B43E5D5F-A35B-47A5-9E70-F4373E957B1D}"/>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4"/>
              <a:stretch>
                <a:fillRect/>
              </a:stretch>
            </a:blipFill>
          </p:spPr>
          <p:txBody>
            <a:bodyPr/>
            <a:lstStyle/>
            <a:p>
              <a:endParaRPr lang="en-US"/>
            </a:p>
          </p:txBody>
        </p:sp>
        <p:sp>
          <p:nvSpPr>
            <p:cNvPr id="12" name="TextBox 7">
              <a:extLst>
                <a:ext uri="{FF2B5EF4-FFF2-40B4-BE49-F238E27FC236}">
                  <a16:creationId xmlns:a16="http://schemas.microsoft.com/office/drawing/2014/main" id="{0657B5CB-DE36-3FC8-848C-15926E308737}"/>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9E4A1FFA-2AF1-E4E2-39A6-A8D63E8D8642}"/>
              </a:ext>
            </a:extLst>
          </p:cNvPr>
          <p:cNvSpPr/>
          <p:nvPr/>
        </p:nvSpPr>
        <p:spPr>
          <a:xfrm>
            <a:off x="1142997" y="4241929"/>
            <a:ext cx="5867402" cy="24993"/>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EE8557FC-C836-BF2C-C23F-C034F7DE0BED}"/>
              </a:ext>
            </a:extLst>
          </p:cNvPr>
          <p:cNvSpPr txBox="1"/>
          <p:nvPr/>
        </p:nvSpPr>
        <p:spPr>
          <a:xfrm>
            <a:off x="1142998" y="2476500"/>
            <a:ext cx="5867402" cy="1661993"/>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Machine Learning Pipeline</a:t>
            </a:r>
          </a:p>
        </p:txBody>
      </p:sp>
      <p:sp>
        <p:nvSpPr>
          <p:cNvPr id="2" name="TextBox 47">
            <a:extLst>
              <a:ext uri="{FF2B5EF4-FFF2-40B4-BE49-F238E27FC236}">
                <a16:creationId xmlns:a16="http://schemas.microsoft.com/office/drawing/2014/main" id="{322C11F3-5148-85E5-C5E4-B6F133666359}"/>
              </a:ext>
            </a:extLst>
          </p:cNvPr>
          <p:cNvSpPr txBox="1"/>
          <p:nvPr/>
        </p:nvSpPr>
        <p:spPr>
          <a:xfrm>
            <a:off x="1117597" y="5888951"/>
            <a:ext cx="5625996" cy="2817349"/>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1186"/>
              </a:lnSpc>
            </a:pPr>
            <a:r>
              <a:rPr lang="en-US" sz="21618" b="1" spc="-929" dirty="0">
                <a:solidFill>
                  <a:srgbClr val="2B2B2B"/>
                </a:solidFill>
                <a:latin typeface="Segoe UI" panose="020B0502040204020203" pitchFamily="34" charset="0"/>
                <a:ea typeface="Arial Unicode Bold"/>
                <a:cs typeface="Segoe UI" panose="020B0502040204020203" pitchFamily="34" charset="0"/>
                <a:sym typeface="Arial Unicode Bold"/>
              </a:rPr>
              <a:t>91%</a:t>
            </a:r>
          </a:p>
        </p:txBody>
      </p:sp>
      <p:sp>
        <p:nvSpPr>
          <p:cNvPr id="3" name="TextBox 48">
            <a:extLst>
              <a:ext uri="{FF2B5EF4-FFF2-40B4-BE49-F238E27FC236}">
                <a16:creationId xmlns:a16="http://schemas.microsoft.com/office/drawing/2014/main" id="{EE7985E6-175F-6EE8-649C-4E3017C1CC83}"/>
              </a:ext>
            </a:extLst>
          </p:cNvPr>
          <p:cNvSpPr txBox="1"/>
          <p:nvPr/>
        </p:nvSpPr>
        <p:spPr>
          <a:xfrm>
            <a:off x="740094" y="4879693"/>
            <a:ext cx="6595597" cy="31213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415"/>
              </a:lnSpc>
              <a:spcBef>
                <a:spcPct val="0"/>
              </a:spcBef>
            </a:pPr>
            <a:r>
              <a:rPr lang="en-US" sz="2800" dirty="0">
                <a:solidFill>
                  <a:srgbClr val="2B2B2B"/>
                </a:solidFill>
                <a:latin typeface="Segoe UI" panose="020B0502040204020203" pitchFamily="34" charset="0"/>
                <a:ea typeface="Inter"/>
                <a:cs typeface="Segoe UI" panose="020B0502040204020203" pitchFamily="34" charset="0"/>
                <a:sym typeface="Inter"/>
              </a:rPr>
              <a:t>Best Performing model is </a:t>
            </a:r>
            <a:r>
              <a:rPr lang="en-US" sz="2800" b="1" dirty="0">
                <a:solidFill>
                  <a:srgbClr val="2B2B2B"/>
                </a:solidFill>
                <a:latin typeface="Segoe UI" panose="020B0502040204020203" pitchFamily="34" charset="0"/>
                <a:ea typeface="Inter Bold"/>
                <a:cs typeface="Segoe UI" panose="020B0502040204020203" pitchFamily="34" charset="0"/>
                <a:sym typeface="Inter Bold"/>
              </a:rPr>
              <a:t>XGBOOST </a:t>
            </a:r>
            <a:r>
              <a:rPr lang="en-US" sz="2800" dirty="0">
                <a:solidFill>
                  <a:srgbClr val="2B2B2B"/>
                </a:solidFill>
                <a:latin typeface="Segoe UI" panose="020B0502040204020203" pitchFamily="34" charset="0"/>
                <a:ea typeface="Inter"/>
                <a:cs typeface="Segoe UI" panose="020B0502040204020203" pitchFamily="34" charset="0"/>
                <a:sym typeface="Inter"/>
              </a:rPr>
              <a:t>with</a:t>
            </a:r>
          </a:p>
        </p:txBody>
      </p:sp>
      <p:sp>
        <p:nvSpPr>
          <p:cNvPr id="85" name="TextBox 35">
            <a:extLst>
              <a:ext uri="{FF2B5EF4-FFF2-40B4-BE49-F238E27FC236}">
                <a16:creationId xmlns:a16="http://schemas.microsoft.com/office/drawing/2014/main" id="{E3F4ED31-5C61-620D-A435-453BDD967174}"/>
              </a:ext>
            </a:extLst>
          </p:cNvPr>
          <p:cNvSpPr txBox="1"/>
          <p:nvPr/>
        </p:nvSpPr>
        <p:spPr>
          <a:xfrm>
            <a:off x="12801600" y="2553139"/>
            <a:ext cx="4872469" cy="321755"/>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519"/>
              </a:lnSpc>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Data Collection</a:t>
            </a:r>
          </a:p>
        </p:txBody>
      </p:sp>
      <p:sp>
        <p:nvSpPr>
          <p:cNvPr id="86" name="TextBox 36">
            <a:extLst>
              <a:ext uri="{FF2B5EF4-FFF2-40B4-BE49-F238E27FC236}">
                <a16:creationId xmlns:a16="http://schemas.microsoft.com/office/drawing/2014/main" id="{AEE6CF1D-ABF9-FB29-542A-ABA00D2CDF6D}"/>
              </a:ext>
            </a:extLst>
          </p:cNvPr>
          <p:cNvSpPr txBox="1"/>
          <p:nvPr/>
        </p:nvSpPr>
        <p:spPr>
          <a:xfrm>
            <a:off x="12801600" y="2974144"/>
            <a:ext cx="4872469" cy="800219"/>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ct val="0"/>
              </a:spcBef>
            </a:pPr>
            <a:r>
              <a:rPr lang="en-US" sz="2600" dirty="0">
                <a:solidFill>
                  <a:srgbClr val="000000"/>
                </a:solidFill>
                <a:latin typeface="Segoe UI" panose="020B0502040204020203" pitchFamily="34" charset="0"/>
                <a:ea typeface="Garet"/>
                <a:cs typeface="Segoe UI" panose="020B0502040204020203" pitchFamily="34" charset="0"/>
                <a:sym typeface="Garet"/>
              </a:rPr>
              <a:t>Collected 50,000+ rows of sales data.</a:t>
            </a:r>
          </a:p>
        </p:txBody>
      </p:sp>
      <p:sp>
        <p:nvSpPr>
          <p:cNvPr id="87" name="TextBox 38">
            <a:extLst>
              <a:ext uri="{FF2B5EF4-FFF2-40B4-BE49-F238E27FC236}">
                <a16:creationId xmlns:a16="http://schemas.microsoft.com/office/drawing/2014/main" id="{F44450D7-D064-46A6-DB7C-AF8538404DD2}"/>
              </a:ext>
            </a:extLst>
          </p:cNvPr>
          <p:cNvSpPr txBox="1"/>
          <p:nvPr/>
        </p:nvSpPr>
        <p:spPr>
          <a:xfrm>
            <a:off x="12801600" y="4193344"/>
            <a:ext cx="4872469" cy="32060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519"/>
              </a:lnSpc>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Preprocessing</a:t>
            </a:r>
          </a:p>
        </p:txBody>
      </p:sp>
      <p:sp>
        <p:nvSpPr>
          <p:cNvPr id="88" name="TextBox 39">
            <a:extLst>
              <a:ext uri="{FF2B5EF4-FFF2-40B4-BE49-F238E27FC236}">
                <a16:creationId xmlns:a16="http://schemas.microsoft.com/office/drawing/2014/main" id="{4E1EDA77-9F40-29B7-B2EC-483D95A51745}"/>
              </a:ext>
            </a:extLst>
          </p:cNvPr>
          <p:cNvSpPr txBox="1"/>
          <p:nvPr/>
        </p:nvSpPr>
        <p:spPr>
          <a:xfrm>
            <a:off x="12801600" y="4574344"/>
            <a:ext cx="4872469" cy="800219"/>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ct val="0"/>
              </a:spcBef>
            </a:pPr>
            <a:r>
              <a:rPr lang="en-US" sz="2600" dirty="0">
                <a:solidFill>
                  <a:srgbClr val="000000"/>
                </a:solidFill>
                <a:latin typeface="Segoe UI" panose="020B0502040204020203" pitchFamily="34" charset="0"/>
                <a:ea typeface="Garet"/>
                <a:cs typeface="Segoe UI" panose="020B0502040204020203" pitchFamily="34" charset="0"/>
                <a:sym typeface="Garet"/>
              </a:rPr>
              <a:t>Null values cleaning, duplicate removals.</a:t>
            </a:r>
          </a:p>
        </p:txBody>
      </p:sp>
      <p:sp>
        <p:nvSpPr>
          <p:cNvPr id="89" name="TextBox 41">
            <a:extLst>
              <a:ext uri="{FF2B5EF4-FFF2-40B4-BE49-F238E27FC236}">
                <a16:creationId xmlns:a16="http://schemas.microsoft.com/office/drawing/2014/main" id="{5BB36DC7-1CB1-CAE4-1838-22E791CC36B3}"/>
              </a:ext>
            </a:extLst>
          </p:cNvPr>
          <p:cNvSpPr txBox="1"/>
          <p:nvPr/>
        </p:nvSpPr>
        <p:spPr>
          <a:xfrm>
            <a:off x="12801600" y="5831763"/>
            <a:ext cx="4872469" cy="32060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519"/>
              </a:lnSpc>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Feature Engineering</a:t>
            </a:r>
          </a:p>
        </p:txBody>
      </p:sp>
      <p:sp>
        <p:nvSpPr>
          <p:cNvPr id="90" name="TextBox 42">
            <a:extLst>
              <a:ext uri="{FF2B5EF4-FFF2-40B4-BE49-F238E27FC236}">
                <a16:creationId xmlns:a16="http://schemas.microsoft.com/office/drawing/2014/main" id="{ED95745F-5468-BE0B-2E02-D0341A42CBB2}"/>
              </a:ext>
            </a:extLst>
          </p:cNvPr>
          <p:cNvSpPr txBox="1"/>
          <p:nvPr/>
        </p:nvSpPr>
        <p:spPr>
          <a:xfrm>
            <a:off x="12801600" y="6212763"/>
            <a:ext cx="4872469" cy="800219"/>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ct val="0"/>
              </a:spcBef>
            </a:pPr>
            <a:r>
              <a:rPr lang="en-US" sz="2600" dirty="0">
                <a:solidFill>
                  <a:srgbClr val="000000"/>
                </a:solidFill>
                <a:latin typeface="Segoe UI" panose="020B0502040204020203" pitchFamily="34" charset="0"/>
                <a:ea typeface="Garet"/>
                <a:cs typeface="Segoe UI" panose="020B0502040204020203" pitchFamily="34" charset="0"/>
                <a:sym typeface="Garet"/>
              </a:rPr>
              <a:t>5+ engineered features like lag_qty, lag_profit and month.</a:t>
            </a:r>
          </a:p>
        </p:txBody>
      </p:sp>
      <p:sp>
        <p:nvSpPr>
          <p:cNvPr id="91" name="TextBox 44">
            <a:extLst>
              <a:ext uri="{FF2B5EF4-FFF2-40B4-BE49-F238E27FC236}">
                <a16:creationId xmlns:a16="http://schemas.microsoft.com/office/drawing/2014/main" id="{5500E8C1-7534-1497-71C0-F2DA0D3199EE}"/>
              </a:ext>
            </a:extLst>
          </p:cNvPr>
          <p:cNvSpPr txBox="1"/>
          <p:nvPr/>
        </p:nvSpPr>
        <p:spPr>
          <a:xfrm>
            <a:off x="12801600" y="7490338"/>
            <a:ext cx="4872469" cy="320601"/>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ts val="2519"/>
              </a:lnSpc>
              <a:spcBef>
                <a:spcPct val="0"/>
              </a:spcBef>
            </a:pPr>
            <a:r>
              <a:rPr lang="en-US" sz="2800" b="1" dirty="0">
                <a:solidFill>
                  <a:srgbClr val="000000"/>
                </a:solidFill>
                <a:latin typeface="Segoe UI" panose="020B0502040204020203" pitchFamily="34" charset="0"/>
                <a:ea typeface="Garet Bold"/>
                <a:cs typeface="Segoe UI" panose="020B0502040204020203" pitchFamily="34" charset="0"/>
                <a:sym typeface="Garet Bold"/>
              </a:rPr>
              <a:t>Model Training</a:t>
            </a:r>
          </a:p>
        </p:txBody>
      </p:sp>
      <p:sp>
        <p:nvSpPr>
          <p:cNvPr id="92" name="TextBox 45">
            <a:extLst>
              <a:ext uri="{FF2B5EF4-FFF2-40B4-BE49-F238E27FC236}">
                <a16:creationId xmlns:a16="http://schemas.microsoft.com/office/drawing/2014/main" id="{F07267F9-31D1-35C6-0B5D-02DC94FF1EC5}"/>
              </a:ext>
            </a:extLst>
          </p:cNvPr>
          <p:cNvSpPr txBox="1"/>
          <p:nvPr/>
        </p:nvSpPr>
        <p:spPr>
          <a:xfrm>
            <a:off x="12801600" y="7831834"/>
            <a:ext cx="4872469" cy="800219"/>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spcBef>
                <a:spcPct val="0"/>
              </a:spcBef>
            </a:pPr>
            <a:r>
              <a:rPr lang="en-US" sz="2600" dirty="0">
                <a:solidFill>
                  <a:srgbClr val="000000"/>
                </a:solidFill>
                <a:latin typeface="Segoe UI" panose="020B0502040204020203" pitchFamily="34" charset="0"/>
                <a:ea typeface="Garet"/>
                <a:cs typeface="Segoe UI" panose="020B0502040204020203" pitchFamily="34" charset="0"/>
                <a:sym typeface="Garet"/>
              </a:rPr>
              <a:t>Applied XGBoost Regressor machine learning algorithm.</a:t>
            </a:r>
          </a:p>
        </p:txBody>
      </p:sp>
      <p:grpSp>
        <p:nvGrpSpPr>
          <p:cNvPr id="93" name="Group 92">
            <a:extLst>
              <a:ext uri="{FF2B5EF4-FFF2-40B4-BE49-F238E27FC236}">
                <a16:creationId xmlns:a16="http://schemas.microsoft.com/office/drawing/2014/main" id="{1B8C55A9-97EF-5369-7716-CDF02CCF7853}"/>
              </a:ext>
            </a:extLst>
          </p:cNvPr>
          <p:cNvGrpSpPr/>
          <p:nvPr/>
        </p:nvGrpSpPr>
        <p:grpSpPr>
          <a:xfrm>
            <a:off x="11571869" y="2479743"/>
            <a:ext cx="913765" cy="913765"/>
            <a:chOff x="0" y="0"/>
            <a:chExt cx="812800" cy="812800"/>
          </a:xfrm>
        </p:grpSpPr>
        <p:sp>
          <p:nvSpPr>
            <p:cNvPr id="127" name="Freeform 4">
              <a:extLst>
                <a:ext uri="{FF2B5EF4-FFF2-40B4-BE49-F238E27FC236}">
                  <a16:creationId xmlns:a16="http://schemas.microsoft.com/office/drawing/2014/main" id="{C13FDBC3-644E-6056-862D-7CEB929972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A600"/>
            </a:solidFill>
            <a:ln cap="sq">
              <a:noFill/>
              <a:prstDash val="solid"/>
              <a:miter/>
            </a:ln>
          </p:spPr>
          <p:txBody>
            <a:bodyPr/>
            <a:lstStyle/>
            <a:p>
              <a:endParaRPr lang="en-US"/>
            </a:p>
          </p:txBody>
        </p:sp>
        <p:sp>
          <p:nvSpPr>
            <p:cNvPr id="128" name="TextBox 5">
              <a:extLst>
                <a:ext uri="{FF2B5EF4-FFF2-40B4-BE49-F238E27FC236}">
                  <a16:creationId xmlns:a16="http://schemas.microsoft.com/office/drawing/2014/main" id="{888E2A96-71CE-0FC2-4768-9DBB174DE214}"/>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grpSp>
        <p:nvGrpSpPr>
          <p:cNvPr id="94" name="Group 93">
            <a:extLst>
              <a:ext uri="{FF2B5EF4-FFF2-40B4-BE49-F238E27FC236}">
                <a16:creationId xmlns:a16="http://schemas.microsoft.com/office/drawing/2014/main" id="{72BE1AA6-C1F6-72B9-2629-0F8A86E887CD}"/>
              </a:ext>
            </a:extLst>
          </p:cNvPr>
          <p:cNvGrpSpPr/>
          <p:nvPr/>
        </p:nvGrpSpPr>
        <p:grpSpPr>
          <a:xfrm>
            <a:off x="10088539" y="2553139"/>
            <a:ext cx="766974" cy="766974"/>
            <a:chOff x="0" y="0"/>
            <a:chExt cx="812800" cy="812800"/>
          </a:xfrm>
        </p:grpSpPr>
        <p:sp>
          <p:nvSpPr>
            <p:cNvPr id="125" name="Freeform 7">
              <a:extLst>
                <a:ext uri="{FF2B5EF4-FFF2-40B4-BE49-F238E27FC236}">
                  <a16:creationId xmlns:a16="http://schemas.microsoft.com/office/drawing/2014/main" id="{BB63E470-7DA1-0ACE-DE51-0945499956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7F6"/>
            </a:solidFill>
            <a:ln w="66675" cap="sq">
              <a:solidFill>
                <a:srgbClr val="F49F4E"/>
              </a:solidFill>
              <a:prstDash val="solid"/>
              <a:miter/>
            </a:ln>
          </p:spPr>
          <p:txBody>
            <a:bodyPr/>
            <a:lstStyle/>
            <a:p>
              <a:endParaRPr lang="en-US"/>
            </a:p>
          </p:txBody>
        </p:sp>
        <p:sp>
          <p:nvSpPr>
            <p:cNvPr id="126" name="TextBox 8">
              <a:extLst>
                <a:ext uri="{FF2B5EF4-FFF2-40B4-BE49-F238E27FC236}">
                  <a16:creationId xmlns:a16="http://schemas.microsoft.com/office/drawing/2014/main" id="{386ECF7B-40EB-C34C-5DB4-B9A026776681}"/>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sp>
        <p:nvSpPr>
          <p:cNvPr id="95" name="AutoShape 9">
            <a:extLst>
              <a:ext uri="{FF2B5EF4-FFF2-40B4-BE49-F238E27FC236}">
                <a16:creationId xmlns:a16="http://schemas.microsoft.com/office/drawing/2014/main" id="{789378F5-5A35-5ABC-CA2D-4DB318303C6E}"/>
              </a:ext>
            </a:extLst>
          </p:cNvPr>
          <p:cNvSpPr/>
          <p:nvPr/>
        </p:nvSpPr>
        <p:spPr>
          <a:xfrm>
            <a:off x="10827487" y="2900867"/>
            <a:ext cx="1493485" cy="0"/>
          </a:xfrm>
          <a:prstGeom prst="line">
            <a:avLst/>
          </a:prstGeom>
          <a:ln w="38100" cap="flat">
            <a:solidFill>
              <a:srgbClr val="F49F4E"/>
            </a:solidFill>
            <a:prstDash val="solid"/>
            <a:headEnd type="none" w="sm" len="sm"/>
            <a:tailEnd type="triangle" w="lg" len="med"/>
          </a:ln>
        </p:spPr>
        <p:txBody>
          <a:bodyPr/>
          <a:lstStyle/>
          <a:p>
            <a:endParaRPr lang="en-US"/>
          </a:p>
        </p:txBody>
      </p:sp>
      <p:grpSp>
        <p:nvGrpSpPr>
          <p:cNvPr id="96" name="Group 95">
            <a:extLst>
              <a:ext uri="{FF2B5EF4-FFF2-40B4-BE49-F238E27FC236}">
                <a16:creationId xmlns:a16="http://schemas.microsoft.com/office/drawing/2014/main" id="{CD39C052-B1D1-003E-D33D-3E608948049A}"/>
              </a:ext>
            </a:extLst>
          </p:cNvPr>
          <p:cNvGrpSpPr/>
          <p:nvPr/>
        </p:nvGrpSpPr>
        <p:grpSpPr>
          <a:xfrm>
            <a:off x="11571869" y="4168753"/>
            <a:ext cx="913765" cy="913765"/>
            <a:chOff x="0" y="0"/>
            <a:chExt cx="812800" cy="812800"/>
          </a:xfrm>
        </p:grpSpPr>
        <p:sp>
          <p:nvSpPr>
            <p:cNvPr id="123" name="Freeform 11">
              <a:extLst>
                <a:ext uri="{FF2B5EF4-FFF2-40B4-BE49-F238E27FC236}">
                  <a16:creationId xmlns:a16="http://schemas.microsoft.com/office/drawing/2014/main" id="{98ADB8B1-1570-370E-793A-ADDDF0CB140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AE041"/>
            </a:solidFill>
            <a:ln cap="sq">
              <a:noFill/>
              <a:prstDash val="solid"/>
              <a:miter/>
            </a:ln>
          </p:spPr>
          <p:txBody>
            <a:bodyPr/>
            <a:lstStyle/>
            <a:p>
              <a:endParaRPr lang="en-US"/>
            </a:p>
          </p:txBody>
        </p:sp>
        <p:sp>
          <p:nvSpPr>
            <p:cNvPr id="124" name="TextBox 12">
              <a:extLst>
                <a:ext uri="{FF2B5EF4-FFF2-40B4-BE49-F238E27FC236}">
                  <a16:creationId xmlns:a16="http://schemas.microsoft.com/office/drawing/2014/main" id="{05E84A45-276C-0792-FDEB-E84944BBD08C}"/>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grpSp>
        <p:nvGrpSpPr>
          <p:cNvPr id="97" name="Group 96">
            <a:extLst>
              <a:ext uri="{FF2B5EF4-FFF2-40B4-BE49-F238E27FC236}">
                <a16:creationId xmlns:a16="http://schemas.microsoft.com/office/drawing/2014/main" id="{4C7C6C2A-5A22-A7B7-16B7-2D0E4946E68F}"/>
              </a:ext>
            </a:extLst>
          </p:cNvPr>
          <p:cNvGrpSpPr/>
          <p:nvPr/>
        </p:nvGrpSpPr>
        <p:grpSpPr>
          <a:xfrm>
            <a:off x="10088539" y="4242149"/>
            <a:ext cx="766974" cy="766974"/>
            <a:chOff x="0" y="0"/>
            <a:chExt cx="812800" cy="812800"/>
          </a:xfrm>
        </p:grpSpPr>
        <p:sp>
          <p:nvSpPr>
            <p:cNvPr id="121" name="Freeform 14">
              <a:extLst>
                <a:ext uri="{FF2B5EF4-FFF2-40B4-BE49-F238E27FC236}">
                  <a16:creationId xmlns:a16="http://schemas.microsoft.com/office/drawing/2014/main" id="{8680C644-BF08-7256-CC5E-F9317A5B6F5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7F6"/>
            </a:solidFill>
            <a:ln w="66675" cap="sq">
              <a:solidFill>
                <a:srgbClr val="8AE041"/>
              </a:solidFill>
              <a:prstDash val="solid"/>
              <a:miter/>
            </a:ln>
          </p:spPr>
          <p:txBody>
            <a:bodyPr/>
            <a:lstStyle/>
            <a:p>
              <a:endParaRPr lang="en-US"/>
            </a:p>
          </p:txBody>
        </p:sp>
        <p:sp>
          <p:nvSpPr>
            <p:cNvPr id="122" name="TextBox 15">
              <a:extLst>
                <a:ext uri="{FF2B5EF4-FFF2-40B4-BE49-F238E27FC236}">
                  <a16:creationId xmlns:a16="http://schemas.microsoft.com/office/drawing/2014/main" id="{20A55BDD-062E-6BF9-902D-B5E3F5612F0C}"/>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sp>
        <p:nvSpPr>
          <p:cNvPr id="98" name="AutoShape 16">
            <a:extLst>
              <a:ext uri="{FF2B5EF4-FFF2-40B4-BE49-F238E27FC236}">
                <a16:creationId xmlns:a16="http://schemas.microsoft.com/office/drawing/2014/main" id="{E45F6B7B-D127-099E-F23E-B8234136131A}"/>
              </a:ext>
            </a:extLst>
          </p:cNvPr>
          <p:cNvSpPr/>
          <p:nvPr/>
        </p:nvSpPr>
        <p:spPr>
          <a:xfrm>
            <a:off x="10827487" y="4625636"/>
            <a:ext cx="1493485" cy="0"/>
          </a:xfrm>
          <a:prstGeom prst="line">
            <a:avLst/>
          </a:prstGeom>
          <a:ln w="38100" cap="flat">
            <a:solidFill>
              <a:srgbClr val="8AE041"/>
            </a:solidFill>
            <a:prstDash val="solid"/>
            <a:headEnd type="none" w="sm" len="sm"/>
            <a:tailEnd type="triangle" w="lg" len="med"/>
          </a:ln>
        </p:spPr>
        <p:txBody>
          <a:bodyPr/>
          <a:lstStyle/>
          <a:p>
            <a:endParaRPr lang="en-US"/>
          </a:p>
        </p:txBody>
      </p:sp>
      <p:grpSp>
        <p:nvGrpSpPr>
          <p:cNvPr id="99" name="Group 98">
            <a:extLst>
              <a:ext uri="{FF2B5EF4-FFF2-40B4-BE49-F238E27FC236}">
                <a16:creationId xmlns:a16="http://schemas.microsoft.com/office/drawing/2014/main" id="{609893F1-117B-02CC-00FC-FBF826232317}"/>
              </a:ext>
            </a:extLst>
          </p:cNvPr>
          <p:cNvGrpSpPr/>
          <p:nvPr/>
        </p:nvGrpSpPr>
        <p:grpSpPr>
          <a:xfrm>
            <a:off x="11571869" y="5818057"/>
            <a:ext cx="913765" cy="913765"/>
            <a:chOff x="0" y="0"/>
            <a:chExt cx="812800" cy="812800"/>
          </a:xfrm>
        </p:grpSpPr>
        <p:sp>
          <p:nvSpPr>
            <p:cNvPr id="119" name="Freeform 18">
              <a:extLst>
                <a:ext uri="{FF2B5EF4-FFF2-40B4-BE49-F238E27FC236}">
                  <a16:creationId xmlns:a16="http://schemas.microsoft.com/office/drawing/2014/main" id="{0DA712BF-0339-A805-4706-FA219A9228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0A4B4"/>
            </a:solidFill>
            <a:ln cap="sq">
              <a:noFill/>
              <a:prstDash val="solid"/>
              <a:miter/>
            </a:ln>
          </p:spPr>
          <p:txBody>
            <a:bodyPr/>
            <a:lstStyle/>
            <a:p>
              <a:endParaRPr lang="en-US"/>
            </a:p>
          </p:txBody>
        </p:sp>
        <p:sp>
          <p:nvSpPr>
            <p:cNvPr id="120" name="TextBox 19">
              <a:extLst>
                <a:ext uri="{FF2B5EF4-FFF2-40B4-BE49-F238E27FC236}">
                  <a16:creationId xmlns:a16="http://schemas.microsoft.com/office/drawing/2014/main" id="{DC0ACA0D-CEDC-3EDC-7A31-C05A4A2A6D6F}"/>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grpSp>
        <p:nvGrpSpPr>
          <p:cNvPr id="100" name="Group 99">
            <a:extLst>
              <a:ext uri="{FF2B5EF4-FFF2-40B4-BE49-F238E27FC236}">
                <a16:creationId xmlns:a16="http://schemas.microsoft.com/office/drawing/2014/main" id="{4A7DDF5F-34A4-53C5-3AF9-F70AE50D67DE}"/>
              </a:ext>
            </a:extLst>
          </p:cNvPr>
          <p:cNvGrpSpPr/>
          <p:nvPr/>
        </p:nvGrpSpPr>
        <p:grpSpPr>
          <a:xfrm>
            <a:off x="10088539" y="5891452"/>
            <a:ext cx="766974" cy="766974"/>
            <a:chOff x="0" y="0"/>
            <a:chExt cx="812800" cy="812800"/>
          </a:xfrm>
        </p:grpSpPr>
        <p:sp>
          <p:nvSpPr>
            <p:cNvPr id="117" name="Freeform 21">
              <a:extLst>
                <a:ext uri="{FF2B5EF4-FFF2-40B4-BE49-F238E27FC236}">
                  <a16:creationId xmlns:a16="http://schemas.microsoft.com/office/drawing/2014/main" id="{7541107D-59AD-D9E2-374C-E3C1329EF16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7F6"/>
            </a:solidFill>
            <a:ln w="66675" cap="sq">
              <a:solidFill>
                <a:srgbClr val="40A4B4"/>
              </a:solidFill>
              <a:prstDash val="solid"/>
              <a:miter/>
            </a:ln>
          </p:spPr>
          <p:txBody>
            <a:bodyPr/>
            <a:lstStyle/>
            <a:p>
              <a:endParaRPr lang="en-US"/>
            </a:p>
          </p:txBody>
        </p:sp>
        <p:sp>
          <p:nvSpPr>
            <p:cNvPr id="118" name="TextBox 22">
              <a:extLst>
                <a:ext uri="{FF2B5EF4-FFF2-40B4-BE49-F238E27FC236}">
                  <a16:creationId xmlns:a16="http://schemas.microsoft.com/office/drawing/2014/main" id="{9F6AB382-C550-40AD-14B0-BB6EE1A73898}"/>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sp>
        <p:nvSpPr>
          <p:cNvPr id="101" name="AutoShape 23">
            <a:extLst>
              <a:ext uri="{FF2B5EF4-FFF2-40B4-BE49-F238E27FC236}">
                <a16:creationId xmlns:a16="http://schemas.microsoft.com/office/drawing/2014/main" id="{542E0B56-408F-D542-4946-175E5BAD18D8}"/>
              </a:ext>
            </a:extLst>
          </p:cNvPr>
          <p:cNvSpPr/>
          <p:nvPr/>
        </p:nvSpPr>
        <p:spPr>
          <a:xfrm>
            <a:off x="10827487" y="6253667"/>
            <a:ext cx="1493485" cy="0"/>
          </a:xfrm>
          <a:prstGeom prst="line">
            <a:avLst/>
          </a:prstGeom>
          <a:ln w="38100" cap="flat">
            <a:solidFill>
              <a:srgbClr val="40A4B4"/>
            </a:solidFill>
            <a:prstDash val="solid"/>
            <a:headEnd type="none" w="sm" len="sm"/>
            <a:tailEnd type="triangle" w="lg" len="med"/>
          </a:ln>
        </p:spPr>
        <p:txBody>
          <a:bodyPr/>
          <a:lstStyle/>
          <a:p>
            <a:endParaRPr lang="en-US"/>
          </a:p>
        </p:txBody>
      </p:sp>
      <p:grpSp>
        <p:nvGrpSpPr>
          <p:cNvPr id="102" name="Group 101">
            <a:extLst>
              <a:ext uri="{FF2B5EF4-FFF2-40B4-BE49-F238E27FC236}">
                <a16:creationId xmlns:a16="http://schemas.microsoft.com/office/drawing/2014/main" id="{535D7C62-5E21-F4B3-397C-2850AB36A7CA}"/>
              </a:ext>
            </a:extLst>
          </p:cNvPr>
          <p:cNvGrpSpPr/>
          <p:nvPr/>
        </p:nvGrpSpPr>
        <p:grpSpPr>
          <a:xfrm>
            <a:off x="11571869" y="7334000"/>
            <a:ext cx="913765" cy="913765"/>
            <a:chOff x="0" y="0"/>
            <a:chExt cx="812800" cy="812800"/>
          </a:xfrm>
        </p:grpSpPr>
        <p:sp>
          <p:nvSpPr>
            <p:cNvPr id="115" name="Freeform 25">
              <a:extLst>
                <a:ext uri="{FF2B5EF4-FFF2-40B4-BE49-F238E27FC236}">
                  <a16:creationId xmlns:a16="http://schemas.microsoft.com/office/drawing/2014/main" id="{4090BC45-9A45-F160-9952-B2D113286ED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4498C"/>
            </a:solidFill>
            <a:ln cap="sq">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116" name="TextBox 26">
              <a:extLst>
                <a:ext uri="{FF2B5EF4-FFF2-40B4-BE49-F238E27FC236}">
                  <a16:creationId xmlns:a16="http://schemas.microsoft.com/office/drawing/2014/main" id="{0F7B749A-0147-2CCA-34DF-AE56E016F6BB}"/>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grpSp>
        <p:nvGrpSpPr>
          <p:cNvPr id="103" name="Group 102">
            <a:extLst>
              <a:ext uri="{FF2B5EF4-FFF2-40B4-BE49-F238E27FC236}">
                <a16:creationId xmlns:a16="http://schemas.microsoft.com/office/drawing/2014/main" id="{2183F50C-EDC2-07F2-C2E0-0CE05F6FEA3A}"/>
              </a:ext>
            </a:extLst>
          </p:cNvPr>
          <p:cNvGrpSpPr/>
          <p:nvPr/>
        </p:nvGrpSpPr>
        <p:grpSpPr>
          <a:xfrm>
            <a:off x="10088539" y="7407396"/>
            <a:ext cx="766974" cy="766974"/>
            <a:chOff x="0" y="0"/>
            <a:chExt cx="812800" cy="812800"/>
          </a:xfrm>
        </p:grpSpPr>
        <p:sp>
          <p:nvSpPr>
            <p:cNvPr id="113" name="Freeform 28">
              <a:extLst>
                <a:ext uri="{FF2B5EF4-FFF2-40B4-BE49-F238E27FC236}">
                  <a16:creationId xmlns:a16="http://schemas.microsoft.com/office/drawing/2014/main" id="{1B5EFD5A-D768-EABA-7F31-C4EBE93138F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6F7F6"/>
            </a:solidFill>
            <a:ln w="66675" cap="sq">
              <a:solidFill>
                <a:srgbClr val="54498C"/>
              </a:solidFill>
              <a:prstDash val="solid"/>
              <a:miter/>
            </a:ln>
          </p:spPr>
          <p:txBody>
            <a:bodyPr/>
            <a:lstStyle/>
            <a:p>
              <a:endParaRPr lang="en-US"/>
            </a:p>
          </p:txBody>
        </p:sp>
        <p:sp>
          <p:nvSpPr>
            <p:cNvPr id="114" name="TextBox 29">
              <a:extLst>
                <a:ext uri="{FF2B5EF4-FFF2-40B4-BE49-F238E27FC236}">
                  <a16:creationId xmlns:a16="http://schemas.microsoft.com/office/drawing/2014/main" id="{DB4E993E-8ABF-4EFD-DC0D-E0F04B98C673}"/>
                </a:ext>
              </a:extLst>
            </p:cNvPr>
            <p:cNvSpPr txBox="1"/>
            <p:nvPr/>
          </p:nvSpPr>
          <p:spPr>
            <a:xfrm>
              <a:off x="76200" y="57150"/>
              <a:ext cx="660400" cy="679450"/>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239"/>
                </a:lnSpc>
              </a:pPr>
              <a:endParaRPr>
                <a:latin typeface="Segoe UI" panose="020B0502040204020203" pitchFamily="34" charset="0"/>
                <a:cs typeface="Segoe UI" panose="020B0502040204020203" pitchFamily="34" charset="0"/>
              </a:endParaRPr>
            </a:p>
          </p:txBody>
        </p:sp>
      </p:grpSp>
      <p:sp>
        <p:nvSpPr>
          <p:cNvPr id="104" name="AutoShape 30">
            <a:extLst>
              <a:ext uri="{FF2B5EF4-FFF2-40B4-BE49-F238E27FC236}">
                <a16:creationId xmlns:a16="http://schemas.microsoft.com/office/drawing/2014/main" id="{6C06112E-B5FD-86A3-A804-220E7FAD9456}"/>
              </a:ext>
            </a:extLst>
          </p:cNvPr>
          <p:cNvSpPr/>
          <p:nvPr/>
        </p:nvSpPr>
        <p:spPr>
          <a:xfrm>
            <a:off x="10827487" y="7791200"/>
            <a:ext cx="1493485" cy="0"/>
          </a:xfrm>
          <a:prstGeom prst="line">
            <a:avLst/>
          </a:prstGeom>
          <a:ln w="38100" cap="flat">
            <a:solidFill>
              <a:srgbClr val="54498C"/>
            </a:solidFill>
            <a:prstDash val="solid"/>
            <a:headEnd type="none" w="sm" len="sm"/>
            <a:tailEnd type="triangle" w="lg" len="med"/>
          </a:ln>
        </p:spPr>
        <p:txBody>
          <a:bodyPr/>
          <a:lstStyle/>
          <a:p>
            <a:endParaRPr lang="en-US"/>
          </a:p>
        </p:txBody>
      </p:sp>
      <p:sp>
        <p:nvSpPr>
          <p:cNvPr id="105" name="Freeform 31">
            <a:extLst>
              <a:ext uri="{FF2B5EF4-FFF2-40B4-BE49-F238E27FC236}">
                <a16:creationId xmlns:a16="http://schemas.microsoft.com/office/drawing/2014/main" id="{FD8C93DC-B9ED-192F-F50F-A4506EF3637D}"/>
              </a:ext>
            </a:extLst>
          </p:cNvPr>
          <p:cNvSpPr/>
          <p:nvPr/>
        </p:nvSpPr>
        <p:spPr>
          <a:xfrm>
            <a:off x="11781395" y="2735648"/>
            <a:ext cx="494714" cy="401955"/>
          </a:xfrm>
          <a:custGeom>
            <a:avLst/>
            <a:gdLst/>
            <a:ahLst/>
            <a:cxnLst/>
            <a:rect l="l" t="t" r="r" b="b"/>
            <a:pathLst>
              <a:path w="494714" h="401955">
                <a:moveTo>
                  <a:pt x="0" y="0"/>
                </a:moveTo>
                <a:lnTo>
                  <a:pt x="494714" y="0"/>
                </a:lnTo>
                <a:lnTo>
                  <a:pt x="494714" y="401955"/>
                </a:lnTo>
                <a:lnTo>
                  <a:pt x="0" y="40195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6" name="Freeform 32">
            <a:extLst>
              <a:ext uri="{FF2B5EF4-FFF2-40B4-BE49-F238E27FC236}">
                <a16:creationId xmlns:a16="http://schemas.microsoft.com/office/drawing/2014/main" id="{435ACEFA-0209-A70B-C090-A8B3E95C4901}"/>
              </a:ext>
            </a:extLst>
          </p:cNvPr>
          <p:cNvSpPr/>
          <p:nvPr/>
        </p:nvSpPr>
        <p:spPr>
          <a:xfrm>
            <a:off x="11827774" y="4424658"/>
            <a:ext cx="401955" cy="401955"/>
          </a:xfrm>
          <a:custGeom>
            <a:avLst/>
            <a:gdLst/>
            <a:ahLst/>
            <a:cxnLst/>
            <a:rect l="l" t="t" r="r" b="b"/>
            <a:pathLst>
              <a:path w="401955" h="401955">
                <a:moveTo>
                  <a:pt x="0" y="0"/>
                </a:moveTo>
                <a:lnTo>
                  <a:pt x="401955" y="0"/>
                </a:lnTo>
                <a:lnTo>
                  <a:pt x="401955" y="401956"/>
                </a:lnTo>
                <a:lnTo>
                  <a:pt x="0" y="40195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7" name="Freeform 33">
            <a:extLst>
              <a:ext uri="{FF2B5EF4-FFF2-40B4-BE49-F238E27FC236}">
                <a16:creationId xmlns:a16="http://schemas.microsoft.com/office/drawing/2014/main" id="{14725475-D9F3-2E99-80E3-C04BE36B285D}"/>
              </a:ext>
            </a:extLst>
          </p:cNvPr>
          <p:cNvSpPr/>
          <p:nvPr/>
        </p:nvSpPr>
        <p:spPr>
          <a:xfrm>
            <a:off x="11807463" y="6053651"/>
            <a:ext cx="442577" cy="442577"/>
          </a:xfrm>
          <a:custGeom>
            <a:avLst/>
            <a:gdLst/>
            <a:ahLst/>
            <a:cxnLst/>
            <a:rect l="l" t="t" r="r" b="b"/>
            <a:pathLst>
              <a:path w="442577" h="442577">
                <a:moveTo>
                  <a:pt x="0" y="0"/>
                </a:moveTo>
                <a:lnTo>
                  <a:pt x="442577" y="0"/>
                </a:lnTo>
                <a:lnTo>
                  <a:pt x="442577" y="442577"/>
                </a:lnTo>
                <a:lnTo>
                  <a:pt x="0" y="442577"/>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8" name="Freeform 34">
            <a:extLst>
              <a:ext uri="{FF2B5EF4-FFF2-40B4-BE49-F238E27FC236}">
                <a16:creationId xmlns:a16="http://schemas.microsoft.com/office/drawing/2014/main" id="{1AF2676E-4B21-92F8-49A7-BC470C4FC6D0}"/>
              </a:ext>
            </a:extLst>
          </p:cNvPr>
          <p:cNvSpPr/>
          <p:nvPr/>
        </p:nvSpPr>
        <p:spPr>
          <a:xfrm>
            <a:off x="11807463" y="7549067"/>
            <a:ext cx="442577" cy="350189"/>
          </a:xfrm>
          <a:custGeom>
            <a:avLst/>
            <a:gdLst/>
            <a:ahLst/>
            <a:cxnLst/>
            <a:rect l="l" t="t" r="r" b="b"/>
            <a:pathLst>
              <a:path w="442577" h="350189">
                <a:moveTo>
                  <a:pt x="0" y="0"/>
                </a:moveTo>
                <a:lnTo>
                  <a:pt x="442577" y="0"/>
                </a:lnTo>
                <a:lnTo>
                  <a:pt x="442577" y="350189"/>
                </a:lnTo>
                <a:lnTo>
                  <a:pt x="0" y="350189"/>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09" name="TextBox 37">
            <a:extLst>
              <a:ext uri="{FF2B5EF4-FFF2-40B4-BE49-F238E27FC236}">
                <a16:creationId xmlns:a16="http://schemas.microsoft.com/office/drawing/2014/main" id="{6FBF023D-8E45-C3C4-D0C9-E8BB6E740B63}"/>
              </a:ext>
            </a:extLst>
          </p:cNvPr>
          <p:cNvSpPr txBox="1"/>
          <p:nvPr/>
        </p:nvSpPr>
        <p:spPr>
          <a:xfrm>
            <a:off x="10249745" y="2717843"/>
            <a:ext cx="444560" cy="37439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14"/>
              </a:lnSpc>
              <a:spcBef>
                <a:spcPct val="0"/>
              </a:spcBef>
            </a:pPr>
            <a:r>
              <a:rPr lang="en-US" sz="2296" b="1" dirty="0">
                <a:solidFill>
                  <a:srgbClr val="000000"/>
                </a:solidFill>
                <a:latin typeface="Segoe UI" panose="020B0502040204020203" pitchFamily="34" charset="0"/>
                <a:ea typeface="Garet Bold"/>
                <a:cs typeface="Segoe UI" panose="020B0502040204020203" pitchFamily="34" charset="0"/>
                <a:sym typeface="Garet Bold"/>
              </a:rPr>
              <a:t>01</a:t>
            </a:r>
          </a:p>
        </p:txBody>
      </p:sp>
      <p:sp>
        <p:nvSpPr>
          <p:cNvPr id="110" name="TextBox 40">
            <a:extLst>
              <a:ext uri="{FF2B5EF4-FFF2-40B4-BE49-F238E27FC236}">
                <a16:creationId xmlns:a16="http://schemas.microsoft.com/office/drawing/2014/main" id="{A402C804-C67F-E37D-0103-34BD7DC99490}"/>
              </a:ext>
            </a:extLst>
          </p:cNvPr>
          <p:cNvSpPr txBox="1"/>
          <p:nvPr/>
        </p:nvSpPr>
        <p:spPr>
          <a:xfrm>
            <a:off x="10249745" y="4406853"/>
            <a:ext cx="444560" cy="37439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14"/>
              </a:lnSpc>
              <a:spcBef>
                <a:spcPct val="0"/>
              </a:spcBef>
            </a:pPr>
            <a:r>
              <a:rPr lang="en-US" sz="2296" b="1" dirty="0">
                <a:solidFill>
                  <a:srgbClr val="000000"/>
                </a:solidFill>
                <a:latin typeface="Segoe UI" panose="020B0502040204020203" pitchFamily="34" charset="0"/>
                <a:ea typeface="Garet Bold"/>
                <a:cs typeface="Segoe UI" panose="020B0502040204020203" pitchFamily="34" charset="0"/>
                <a:sym typeface="Garet Bold"/>
              </a:rPr>
              <a:t>02</a:t>
            </a:r>
          </a:p>
        </p:txBody>
      </p:sp>
      <p:sp>
        <p:nvSpPr>
          <p:cNvPr id="111" name="TextBox 43">
            <a:extLst>
              <a:ext uri="{FF2B5EF4-FFF2-40B4-BE49-F238E27FC236}">
                <a16:creationId xmlns:a16="http://schemas.microsoft.com/office/drawing/2014/main" id="{FB5EA93D-78EC-D670-89A1-3BAA0D3129AB}"/>
              </a:ext>
            </a:extLst>
          </p:cNvPr>
          <p:cNvSpPr txBox="1"/>
          <p:nvPr/>
        </p:nvSpPr>
        <p:spPr>
          <a:xfrm>
            <a:off x="10249745" y="6056156"/>
            <a:ext cx="444560" cy="37439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14"/>
              </a:lnSpc>
              <a:spcBef>
                <a:spcPct val="0"/>
              </a:spcBef>
            </a:pPr>
            <a:r>
              <a:rPr lang="en-US" sz="2296" b="1" dirty="0">
                <a:solidFill>
                  <a:srgbClr val="000000"/>
                </a:solidFill>
                <a:latin typeface="Segoe UI" panose="020B0502040204020203" pitchFamily="34" charset="0"/>
                <a:ea typeface="Garet Bold"/>
                <a:cs typeface="Segoe UI" panose="020B0502040204020203" pitchFamily="34" charset="0"/>
                <a:sym typeface="Garet Bold"/>
              </a:rPr>
              <a:t>03</a:t>
            </a:r>
          </a:p>
        </p:txBody>
      </p:sp>
      <p:sp>
        <p:nvSpPr>
          <p:cNvPr id="112" name="TextBox 46">
            <a:extLst>
              <a:ext uri="{FF2B5EF4-FFF2-40B4-BE49-F238E27FC236}">
                <a16:creationId xmlns:a16="http://schemas.microsoft.com/office/drawing/2014/main" id="{636362F3-9CED-8073-CF2F-C8F41DE61C0F}"/>
              </a:ext>
            </a:extLst>
          </p:cNvPr>
          <p:cNvSpPr txBox="1"/>
          <p:nvPr/>
        </p:nvSpPr>
        <p:spPr>
          <a:xfrm>
            <a:off x="10249745" y="7572100"/>
            <a:ext cx="444560" cy="374398"/>
          </a:xfrm>
          <a:prstGeom prst="rect">
            <a:avLst/>
          </a:prstGeom>
        </p:spPr>
        <p:txBody>
          <a:bodyPr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214"/>
              </a:lnSpc>
              <a:spcBef>
                <a:spcPct val="0"/>
              </a:spcBef>
            </a:pPr>
            <a:r>
              <a:rPr lang="en-US" sz="2296" b="1">
                <a:solidFill>
                  <a:srgbClr val="000000"/>
                </a:solidFill>
                <a:latin typeface="Segoe UI" panose="020B0502040204020203" pitchFamily="34" charset="0"/>
                <a:ea typeface="Garet Bold"/>
                <a:cs typeface="Segoe UI" panose="020B0502040204020203" pitchFamily="34" charset="0"/>
                <a:sym typeface="Garet Bold"/>
              </a:rPr>
              <a:t>04</a:t>
            </a:r>
          </a:p>
        </p:txBody>
      </p:sp>
    </p:spTree>
    <p:extLst>
      <p:ext uri="{BB962C8B-B14F-4D97-AF65-F5344CB8AC3E}">
        <p14:creationId xmlns:p14="http://schemas.microsoft.com/office/powerpoint/2010/main" val="818935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E4995A53-682A-75C4-B524-4702A1AFFB8B}"/>
            </a:ext>
          </a:extLst>
        </p:cNvPr>
        <p:cNvGrpSpPr/>
        <p:nvPr/>
      </p:nvGrpSpPr>
      <p:grpSpPr>
        <a:xfrm>
          <a:off x="0" y="0"/>
          <a:ext cx="0" cy="0"/>
          <a:chOff x="0" y="0"/>
          <a:chExt cx="0" cy="0"/>
        </a:xfrm>
      </p:grpSpPr>
      <p:sp>
        <p:nvSpPr>
          <p:cNvPr id="5" name="TextBox 6">
            <a:extLst>
              <a:ext uri="{FF2B5EF4-FFF2-40B4-BE49-F238E27FC236}">
                <a16:creationId xmlns:a16="http://schemas.microsoft.com/office/drawing/2014/main" id="{E4421CAB-8A56-DA38-419A-82CEC45CDCD9}"/>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6CC7A33C-1E4E-ADCB-05CE-184BC33B00CF}"/>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86A86D42-D96E-1FBA-6678-EAB27FB80D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FE05C13A-84C6-3B92-22B3-D13A2705BCDF}"/>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337B7F56-6244-C84A-8EEE-1EDE7F404B23}"/>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12" name="TextBox 7">
              <a:extLst>
                <a:ext uri="{FF2B5EF4-FFF2-40B4-BE49-F238E27FC236}">
                  <a16:creationId xmlns:a16="http://schemas.microsoft.com/office/drawing/2014/main" id="{A96B6FA2-858F-3510-60CB-DC2BF56A6725}"/>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35F13B3A-F228-AF34-EA5A-01679C5F9C76}"/>
              </a:ext>
            </a:extLst>
          </p:cNvPr>
          <p:cNvSpPr/>
          <p:nvPr/>
        </p:nvSpPr>
        <p:spPr>
          <a:xfrm>
            <a:off x="1142998" y="3086100"/>
            <a:ext cx="5867401" cy="24993"/>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D3873A62-2602-7E35-6A96-24CE17261C54}"/>
              </a:ext>
            </a:extLst>
          </p:cNvPr>
          <p:cNvSpPr txBox="1"/>
          <p:nvPr/>
        </p:nvSpPr>
        <p:spPr>
          <a:xfrm>
            <a:off x="1142999" y="2171700"/>
            <a:ext cx="6180975"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Security &amp; Privacy</a:t>
            </a:r>
          </a:p>
        </p:txBody>
      </p:sp>
      <p:grpSp>
        <p:nvGrpSpPr>
          <p:cNvPr id="2" name="Group 1">
            <a:extLst>
              <a:ext uri="{FF2B5EF4-FFF2-40B4-BE49-F238E27FC236}">
                <a16:creationId xmlns:a16="http://schemas.microsoft.com/office/drawing/2014/main" id="{15D1BBB4-9758-4572-47F6-FCEDC5B5A158}"/>
              </a:ext>
            </a:extLst>
          </p:cNvPr>
          <p:cNvGrpSpPr/>
          <p:nvPr/>
        </p:nvGrpSpPr>
        <p:grpSpPr>
          <a:xfrm>
            <a:off x="2815783" y="6515193"/>
            <a:ext cx="3827378" cy="2610701"/>
            <a:chOff x="0" y="0"/>
            <a:chExt cx="1008034" cy="687592"/>
          </a:xfrm>
        </p:grpSpPr>
        <p:sp>
          <p:nvSpPr>
            <p:cNvPr id="44" name="Freeform 3">
              <a:extLst>
                <a:ext uri="{FF2B5EF4-FFF2-40B4-BE49-F238E27FC236}">
                  <a16:creationId xmlns:a16="http://schemas.microsoft.com/office/drawing/2014/main" id="{10A4D00D-7856-6268-B465-85F56ED20552}"/>
                </a:ext>
              </a:extLst>
            </p:cNvPr>
            <p:cNvSpPr/>
            <p:nvPr/>
          </p:nvSpPr>
          <p:spPr>
            <a:xfrm>
              <a:off x="0" y="0"/>
              <a:ext cx="1008034" cy="687592"/>
            </a:xfrm>
            <a:custGeom>
              <a:avLst/>
              <a:gdLst/>
              <a:ahLst/>
              <a:cxnLst/>
              <a:rect l="l" t="t" r="r" b="b"/>
              <a:pathLst>
                <a:path w="1008034" h="687592">
                  <a:moveTo>
                    <a:pt x="30342" y="0"/>
                  </a:moveTo>
                  <a:lnTo>
                    <a:pt x="977692" y="0"/>
                  </a:lnTo>
                  <a:cubicBezTo>
                    <a:pt x="994449" y="0"/>
                    <a:pt x="1008034" y="13584"/>
                    <a:pt x="1008034" y="30342"/>
                  </a:cubicBezTo>
                  <a:lnTo>
                    <a:pt x="1008034" y="657250"/>
                  </a:lnTo>
                  <a:cubicBezTo>
                    <a:pt x="1008034" y="674008"/>
                    <a:pt x="994449" y="687592"/>
                    <a:pt x="977692" y="687592"/>
                  </a:cubicBezTo>
                  <a:lnTo>
                    <a:pt x="30342" y="687592"/>
                  </a:lnTo>
                  <a:cubicBezTo>
                    <a:pt x="22295" y="687592"/>
                    <a:pt x="14577" y="684395"/>
                    <a:pt x="8887" y="678705"/>
                  </a:cubicBezTo>
                  <a:cubicBezTo>
                    <a:pt x="3197" y="673015"/>
                    <a:pt x="0" y="665298"/>
                    <a:pt x="0" y="657250"/>
                  </a:cubicBezTo>
                  <a:lnTo>
                    <a:pt x="0" y="30342"/>
                  </a:lnTo>
                  <a:cubicBezTo>
                    <a:pt x="0" y="13584"/>
                    <a:pt x="13584" y="0"/>
                    <a:pt x="30342" y="0"/>
                  </a:cubicBezTo>
                  <a:close/>
                </a:path>
              </a:pathLst>
            </a:custGeom>
            <a:solidFill>
              <a:srgbClr val="3FBA64"/>
            </a:solidFill>
          </p:spPr>
          <p:txBody>
            <a:bodyPr/>
            <a:lstStyle/>
            <a:p>
              <a:endParaRPr lang="en-US"/>
            </a:p>
          </p:txBody>
        </p:sp>
        <p:sp>
          <p:nvSpPr>
            <p:cNvPr id="45" name="TextBox 4">
              <a:extLst>
                <a:ext uri="{FF2B5EF4-FFF2-40B4-BE49-F238E27FC236}">
                  <a16:creationId xmlns:a16="http://schemas.microsoft.com/office/drawing/2014/main" id="{EE6DCFE3-F382-DBA0-CD25-BE12C979C1A0}"/>
                </a:ext>
              </a:extLst>
            </p:cNvPr>
            <p:cNvSpPr txBox="1"/>
            <p:nvPr/>
          </p:nvSpPr>
          <p:spPr>
            <a:xfrm>
              <a:off x="0" y="28575"/>
              <a:ext cx="1008034" cy="659017"/>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3" name="Group 2">
            <a:extLst>
              <a:ext uri="{FF2B5EF4-FFF2-40B4-BE49-F238E27FC236}">
                <a16:creationId xmlns:a16="http://schemas.microsoft.com/office/drawing/2014/main" id="{69BCDFAA-9C50-FF63-F682-1EBE6B1DAAE6}"/>
              </a:ext>
            </a:extLst>
          </p:cNvPr>
          <p:cNvGrpSpPr/>
          <p:nvPr/>
        </p:nvGrpSpPr>
        <p:grpSpPr>
          <a:xfrm>
            <a:off x="2974628" y="4056892"/>
            <a:ext cx="3509687" cy="4916602"/>
            <a:chOff x="0" y="0"/>
            <a:chExt cx="924362" cy="1294907"/>
          </a:xfrm>
        </p:grpSpPr>
        <p:sp>
          <p:nvSpPr>
            <p:cNvPr id="42" name="Freeform 6">
              <a:extLst>
                <a:ext uri="{FF2B5EF4-FFF2-40B4-BE49-F238E27FC236}">
                  <a16:creationId xmlns:a16="http://schemas.microsoft.com/office/drawing/2014/main" id="{F6C2BC94-A1C0-5536-9C37-519B1CA4DF4B}"/>
                </a:ext>
              </a:extLst>
            </p:cNvPr>
            <p:cNvSpPr/>
            <p:nvPr/>
          </p:nvSpPr>
          <p:spPr>
            <a:xfrm>
              <a:off x="0" y="0"/>
              <a:ext cx="924362" cy="1294907"/>
            </a:xfrm>
            <a:custGeom>
              <a:avLst/>
              <a:gdLst/>
              <a:ahLst/>
              <a:cxnLst/>
              <a:rect l="l" t="t" r="r" b="b"/>
              <a:pathLst>
                <a:path w="924362" h="1294907">
                  <a:moveTo>
                    <a:pt x="33088" y="0"/>
                  </a:moveTo>
                  <a:lnTo>
                    <a:pt x="891274" y="0"/>
                  </a:lnTo>
                  <a:cubicBezTo>
                    <a:pt x="900050" y="0"/>
                    <a:pt x="908466" y="3486"/>
                    <a:pt x="914671" y="9691"/>
                  </a:cubicBezTo>
                  <a:cubicBezTo>
                    <a:pt x="920876" y="15896"/>
                    <a:pt x="924362" y="24313"/>
                    <a:pt x="924362" y="33088"/>
                  </a:cubicBezTo>
                  <a:lnTo>
                    <a:pt x="924362" y="1261819"/>
                  </a:lnTo>
                  <a:cubicBezTo>
                    <a:pt x="924362" y="1270595"/>
                    <a:pt x="920876" y="1279011"/>
                    <a:pt x="914671" y="1285216"/>
                  </a:cubicBezTo>
                  <a:cubicBezTo>
                    <a:pt x="908466" y="1291421"/>
                    <a:pt x="900050" y="1294907"/>
                    <a:pt x="891274" y="1294907"/>
                  </a:cubicBezTo>
                  <a:lnTo>
                    <a:pt x="33088" y="1294907"/>
                  </a:lnTo>
                  <a:cubicBezTo>
                    <a:pt x="14814" y="1294907"/>
                    <a:pt x="0" y="1280093"/>
                    <a:pt x="0" y="1261819"/>
                  </a:cubicBezTo>
                  <a:lnTo>
                    <a:pt x="0" y="33088"/>
                  </a:lnTo>
                  <a:cubicBezTo>
                    <a:pt x="0" y="24313"/>
                    <a:pt x="3486" y="15896"/>
                    <a:pt x="9691" y="9691"/>
                  </a:cubicBezTo>
                  <a:cubicBezTo>
                    <a:pt x="15896" y="3486"/>
                    <a:pt x="24313" y="0"/>
                    <a:pt x="33088" y="0"/>
                  </a:cubicBezTo>
                  <a:close/>
                </a:path>
              </a:pathLst>
            </a:custGeom>
            <a:solidFill>
              <a:srgbClr val="FFFFFF"/>
            </a:solidFill>
            <a:ln w="9525" cap="sq">
              <a:solidFill>
                <a:srgbClr val="000000"/>
              </a:solidFill>
              <a:prstDash val="solid"/>
              <a:miter/>
            </a:ln>
          </p:spPr>
          <p:txBody>
            <a:bodyPr/>
            <a:lstStyle/>
            <a:p>
              <a:endParaRPr lang="en-US"/>
            </a:p>
          </p:txBody>
        </p:sp>
        <p:sp>
          <p:nvSpPr>
            <p:cNvPr id="43" name="TextBox 7">
              <a:extLst>
                <a:ext uri="{FF2B5EF4-FFF2-40B4-BE49-F238E27FC236}">
                  <a16:creationId xmlns:a16="http://schemas.microsoft.com/office/drawing/2014/main" id="{93610E04-8AC6-B3DD-5D16-B690D4002090}"/>
                </a:ext>
              </a:extLst>
            </p:cNvPr>
            <p:cNvSpPr txBox="1"/>
            <p:nvPr/>
          </p:nvSpPr>
          <p:spPr>
            <a:xfrm>
              <a:off x="0" y="28575"/>
              <a:ext cx="924362" cy="126633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4" name="Group 3">
            <a:extLst>
              <a:ext uri="{FF2B5EF4-FFF2-40B4-BE49-F238E27FC236}">
                <a16:creationId xmlns:a16="http://schemas.microsoft.com/office/drawing/2014/main" id="{094C6E4F-78A7-51DA-848B-02FF904A6F51}"/>
              </a:ext>
            </a:extLst>
          </p:cNvPr>
          <p:cNvGrpSpPr/>
          <p:nvPr/>
        </p:nvGrpSpPr>
        <p:grpSpPr>
          <a:xfrm>
            <a:off x="3957946" y="3527408"/>
            <a:ext cx="1543050" cy="1543050"/>
            <a:chOff x="0" y="0"/>
            <a:chExt cx="812800" cy="812800"/>
          </a:xfrm>
        </p:grpSpPr>
        <p:sp>
          <p:nvSpPr>
            <p:cNvPr id="40" name="Freeform 9">
              <a:extLst>
                <a:ext uri="{FF2B5EF4-FFF2-40B4-BE49-F238E27FC236}">
                  <a16:creationId xmlns:a16="http://schemas.microsoft.com/office/drawing/2014/main" id="{FBC2D1B7-6372-9438-E4B7-3B4006C611F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FBA64"/>
            </a:solidFill>
          </p:spPr>
          <p:txBody>
            <a:bodyPr/>
            <a:lstStyle/>
            <a:p>
              <a:endParaRPr lang="en-US"/>
            </a:p>
          </p:txBody>
        </p:sp>
        <p:sp>
          <p:nvSpPr>
            <p:cNvPr id="41" name="TextBox 10">
              <a:extLst>
                <a:ext uri="{FF2B5EF4-FFF2-40B4-BE49-F238E27FC236}">
                  <a16:creationId xmlns:a16="http://schemas.microsoft.com/office/drawing/2014/main" id="{78E5D8CC-1929-16A7-10EA-F6AA9FC259D3}"/>
                </a:ext>
              </a:extLst>
            </p:cNvPr>
            <p:cNvSpPr txBox="1"/>
            <p:nvPr/>
          </p:nvSpPr>
          <p:spPr>
            <a:xfrm>
              <a:off x="76200" y="104775"/>
              <a:ext cx="660400" cy="63182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6" name="Group 5">
            <a:extLst>
              <a:ext uri="{FF2B5EF4-FFF2-40B4-BE49-F238E27FC236}">
                <a16:creationId xmlns:a16="http://schemas.microsoft.com/office/drawing/2014/main" id="{4A2BC914-BA23-815F-6E30-71F573A5D364}"/>
              </a:ext>
            </a:extLst>
          </p:cNvPr>
          <p:cNvGrpSpPr/>
          <p:nvPr/>
        </p:nvGrpSpPr>
        <p:grpSpPr>
          <a:xfrm>
            <a:off x="7369345" y="6515193"/>
            <a:ext cx="3827378" cy="2610701"/>
            <a:chOff x="0" y="0"/>
            <a:chExt cx="1008034" cy="687592"/>
          </a:xfrm>
        </p:grpSpPr>
        <p:sp>
          <p:nvSpPr>
            <p:cNvPr id="38" name="Freeform 12">
              <a:extLst>
                <a:ext uri="{FF2B5EF4-FFF2-40B4-BE49-F238E27FC236}">
                  <a16:creationId xmlns:a16="http://schemas.microsoft.com/office/drawing/2014/main" id="{7436555F-7C3E-39DC-06C3-FAE09B7F7879}"/>
                </a:ext>
              </a:extLst>
            </p:cNvPr>
            <p:cNvSpPr/>
            <p:nvPr/>
          </p:nvSpPr>
          <p:spPr>
            <a:xfrm>
              <a:off x="0" y="0"/>
              <a:ext cx="1008034" cy="687592"/>
            </a:xfrm>
            <a:custGeom>
              <a:avLst/>
              <a:gdLst/>
              <a:ahLst/>
              <a:cxnLst/>
              <a:rect l="l" t="t" r="r" b="b"/>
              <a:pathLst>
                <a:path w="1008034" h="687592">
                  <a:moveTo>
                    <a:pt x="30342" y="0"/>
                  </a:moveTo>
                  <a:lnTo>
                    <a:pt x="977692" y="0"/>
                  </a:lnTo>
                  <a:cubicBezTo>
                    <a:pt x="994449" y="0"/>
                    <a:pt x="1008034" y="13584"/>
                    <a:pt x="1008034" y="30342"/>
                  </a:cubicBezTo>
                  <a:lnTo>
                    <a:pt x="1008034" y="657250"/>
                  </a:lnTo>
                  <a:cubicBezTo>
                    <a:pt x="1008034" y="674008"/>
                    <a:pt x="994449" y="687592"/>
                    <a:pt x="977692" y="687592"/>
                  </a:cubicBezTo>
                  <a:lnTo>
                    <a:pt x="30342" y="687592"/>
                  </a:lnTo>
                  <a:cubicBezTo>
                    <a:pt x="22295" y="687592"/>
                    <a:pt x="14577" y="684395"/>
                    <a:pt x="8887" y="678705"/>
                  </a:cubicBezTo>
                  <a:cubicBezTo>
                    <a:pt x="3197" y="673015"/>
                    <a:pt x="0" y="665298"/>
                    <a:pt x="0" y="657250"/>
                  </a:cubicBezTo>
                  <a:lnTo>
                    <a:pt x="0" y="30342"/>
                  </a:lnTo>
                  <a:cubicBezTo>
                    <a:pt x="0" y="13584"/>
                    <a:pt x="13584" y="0"/>
                    <a:pt x="30342" y="0"/>
                  </a:cubicBezTo>
                  <a:close/>
                </a:path>
              </a:pathLst>
            </a:custGeom>
            <a:solidFill>
              <a:srgbClr val="5950C5"/>
            </a:solidFill>
          </p:spPr>
          <p:txBody>
            <a:bodyPr/>
            <a:lstStyle/>
            <a:p>
              <a:endParaRPr lang="en-US"/>
            </a:p>
          </p:txBody>
        </p:sp>
        <p:sp>
          <p:nvSpPr>
            <p:cNvPr id="39" name="TextBox 13">
              <a:extLst>
                <a:ext uri="{FF2B5EF4-FFF2-40B4-BE49-F238E27FC236}">
                  <a16:creationId xmlns:a16="http://schemas.microsoft.com/office/drawing/2014/main" id="{27858C1C-A2E0-2B13-DCEA-0DAADF4B9A08}"/>
                </a:ext>
              </a:extLst>
            </p:cNvPr>
            <p:cNvSpPr txBox="1"/>
            <p:nvPr/>
          </p:nvSpPr>
          <p:spPr>
            <a:xfrm>
              <a:off x="0" y="28575"/>
              <a:ext cx="1008034" cy="659017"/>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9" name="Group 8">
            <a:extLst>
              <a:ext uri="{FF2B5EF4-FFF2-40B4-BE49-F238E27FC236}">
                <a16:creationId xmlns:a16="http://schemas.microsoft.com/office/drawing/2014/main" id="{85B53B00-8AC0-7D65-9D4F-6473FAC86277}"/>
              </a:ext>
            </a:extLst>
          </p:cNvPr>
          <p:cNvGrpSpPr/>
          <p:nvPr/>
        </p:nvGrpSpPr>
        <p:grpSpPr>
          <a:xfrm>
            <a:off x="7528190" y="4056892"/>
            <a:ext cx="3509687" cy="4916602"/>
            <a:chOff x="0" y="0"/>
            <a:chExt cx="924362" cy="1294907"/>
          </a:xfrm>
        </p:grpSpPr>
        <p:sp>
          <p:nvSpPr>
            <p:cNvPr id="36" name="Freeform 15">
              <a:extLst>
                <a:ext uri="{FF2B5EF4-FFF2-40B4-BE49-F238E27FC236}">
                  <a16:creationId xmlns:a16="http://schemas.microsoft.com/office/drawing/2014/main" id="{3C6A69DC-5D93-B610-781E-CE8494BF85D3}"/>
                </a:ext>
              </a:extLst>
            </p:cNvPr>
            <p:cNvSpPr/>
            <p:nvPr/>
          </p:nvSpPr>
          <p:spPr>
            <a:xfrm>
              <a:off x="0" y="0"/>
              <a:ext cx="924362" cy="1294907"/>
            </a:xfrm>
            <a:custGeom>
              <a:avLst/>
              <a:gdLst/>
              <a:ahLst/>
              <a:cxnLst/>
              <a:rect l="l" t="t" r="r" b="b"/>
              <a:pathLst>
                <a:path w="924362" h="1294907">
                  <a:moveTo>
                    <a:pt x="33088" y="0"/>
                  </a:moveTo>
                  <a:lnTo>
                    <a:pt x="891274" y="0"/>
                  </a:lnTo>
                  <a:cubicBezTo>
                    <a:pt x="900050" y="0"/>
                    <a:pt x="908466" y="3486"/>
                    <a:pt x="914671" y="9691"/>
                  </a:cubicBezTo>
                  <a:cubicBezTo>
                    <a:pt x="920876" y="15896"/>
                    <a:pt x="924362" y="24313"/>
                    <a:pt x="924362" y="33088"/>
                  </a:cubicBezTo>
                  <a:lnTo>
                    <a:pt x="924362" y="1261819"/>
                  </a:lnTo>
                  <a:cubicBezTo>
                    <a:pt x="924362" y="1270595"/>
                    <a:pt x="920876" y="1279011"/>
                    <a:pt x="914671" y="1285216"/>
                  </a:cubicBezTo>
                  <a:cubicBezTo>
                    <a:pt x="908466" y="1291421"/>
                    <a:pt x="900050" y="1294907"/>
                    <a:pt x="891274" y="1294907"/>
                  </a:cubicBezTo>
                  <a:lnTo>
                    <a:pt x="33088" y="1294907"/>
                  </a:lnTo>
                  <a:cubicBezTo>
                    <a:pt x="14814" y="1294907"/>
                    <a:pt x="0" y="1280093"/>
                    <a:pt x="0" y="1261819"/>
                  </a:cubicBezTo>
                  <a:lnTo>
                    <a:pt x="0" y="33088"/>
                  </a:lnTo>
                  <a:cubicBezTo>
                    <a:pt x="0" y="24313"/>
                    <a:pt x="3486" y="15896"/>
                    <a:pt x="9691" y="9691"/>
                  </a:cubicBezTo>
                  <a:cubicBezTo>
                    <a:pt x="15896" y="3486"/>
                    <a:pt x="24313" y="0"/>
                    <a:pt x="33088" y="0"/>
                  </a:cubicBezTo>
                  <a:close/>
                </a:path>
              </a:pathLst>
            </a:custGeom>
            <a:solidFill>
              <a:srgbClr val="FFFFFF"/>
            </a:solidFill>
            <a:ln w="9525" cap="sq">
              <a:solidFill>
                <a:srgbClr val="000000"/>
              </a:solidFill>
              <a:prstDash val="solid"/>
              <a:miter/>
            </a:ln>
          </p:spPr>
          <p:txBody>
            <a:bodyPr/>
            <a:lstStyle/>
            <a:p>
              <a:endParaRPr lang="en-US"/>
            </a:p>
          </p:txBody>
        </p:sp>
        <p:sp>
          <p:nvSpPr>
            <p:cNvPr id="37" name="TextBox 16">
              <a:extLst>
                <a:ext uri="{FF2B5EF4-FFF2-40B4-BE49-F238E27FC236}">
                  <a16:creationId xmlns:a16="http://schemas.microsoft.com/office/drawing/2014/main" id="{85DC9ED7-FD05-6418-6AFF-4C22A9D66606}"/>
                </a:ext>
              </a:extLst>
            </p:cNvPr>
            <p:cNvSpPr txBox="1"/>
            <p:nvPr/>
          </p:nvSpPr>
          <p:spPr>
            <a:xfrm>
              <a:off x="0" y="28575"/>
              <a:ext cx="924362" cy="126633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13" name="Group 12">
            <a:extLst>
              <a:ext uri="{FF2B5EF4-FFF2-40B4-BE49-F238E27FC236}">
                <a16:creationId xmlns:a16="http://schemas.microsoft.com/office/drawing/2014/main" id="{A8A660B6-EAC3-27E2-0E86-A2405E7CF515}"/>
              </a:ext>
            </a:extLst>
          </p:cNvPr>
          <p:cNvGrpSpPr/>
          <p:nvPr/>
        </p:nvGrpSpPr>
        <p:grpSpPr>
          <a:xfrm>
            <a:off x="8511509" y="3527408"/>
            <a:ext cx="1543050" cy="1543050"/>
            <a:chOff x="0" y="0"/>
            <a:chExt cx="812800" cy="812800"/>
          </a:xfrm>
        </p:grpSpPr>
        <p:sp>
          <p:nvSpPr>
            <p:cNvPr id="34" name="Freeform 18">
              <a:extLst>
                <a:ext uri="{FF2B5EF4-FFF2-40B4-BE49-F238E27FC236}">
                  <a16:creationId xmlns:a16="http://schemas.microsoft.com/office/drawing/2014/main" id="{DFBEC13A-70B9-B43B-69FC-AB5F52D693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950C5"/>
            </a:solidFill>
          </p:spPr>
          <p:txBody>
            <a:bodyPr/>
            <a:lstStyle/>
            <a:p>
              <a:endParaRPr lang="en-US"/>
            </a:p>
          </p:txBody>
        </p:sp>
        <p:sp>
          <p:nvSpPr>
            <p:cNvPr id="35" name="TextBox 19">
              <a:extLst>
                <a:ext uri="{FF2B5EF4-FFF2-40B4-BE49-F238E27FC236}">
                  <a16:creationId xmlns:a16="http://schemas.microsoft.com/office/drawing/2014/main" id="{E296EE23-33DA-1F35-D31D-9D83FB8D73F0}"/>
                </a:ext>
              </a:extLst>
            </p:cNvPr>
            <p:cNvSpPr txBox="1"/>
            <p:nvPr/>
          </p:nvSpPr>
          <p:spPr>
            <a:xfrm>
              <a:off x="76200" y="104775"/>
              <a:ext cx="660400" cy="63182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16" name="Group 15">
            <a:extLst>
              <a:ext uri="{FF2B5EF4-FFF2-40B4-BE49-F238E27FC236}">
                <a16:creationId xmlns:a16="http://schemas.microsoft.com/office/drawing/2014/main" id="{56454B88-3700-A68E-54A8-22683EE99F82}"/>
              </a:ext>
            </a:extLst>
          </p:cNvPr>
          <p:cNvGrpSpPr/>
          <p:nvPr/>
        </p:nvGrpSpPr>
        <p:grpSpPr>
          <a:xfrm>
            <a:off x="11920623" y="6515193"/>
            <a:ext cx="3827378" cy="2610701"/>
            <a:chOff x="0" y="0"/>
            <a:chExt cx="1008034" cy="687592"/>
          </a:xfrm>
        </p:grpSpPr>
        <p:sp>
          <p:nvSpPr>
            <p:cNvPr id="32" name="Freeform 21">
              <a:extLst>
                <a:ext uri="{FF2B5EF4-FFF2-40B4-BE49-F238E27FC236}">
                  <a16:creationId xmlns:a16="http://schemas.microsoft.com/office/drawing/2014/main" id="{B86C72A0-7277-A5BD-6DAC-A040219879DA}"/>
                </a:ext>
              </a:extLst>
            </p:cNvPr>
            <p:cNvSpPr/>
            <p:nvPr/>
          </p:nvSpPr>
          <p:spPr>
            <a:xfrm>
              <a:off x="0" y="0"/>
              <a:ext cx="1008034" cy="687592"/>
            </a:xfrm>
            <a:custGeom>
              <a:avLst/>
              <a:gdLst/>
              <a:ahLst/>
              <a:cxnLst/>
              <a:rect l="l" t="t" r="r" b="b"/>
              <a:pathLst>
                <a:path w="1008034" h="687592">
                  <a:moveTo>
                    <a:pt x="30342" y="0"/>
                  </a:moveTo>
                  <a:lnTo>
                    <a:pt x="977692" y="0"/>
                  </a:lnTo>
                  <a:cubicBezTo>
                    <a:pt x="994449" y="0"/>
                    <a:pt x="1008034" y="13584"/>
                    <a:pt x="1008034" y="30342"/>
                  </a:cubicBezTo>
                  <a:lnTo>
                    <a:pt x="1008034" y="657250"/>
                  </a:lnTo>
                  <a:cubicBezTo>
                    <a:pt x="1008034" y="674008"/>
                    <a:pt x="994449" y="687592"/>
                    <a:pt x="977692" y="687592"/>
                  </a:cubicBezTo>
                  <a:lnTo>
                    <a:pt x="30342" y="687592"/>
                  </a:lnTo>
                  <a:cubicBezTo>
                    <a:pt x="22295" y="687592"/>
                    <a:pt x="14577" y="684395"/>
                    <a:pt x="8887" y="678705"/>
                  </a:cubicBezTo>
                  <a:cubicBezTo>
                    <a:pt x="3197" y="673015"/>
                    <a:pt x="0" y="665298"/>
                    <a:pt x="0" y="657250"/>
                  </a:cubicBezTo>
                  <a:lnTo>
                    <a:pt x="0" y="30342"/>
                  </a:lnTo>
                  <a:cubicBezTo>
                    <a:pt x="0" y="13584"/>
                    <a:pt x="13584" y="0"/>
                    <a:pt x="30342" y="0"/>
                  </a:cubicBezTo>
                  <a:close/>
                </a:path>
              </a:pathLst>
            </a:custGeom>
            <a:solidFill>
              <a:srgbClr val="F47C2A"/>
            </a:solidFill>
          </p:spPr>
          <p:txBody>
            <a:bodyPr/>
            <a:lstStyle/>
            <a:p>
              <a:endParaRPr lang="en-US"/>
            </a:p>
          </p:txBody>
        </p:sp>
        <p:sp>
          <p:nvSpPr>
            <p:cNvPr id="33" name="TextBox 22">
              <a:extLst>
                <a:ext uri="{FF2B5EF4-FFF2-40B4-BE49-F238E27FC236}">
                  <a16:creationId xmlns:a16="http://schemas.microsoft.com/office/drawing/2014/main" id="{0318EFB3-5F1C-8D7F-42BA-544F30278352}"/>
                </a:ext>
              </a:extLst>
            </p:cNvPr>
            <p:cNvSpPr txBox="1"/>
            <p:nvPr/>
          </p:nvSpPr>
          <p:spPr>
            <a:xfrm>
              <a:off x="0" y="28575"/>
              <a:ext cx="1008034" cy="659017"/>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17" name="Group 16">
            <a:extLst>
              <a:ext uri="{FF2B5EF4-FFF2-40B4-BE49-F238E27FC236}">
                <a16:creationId xmlns:a16="http://schemas.microsoft.com/office/drawing/2014/main" id="{49A4BD2C-2806-5F43-87B3-A19B459AE999}"/>
              </a:ext>
            </a:extLst>
          </p:cNvPr>
          <p:cNvGrpSpPr/>
          <p:nvPr/>
        </p:nvGrpSpPr>
        <p:grpSpPr>
          <a:xfrm>
            <a:off x="12079468" y="4056892"/>
            <a:ext cx="3509687" cy="4916602"/>
            <a:chOff x="0" y="0"/>
            <a:chExt cx="924362" cy="1294907"/>
          </a:xfrm>
        </p:grpSpPr>
        <p:sp>
          <p:nvSpPr>
            <p:cNvPr id="30" name="Freeform 24">
              <a:extLst>
                <a:ext uri="{FF2B5EF4-FFF2-40B4-BE49-F238E27FC236}">
                  <a16:creationId xmlns:a16="http://schemas.microsoft.com/office/drawing/2014/main" id="{C916AFAE-343A-9F0B-B158-C0A323421EA8}"/>
                </a:ext>
              </a:extLst>
            </p:cNvPr>
            <p:cNvSpPr/>
            <p:nvPr/>
          </p:nvSpPr>
          <p:spPr>
            <a:xfrm>
              <a:off x="0" y="0"/>
              <a:ext cx="924362" cy="1294907"/>
            </a:xfrm>
            <a:custGeom>
              <a:avLst/>
              <a:gdLst/>
              <a:ahLst/>
              <a:cxnLst/>
              <a:rect l="l" t="t" r="r" b="b"/>
              <a:pathLst>
                <a:path w="924362" h="1294907">
                  <a:moveTo>
                    <a:pt x="33088" y="0"/>
                  </a:moveTo>
                  <a:lnTo>
                    <a:pt x="891274" y="0"/>
                  </a:lnTo>
                  <a:cubicBezTo>
                    <a:pt x="900050" y="0"/>
                    <a:pt x="908466" y="3486"/>
                    <a:pt x="914671" y="9691"/>
                  </a:cubicBezTo>
                  <a:cubicBezTo>
                    <a:pt x="920876" y="15896"/>
                    <a:pt x="924362" y="24313"/>
                    <a:pt x="924362" y="33088"/>
                  </a:cubicBezTo>
                  <a:lnTo>
                    <a:pt x="924362" y="1261819"/>
                  </a:lnTo>
                  <a:cubicBezTo>
                    <a:pt x="924362" y="1270595"/>
                    <a:pt x="920876" y="1279011"/>
                    <a:pt x="914671" y="1285216"/>
                  </a:cubicBezTo>
                  <a:cubicBezTo>
                    <a:pt x="908466" y="1291421"/>
                    <a:pt x="900050" y="1294907"/>
                    <a:pt x="891274" y="1294907"/>
                  </a:cubicBezTo>
                  <a:lnTo>
                    <a:pt x="33088" y="1294907"/>
                  </a:lnTo>
                  <a:cubicBezTo>
                    <a:pt x="14814" y="1294907"/>
                    <a:pt x="0" y="1280093"/>
                    <a:pt x="0" y="1261819"/>
                  </a:cubicBezTo>
                  <a:lnTo>
                    <a:pt x="0" y="33088"/>
                  </a:lnTo>
                  <a:cubicBezTo>
                    <a:pt x="0" y="24313"/>
                    <a:pt x="3486" y="15896"/>
                    <a:pt x="9691" y="9691"/>
                  </a:cubicBezTo>
                  <a:cubicBezTo>
                    <a:pt x="15896" y="3486"/>
                    <a:pt x="24313" y="0"/>
                    <a:pt x="33088" y="0"/>
                  </a:cubicBezTo>
                  <a:close/>
                </a:path>
              </a:pathLst>
            </a:custGeom>
            <a:solidFill>
              <a:srgbClr val="FFFFFF"/>
            </a:solidFill>
            <a:ln w="9525" cap="sq">
              <a:solidFill>
                <a:srgbClr val="000000"/>
              </a:solidFill>
              <a:prstDash val="solid"/>
              <a:miter/>
            </a:ln>
          </p:spPr>
          <p:txBody>
            <a:bodyPr/>
            <a:lstStyle/>
            <a:p>
              <a:endParaRPr lang="en-US"/>
            </a:p>
          </p:txBody>
        </p:sp>
        <p:sp>
          <p:nvSpPr>
            <p:cNvPr id="31" name="TextBox 25">
              <a:extLst>
                <a:ext uri="{FF2B5EF4-FFF2-40B4-BE49-F238E27FC236}">
                  <a16:creationId xmlns:a16="http://schemas.microsoft.com/office/drawing/2014/main" id="{BBC1435A-F0DB-D1B2-8315-F336D71BEF17}"/>
                </a:ext>
              </a:extLst>
            </p:cNvPr>
            <p:cNvSpPr txBox="1"/>
            <p:nvPr/>
          </p:nvSpPr>
          <p:spPr>
            <a:xfrm>
              <a:off x="0" y="28575"/>
              <a:ext cx="924362" cy="1266332"/>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grpSp>
        <p:nvGrpSpPr>
          <p:cNvPr id="18" name="Group 17">
            <a:extLst>
              <a:ext uri="{FF2B5EF4-FFF2-40B4-BE49-F238E27FC236}">
                <a16:creationId xmlns:a16="http://schemas.microsoft.com/office/drawing/2014/main" id="{409C508C-A6B7-2392-0389-6A4D3C04B6D0}"/>
              </a:ext>
            </a:extLst>
          </p:cNvPr>
          <p:cNvGrpSpPr/>
          <p:nvPr/>
        </p:nvGrpSpPr>
        <p:grpSpPr>
          <a:xfrm>
            <a:off x="13062787" y="3527408"/>
            <a:ext cx="1543050" cy="1543050"/>
            <a:chOff x="0" y="0"/>
            <a:chExt cx="812800" cy="812800"/>
          </a:xfrm>
        </p:grpSpPr>
        <p:sp>
          <p:nvSpPr>
            <p:cNvPr id="28" name="Freeform 27">
              <a:extLst>
                <a:ext uri="{FF2B5EF4-FFF2-40B4-BE49-F238E27FC236}">
                  <a16:creationId xmlns:a16="http://schemas.microsoft.com/office/drawing/2014/main" id="{4F488F07-4827-6B86-0013-CDD0BB7D08D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7C2A"/>
            </a:solidFill>
          </p:spPr>
          <p:txBody>
            <a:bodyPr/>
            <a:lstStyle/>
            <a:p>
              <a:endParaRPr lang="en-US"/>
            </a:p>
          </p:txBody>
        </p:sp>
        <p:sp>
          <p:nvSpPr>
            <p:cNvPr id="29" name="TextBox 28">
              <a:extLst>
                <a:ext uri="{FF2B5EF4-FFF2-40B4-BE49-F238E27FC236}">
                  <a16:creationId xmlns:a16="http://schemas.microsoft.com/office/drawing/2014/main" id="{A3CF9D30-34D7-15B0-37C4-AFF5EF72073C}"/>
                </a:ext>
              </a:extLst>
            </p:cNvPr>
            <p:cNvSpPr txBox="1"/>
            <p:nvPr/>
          </p:nvSpPr>
          <p:spPr>
            <a:xfrm>
              <a:off x="76200" y="104775"/>
              <a:ext cx="660400" cy="631825"/>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100"/>
                </a:lnSpc>
              </a:pPr>
              <a:endParaRPr/>
            </a:p>
          </p:txBody>
        </p:sp>
      </p:grpSp>
      <p:sp>
        <p:nvSpPr>
          <p:cNvPr id="19" name="Freeform 29">
            <a:extLst>
              <a:ext uri="{FF2B5EF4-FFF2-40B4-BE49-F238E27FC236}">
                <a16:creationId xmlns:a16="http://schemas.microsoft.com/office/drawing/2014/main" id="{2D70629A-18A2-EE68-D067-93278E826E80}"/>
              </a:ext>
            </a:extLst>
          </p:cNvPr>
          <p:cNvSpPr/>
          <p:nvPr/>
        </p:nvSpPr>
        <p:spPr>
          <a:xfrm>
            <a:off x="13559033" y="3980189"/>
            <a:ext cx="550558" cy="637488"/>
          </a:xfrm>
          <a:custGeom>
            <a:avLst/>
            <a:gdLst/>
            <a:ahLst/>
            <a:cxnLst/>
            <a:rect l="l" t="t" r="r" b="b"/>
            <a:pathLst>
              <a:path w="550558" h="637488">
                <a:moveTo>
                  <a:pt x="0" y="0"/>
                </a:moveTo>
                <a:lnTo>
                  <a:pt x="550558" y="0"/>
                </a:lnTo>
                <a:lnTo>
                  <a:pt x="550558" y="637488"/>
                </a:lnTo>
                <a:lnTo>
                  <a:pt x="0" y="63748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0" name="Freeform 30">
            <a:extLst>
              <a:ext uri="{FF2B5EF4-FFF2-40B4-BE49-F238E27FC236}">
                <a16:creationId xmlns:a16="http://schemas.microsoft.com/office/drawing/2014/main" id="{3DFF10A8-A4AB-EBA2-3F56-F36245B562E5}"/>
              </a:ext>
            </a:extLst>
          </p:cNvPr>
          <p:cNvSpPr/>
          <p:nvPr/>
        </p:nvSpPr>
        <p:spPr>
          <a:xfrm>
            <a:off x="4383283" y="3895852"/>
            <a:ext cx="730477" cy="759925"/>
          </a:xfrm>
          <a:custGeom>
            <a:avLst/>
            <a:gdLst/>
            <a:ahLst/>
            <a:cxnLst/>
            <a:rect l="l" t="t" r="r" b="b"/>
            <a:pathLst>
              <a:path w="730477" h="759925">
                <a:moveTo>
                  <a:pt x="0" y="0"/>
                </a:moveTo>
                <a:lnTo>
                  <a:pt x="730477" y="0"/>
                </a:lnTo>
                <a:lnTo>
                  <a:pt x="730477" y="759925"/>
                </a:lnTo>
                <a:lnTo>
                  <a:pt x="0" y="7599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31">
            <a:extLst>
              <a:ext uri="{FF2B5EF4-FFF2-40B4-BE49-F238E27FC236}">
                <a16:creationId xmlns:a16="http://schemas.microsoft.com/office/drawing/2014/main" id="{299014B1-5B07-D35A-B9D6-D033AB1AD7D4}"/>
              </a:ext>
            </a:extLst>
          </p:cNvPr>
          <p:cNvSpPr/>
          <p:nvPr/>
        </p:nvSpPr>
        <p:spPr>
          <a:xfrm>
            <a:off x="8892787" y="3846846"/>
            <a:ext cx="812895" cy="857937"/>
          </a:xfrm>
          <a:custGeom>
            <a:avLst/>
            <a:gdLst/>
            <a:ahLst/>
            <a:cxnLst/>
            <a:rect l="l" t="t" r="r" b="b"/>
            <a:pathLst>
              <a:path w="812895" h="857937">
                <a:moveTo>
                  <a:pt x="0" y="0"/>
                </a:moveTo>
                <a:lnTo>
                  <a:pt x="812895" y="0"/>
                </a:lnTo>
                <a:lnTo>
                  <a:pt x="812895" y="857937"/>
                </a:lnTo>
                <a:lnTo>
                  <a:pt x="0" y="85793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2" name="TextBox 32">
            <a:extLst>
              <a:ext uri="{FF2B5EF4-FFF2-40B4-BE49-F238E27FC236}">
                <a16:creationId xmlns:a16="http://schemas.microsoft.com/office/drawing/2014/main" id="{BF1C8900-8534-8046-DFA6-E4B3C8EAABB8}"/>
              </a:ext>
            </a:extLst>
          </p:cNvPr>
          <p:cNvSpPr txBox="1"/>
          <p:nvPr/>
        </p:nvSpPr>
        <p:spPr>
          <a:xfrm>
            <a:off x="3710637" y="5372914"/>
            <a:ext cx="2037669" cy="345287"/>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599"/>
              </a:lnSpc>
            </a:pPr>
            <a:r>
              <a:rPr lang="en-US" sz="2599" b="1">
                <a:solidFill>
                  <a:srgbClr val="000000"/>
                </a:solidFill>
                <a:latin typeface="DM Sans Bold"/>
                <a:ea typeface="DM Sans Bold"/>
                <a:cs typeface="DM Sans Bold"/>
                <a:sym typeface="DM Sans Bold"/>
              </a:rPr>
              <a:t>Data Privacy</a:t>
            </a:r>
          </a:p>
        </p:txBody>
      </p:sp>
      <p:sp>
        <p:nvSpPr>
          <p:cNvPr id="23" name="TextBox 33">
            <a:extLst>
              <a:ext uri="{FF2B5EF4-FFF2-40B4-BE49-F238E27FC236}">
                <a16:creationId xmlns:a16="http://schemas.microsoft.com/office/drawing/2014/main" id="{7E3F6487-D0DA-F37D-8C6C-8CA58F26A65A}"/>
              </a:ext>
            </a:extLst>
          </p:cNvPr>
          <p:cNvSpPr txBox="1"/>
          <p:nvPr/>
        </p:nvSpPr>
        <p:spPr>
          <a:xfrm>
            <a:off x="3462402" y="5991029"/>
            <a:ext cx="2534140" cy="2358659"/>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3079"/>
              </a:lnSpc>
            </a:pPr>
            <a:r>
              <a:rPr lang="en-US" sz="2199" dirty="0">
                <a:solidFill>
                  <a:srgbClr val="191919"/>
                </a:solidFill>
                <a:latin typeface="Canva Sans"/>
                <a:ea typeface="Canva Sans"/>
                <a:cs typeface="Canva Sans"/>
                <a:sym typeface="Canva Sans"/>
              </a:rPr>
              <a:t>Your uploaded sales records are kept completely secure and are never shared with outside parties.</a:t>
            </a:r>
          </a:p>
        </p:txBody>
      </p:sp>
      <p:sp>
        <p:nvSpPr>
          <p:cNvPr id="24" name="TextBox 34">
            <a:extLst>
              <a:ext uri="{FF2B5EF4-FFF2-40B4-BE49-F238E27FC236}">
                <a16:creationId xmlns:a16="http://schemas.microsoft.com/office/drawing/2014/main" id="{B6CA07B2-187F-1F35-F912-363C61E42054}"/>
              </a:ext>
            </a:extLst>
          </p:cNvPr>
          <p:cNvSpPr txBox="1"/>
          <p:nvPr/>
        </p:nvSpPr>
        <p:spPr>
          <a:xfrm>
            <a:off x="8264199" y="5334814"/>
            <a:ext cx="2037669" cy="678712"/>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599"/>
              </a:lnSpc>
            </a:pPr>
            <a:r>
              <a:rPr lang="en-US" sz="2599" b="1">
                <a:solidFill>
                  <a:srgbClr val="000000"/>
                </a:solidFill>
                <a:latin typeface="DM Sans Bold"/>
                <a:ea typeface="DM Sans Bold"/>
                <a:cs typeface="DM Sans Bold"/>
                <a:sym typeface="DM Sans Bold"/>
              </a:rPr>
              <a:t>Safe Processing</a:t>
            </a:r>
          </a:p>
        </p:txBody>
      </p:sp>
      <p:sp>
        <p:nvSpPr>
          <p:cNvPr id="25" name="TextBox 35">
            <a:extLst>
              <a:ext uri="{FF2B5EF4-FFF2-40B4-BE49-F238E27FC236}">
                <a16:creationId xmlns:a16="http://schemas.microsoft.com/office/drawing/2014/main" id="{FC5269FE-90DF-86FB-8603-99AF20A0A444}"/>
              </a:ext>
            </a:extLst>
          </p:cNvPr>
          <p:cNvSpPr txBox="1"/>
          <p:nvPr/>
        </p:nvSpPr>
        <p:spPr>
          <a:xfrm>
            <a:off x="7987389" y="6029129"/>
            <a:ext cx="2768786" cy="275620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79"/>
              </a:lnSpc>
            </a:pPr>
            <a:r>
              <a:rPr lang="en-US" sz="2199" dirty="0">
                <a:solidFill>
                  <a:srgbClr val="191919"/>
                </a:solidFill>
                <a:latin typeface="Canva Sans"/>
                <a:ea typeface="Canva Sans"/>
                <a:cs typeface="Canva Sans"/>
                <a:sym typeface="Canva Sans"/>
              </a:rPr>
              <a:t> The AI analyzes your data securely in the background without permanently storing or exposing your sensitive files.</a:t>
            </a:r>
          </a:p>
        </p:txBody>
      </p:sp>
      <p:sp>
        <p:nvSpPr>
          <p:cNvPr id="26" name="TextBox 36">
            <a:extLst>
              <a:ext uri="{FF2B5EF4-FFF2-40B4-BE49-F238E27FC236}">
                <a16:creationId xmlns:a16="http://schemas.microsoft.com/office/drawing/2014/main" id="{62F46AA1-FC9F-5C55-F04B-3B3605563FEF}"/>
              </a:ext>
            </a:extLst>
          </p:cNvPr>
          <p:cNvSpPr txBox="1"/>
          <p:nvPr/>
        </p:nvSpPr>
        <p:spPr>
          <a:xfrm>
            <a:off x="12815477" y="5325289"/>
            <a:ext cx="2037669" cy="678776"/>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600"/>
              </a:lnSpc>
            </a:pPr>
            <a:r>
              <a:rPr lang="en-US" sz="2600" b="1">
                <a:solidFill>
                  <a:srgbClr val="000000"/>
                </a:solidFill>
                <a:latin typeface="DM Sans Bold"/>
                <a:ea typeface="DM Sans Bold"/>
                <a:cs typeface="DM Sans Bold"/>
                <a:sym typeface="DM Sans Bold"/>
              </a:rPr>
              <a:t>Business Protection</a:t>
            </a:r>
          </a:p>
        </p:txBody>
      </p:sp>
      <p:sp>
        <p:nvSpPr>
          <p:cNvPr id="27" name="TextBox 37">
            <a:extLst>
              <a:ext uri="{FF2B5EF4-FFF2-40B4-BE49-F238E27FC236}">
                <a16:creationId xmlns:a16="http://schemas.microsoft.com/office/drawing/2014/main" id="{73399B22-1542-0C33-BAAE-BD431FF84EBD}"/>
              </a:ext>
            </a:extLst>
          </p:cNvPr>
          <p:cNvSpPr txBox="1"/>
          <p:nvPr/>
        </p:nvSpPr>
        <p:spPr>
          <a:xfrm>
            <a:off x="12323355" y="6029129"/>
            <a:ext cx="3021913" cy="2756204"/>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3079"/>
              </a:lnSpc>
            </a:pPr>
            <a:r>
              <a:rPr lang="en-US" sz="2199" dirty="0">
                <a:solidFill>
                  <a:srgbClr val="191919"/>
                </a:solidFill>
                <a:latin typeface="Canva Sans"/>
                <a:ea typeface="Canva Sans"/>
                <a:cs typeface="Canva Sans"/>
                <a:sym typeface="Canva Sans"/>
              </a:rPr>
              <a:t>It ensures that your private business metrics—like profit margins and top losing products—stay strictly between you and the dashboard.</a:t>
            </a:r>
          </a:p>
        </p:txBody>
      </p:sp>
    </p:spTree>
    <p:extLst>
      <p:ext uri="{BB962C8B-B14F-4D97-AF65-F5344CB8AC3E}">
        <p14:creationId xmlns:p14="http://schemas.microsoft.com/office/powerpoint/2010/main" val="34318204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67B31895-E050-6B6F-F29A-E3B83C8C2123}"/>
            </a:ext>
          </a:extLst>
        </p:cNvPr>
        <p:cNvGrpSpPr/>
        <p:nvPr/>
      </p:nvGrpSpPr>
      <p:grpSpPr>
        <a:xfrm>
          <a:off x="0" y="0"/>
          <a:ext cx="0" cy="0"/>
          <a:chOff x="0" y="0"/>
          <a:chExt cx="0" cy="0"/>
        </a:xfrm>
      </p:grpSpPr>
      <p:sp>
        <p:nvSpPr>
          <p:cNvPr id="5" name="TextBox 6">
            <a:extLst>
              <a:ext uri="{FF2B5EF4-FFF2-40B4-BE49-F238E27FC236}">
                <a16:creationId xmlns:a16="http://schemas.microsoft.com/office/drawing/2014/main" id="{07C63F7E-28BD-3BAB-27B7-6582F0754F6A}"/>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A413AB95-F110-EE02-6440-43245C83529A}"/>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B7EFB950-3CAF-AAB9-B9FE-88E4A4817F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C16A2C7D-1A47-BED1-A873-719A96957CD8}"/>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B0B3C8DF-68C6-C8C4-01B6-7FE280979337}"/>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12" name="TextBox 7">
              <a:extLst>
                <a:ext uri="{FF2B5EF4-FFF2-40B4-BE49-F238E27FC236}">
                  <a16:creationId xmlns:a16="http://schemas.microsoft.com/office/drawing/2014/main" id="{004667CA-7221-503E-9463-A8B1004D3482}"/>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7B6DC8B4-1829-9691-BCAB-D17D26113BF5}"/>
              </a:ext>
            </a:extLst>
          </p:cNvPr>
          <p:cNvSpPr/>
          <p:nvPr/>
        </p:nvSpPr>
        <p:spPr>
          <a:xfrm>
            <a:off x="1142998" y="3356916"/>
            <a:ext cx="5105401" cy="21747"/>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E47235A9-2486-292B-2E5C-A3703E6422FC}"/>
              </a:ext>
            </a:extLst>
          </p:cNvPr>
          <p:cNvSpPr txBox="1"/>
          <p:nvPr/>
        </p:nvSpPr>
        <p:spPr>
          <a:xfrm>
            <a:off x="1142999" y="2476500"/>
            <a:ext cx="5410202"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System Benefits</a:t>
            </a:r>
          </a:p>
        </p:txBody>
      </p:sp>
      <p:sp>
        <p:nvSpPr>
          <p:cNvPr id="2" name="TextBox 1">
            <a:extLst>
              <a:ext uri="{FF2B5EF4-FFF2-40B4-BE49-F238E27FC236}">
                <a16:creationId xmlns:a16="http://schemas.microsoft.com/office/drawing/2014/main" id="{767CCD7E-03FC-7D09-CB7C-BCC501472472}"/>
              </a:ext>
            </a:extLst>
          </p:cNvPr>
          <p:cNvSpPr txBox="1"/>
          <p:nvPr/>
        </p:nvSpPr>
        <p:spPr>
          <a:xfrm>
            <a:off x="1066800" y="3543300"/>
            <a:ext cx="11679691" cy="1200329"/>
          </a:xfrm>
          <a:prstGeom prst="rect">
            <a:avLst/>
          </a:prstGeom>
          <a:noFill/>
        </p:spPr>
        <p:txBody>
          <a:bodyPr wrap="square" rtlCol="0">
            <a:spAutoFit/>
          </a:bodyPr>
          <a:lstStyle/>
          <a:p>
            <a:pPr algn="just"/>
            <a:r>
              <a:rPr lang="en-US" sz="2400" dirty="0">
                <a:latin typeface="Segoe UI Semibold" panose="020B0702040204020203" pitchFamily="34" charset="0"/>
                <a:cs typeface="Segoe UI Semibold" panose="020B0702040204020203" pitchFamily="34" charset="0"/>
              </a:rPr>
              <a:t>SalesOracle</a:t>
            </a:r>
            <a:r>
              <a:rPr lang="en-US" sz="2400" dirty="0">
                <a:latin typeface="Segoe UI" panose="020B0502040204020203" pitchFamily="34" charset="0"/>
                <a:cs typeface="Segoe UI" panose="020B0502040204020203" pitchFamily="34" charset="0"/>
              </a:rPr>
              <a:t> empowers retail businesses to make smarter, faster, and more profitable decisions. It replaces manual guesswork with AI driven insights that are easy to understand and act upon.</a:t>
            </a:r>
          </a:p>
        </p:txBody>
      </p:sp>
      <p:sp>
        <p:nvSpPr>
          <p:cNvPr id="3" name="TextBox 2">
            <a:extLst>
              <a:ext uri="{FF2B5EF4-FFF2-40B4-BE49-F238E27FC236}">
                <a16:creationId xmlns:a16="http://schemas.microsoft.com/office/drawing/2014/main" id="{C977D28E-0932-13D2-6D45-26A82BD00713}"/>
              </a:ext>
            </a:extLst>
          </p:cNvPr>
          <p:cNvSpPr txBox="1"/>
          <p:nvPr/>
        </p:nvSpPr>
        <p:spPr>
          <a:xfrm>
            <a:off x="1142999" y="5141768"/>
            <a:ext cx="15544801" cy="3108543"/>
          </a:xfrm>
          <a:prstGeom prst="rect">
            <a:avLst/>
          </a:prstGeom>
          <a:noFill/>
        </p:spPr>
        <p:txBody>
          <a:bodyPr wrap="square" rtlCol="0">
            <a:spAutoFit/>
          </a:bodyPr>
          <a:lstStyle/>
          <a:p>
            <a:pPr marL="285750" indent="-285750" algn="just">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 Smarter Stock Decisions:</a:t>
            </a:r>
            <a:r>
              <a:rPr lang="en-US" sz="2800" dirty="0">
                <a:latin typeface="Segoe UI" panose="020B0502040204020203" pitchFamily="34" charset="0"/>
                <a:cs typeface="Segoe UI" panose="020B0502040204020203" pitchFamily="34" charset="0"/>
              </a:rPr>
              <a:t> Buy right products in right quantity, reducing waste and shortages.</a:t>
            </a:r>
          </a:p>
          <a:p>
            <a:pPr marL="285750" indent="-285750">
              <a:buFont typeface="Wingdings" panose="05000000000000000000" pitchFamily="2" charset="2"/>
              <a:buChar char="ü"/>
            </a:pPr>
            <a:endParaRPr lang="en-US" sz="2800" dirty="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 Saves Time:</a:t>
            </a:r>
            <a:r>
              <a:rPr lang="en-US" sz="2800" dirty="0">
                <a:latin typeface="Segoe UI" panose="020B0502040204020203" pitchFamily="34" charset="0"/>
                <a:cs typeface="Segoe UI" panose="020B0502040204020203" pitchFamily="34" charset="0"/>
              </a:rPr>
              <a:t> Instant results eliminate hours of manual data analysis.</a:t>
            </a:r>
          </a:p>
          <a:p>
            <a:pPr marL="285750" indent="-285750">
              <a:buFont typeface="Wingdings" panose="05000000000000000000" pitchFamily="2" charset="2"/>
              <a:buChar char="ü"/>
            </a:pPr>
            <a:endParaRPr lang="en-US" sz="2800" dirty="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 Cost Effective:</a:t>
            </a:r>
            <a:r>
              <a:rPr lang="en-US" sz="2800" dirty="0">
                <a:latin typeface="Segoe UI" panose="020B0502040204020203" pitchFamily="34" charset="0"/>
                <a:cs typeface="Segoe UI" panose="020B0502040204020203" pitchFamily="34" charset="0"/>
              </a:rPr>
              <a:t> No expensive tools or technical staff required.</a:t>
            </a:r>
          </a:p>
          <a:p>
            <a:pPr marL="285750" indent="-285750">
              <a:buFont typeface="Wingdings" panose="05000000000000000000" pitchFamily="2" charset="2"/>
              <a:buChar char="ü"/>
            </a:pPr>
            <a:endParaRPr lang="en-US" sz="2800" dirty="0">
              <a:latin typeface="Segoe UI" panose="020B0502040204020203" pitchFamily="34" charset="0"/>
              <a:cs typeface="Segoe UI" panose="020B0502040204020203" pitchFamily="34" charset="0"/>
            </a:endParaRPr>
          </a:p>
          <a:p>
            <a:pPr marL="285750" indent="-285750">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 Increased Profitability:</a:t>
            </a:r>
            <a:r>
              <a:rPr lang="en-US" sz="2800" dirty="0">
                <a:latin typeface="Segoe UI" panose="020B0502040204020203" pitchFamily="34" charset="0"/>
                <a:cs typeface="Segoe UI" panose="020B0502040204020203" pitchFamily="34" charset="0"/>
              </a:rPr>
              <a:t> Right stocking maximizes sales and reduces unnecessary expenses.</a:t>
            </a:r>
          </a:p>
        </p:txBody>
      </p:sp>
      <p:pic>
        <p:nvPicPr>
          <p:cNvPr id="6" name="Picture 5">
            <a:extLst>
              <a:ext uri="{FF2B5EF4-FFF2-40B4-BE49-F238E27FC236}">
                <a16:creationId xmlns:a16="http://schemas.microsoft.com/office/drawing/2014/main" id="{F035A1E0-6CC9-0338-2B76-6DEE7ECAAA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746491" y="780549"/>
            <a:ext cx="3963080" cy="3963080"/>
          </a:xfrm>
          <a:prstGeom prst="rect">
            <a:avLst/>
          </a:prstGeom>
        </p:spPr>
      </p:pic>
    </p:spTree>
    <p:extLst>
      <p:ext uri="{BB962C8B-B14F-4D97-AF65-F5344CB8AC3E}">
        <p14:creationId xmlns:p14="http://schemas.microsoft.com/office/powerpoint/2010/main" val="23901365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174E2010-F617-4DB9-E650-C5C7937D4727}"/>
            </a:ext>
          </a:extLst>
        </p:cNvPr>
        <p:cNvGrpSpPr/>
        <p:nvPr/>
      </p:nvGrpSpPr>
      <p:grpSpPr>
        <a:xfrm>
          <a:off x="0" y="0"/>
          <a:ext cx="0" cy="0"/>
          <a:chOff x="0" y="0"/>
          <a:chExt cx="0" cy="0"/>
        </a:xfrm>
      </p:grpSpPr>
      <p:sp>
        <p:nvSpPr>
          <p:cNvPr id="5" name="TextBox 6">
            <a:extLst>
              <a:ext uri="{FF2B5EF4-FFF2-40B4-BE49-F238E27FC236}">
                <a16:creationId xmlns:a16="http://schemas.microsoft.com/office/drawing/2014/main" id="{A4C9D2C3-887D-C6AF-804F-54C2B3E95642}"/>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7" name="TextBox 10">
            <a:extLst>
              <a:ext uri="{FF2B5EF4-FFF2-40B4-BE49-F238E27FC236}">
                <a16:creationId xmlns:a16="http://schemas.microsoft.com/office/drawing/2014/main" id="{6D62CF7D-F9E1-B30C-D765-3B7C713FE531}"/>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8" name="Graphic 7">
            <a:extLst>
              <a:ext uri="{FF2B5EF4-FFF2-40B4-BE49-F238E27FC236}">
                <a16:creationId xmlns:a16="http://schemas.microsoft.com/office/drawing/2014/main" id="{67AF505D-0FD0-38F0-B2D3-EAC1DD25A8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10" name="Group 5">
            <a:extLst>
              <a:ext uri="{FF2B5EF4-FFF2-40B4-BE49-F238E27FC236}">
                <a16:creationId xmlns:a16="http://schemas.microsoft.com/office/drawing/2014/main" id="{1187085F-890D-DF09-50D4-0CB2B1D054DA}"/>
              </a:ext>
            </a:extLst>
          </p:cNvPr>
          <p:cNvGrpSpPr/>
          <p:nvPr/>
        </p:nvGrpSpPr>
        <p:grpSpPr>
          <a:xfrm>
            <a:off x="824795" y="9258300"/>
            <a:ext cx="4618433" cy="648429"/>
            <a:chOff x="0" y="0"/>
            <a:chExt cx="6157911" cy="864572"/>
          </a:xfrm>
        </p:grpSpPr>
        <p:sp>
          <p:nvSpPr>
            <p:cNvPr id="11" name="Freeform 6">
              <a:extLst>
                <a:ext uri="{FF2B5EF4-FFF2-40B4-BE49-F238E27FC236}">
                  <a16:creationId xmlns:a16="http://schemas.microsoft.com/office/drawing/2014/main" id="{2C030D36-A9A5-0034-6CD5-734D9638F07E}"/>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12" name="TextBox 7">
              <a:extLst>
                <a:ext uri="{FF2B5EF4-FFF2-40B4-BE49-F238E27FC236}">
                  <a16:creationId xmlns:a16="http://schemas.microsoft.com/office/drawing/2014/main" id="{E4EB71B4-B6F1-A168-98BD-638BD4D3F0FB}"/>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14" name="AutoShape 16">
            <a:extLst>
              <a:ext uri="{FF2B5EF4-FFF2-40B4-BE49-F238E27FC236}">
                <a16:creationId xmlns:a16="http://schemas.microsoft.com/office/drawing/2014/main" id="{04E4D3CA-23AC-9C84-8296-DA3841864EEE}"/>
              </a:ext>
            </a:extLst>
          </p:cNvPr>
          <p:cNvSpPr/>
          <p:nvPr/>
        </p:nvSpPr>
        <p:spPr>
          <a:xfrm>
            <a:off x="1142998" y="3356916"/>
            <a:ext cx="7086601" cy="30186"/>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15" name="TextBox 6">
            <a:extLst>
              <a:ext uri="{FF2B5EF4-FFF2-40B4-BE49-F238E27FC236}">
                <a16:creationId xmlns:a16="http://schemas.microsoft.com/office/drawing/2014/main" id="{3E841D14-05F7-32BD-B1E0-0358DC718938}"/>
              </a:ext>
            </a:extLst>
          </p:cNvPr>
          <p:cNvSpPr txBox="1"/>
          <p:nvPr/>
        </p:nvSpPr>
        <p:spPr>
          <a:xfrm>
            <a:off x="1142998" y="2476500"/>
            <a:ext cx="7086601"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Future Improvements</a:t>
            </a:r>
          </a:p>
        </p:txBody>
      </p:sp>
      <p:sp>
        <p:nvSpPr>
          <p:cNvPr id="2" name="TextBox 1">
            <a:extLst>
              <a:ext uri="{FF2B5EF4-FFF2-40B4-BE49-F238E27FC236}">
                <a16:creationId xmlns:a16="http://schemas.microsoft.com/office/drawing/2014/main" id="{46B5B151-6682-BCCA-78D0-925C39467DCA}"/>
              </a:ext>
            </a:extLst>
          </p:cNvPr>
          <p:cNvSpPr txBox="1"/>
          <p:nvPr/>
        </p:nvSpPr>
        <p:spPr>
          <a:xfrm>
            <a:off x="1066800" y="3543300"/>
            <a:ext cx="11679691" cy="1692771"/>
          </a:xfrm>
          <a:prstGeom prst="rect">
            <a:avLst/>
          </a:prstGeom>
          <a:noFill/>
        </p:spPr>
        <p:txBody>
          <a:bodyPr wrap="square" rtlCol="0">
            <a:spAutoFit/>
          </a:bodyPr>
          <a:lstStyle/>
          <a:p>
            <a:pPr algn="just"/>
            <a:r>
              <a:rPr lang="en-US" sz="2600" dirty="0">
                <a:latin typeface="Segoe UI Semibold" panose="020B0702040204020203" pitchFamily="34" charset="0"/>
                <a:cs typeface="Segoe UI Semibold" panose="020B0702040204020203" pitchFamily="34" charset="0"/>
              </a:rPr>
              <a:t>SalesOracle</a:t>
            </a:r>
            <a:r>
              <a:rPr lang="en-US" sz="2600" dirty="0">
                <a:latin typeface="Segoe UI" panose="020B0502040204020203" pitchFamily="34" charset="0"/>
                <a:cs typeface="Segoe UI" panose="020B0502040204020203" pitchFamily="34" charset="0"/>
              </a:rPr>
              <a:t> is built with scalability and long term growth in mind. While the current version successfully addresses core forecasting and analytics needs, the following enhancements are planned to make the system even more powerful, automated, and accessible for businesses in the future.</a:t>
            </a:r>
          </a:p>
        </p:txBody>
      </p:sp>
      <p:sp>
        <p:nvSpPr>
          <p:cNvPr id="3" name="TextBox 2">
            <a:extLst>
              <a:ext uri="{FF2B5EF4-FFF2-40B4-BE49-F238E27FC236}">
                <a16:creationId xmlns:a16="http://schemas.microsoft.com/office/drawing/2014/main" id="{D844E8A2-B277-05EE-3A5A-8F211A4AB855}"/>
              </a:ext>
            </a:extLst>
          </p:cNvPr>
          <p:cNvSpPr txBox="1"/>
          <p:nvPr/>
        </p:nvSpPr>
        <p:spPr>
          <a:xfrm>
            <a:off x="1142999" y="5490270"/>
            <a:ext cx="15544801" cy="2677656"/>
          </a:xfrm>
          <a:prstGeom prst="rect">
            <a:avLst/>
          </a:prstGeom>
          <a:noFill/>
        </p:spPr>
        <p:txBody>
          <a:bodyPr wrap="square" rtlCol="0">
            <a:spAutoFit/>
          </a:bodyPr>
          <a:lstStyle/>
          <a:p>
            <a:pPr marL="457200" indent="-457200" algn="just">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Mobile Application:</a:t>
            </a:r>
            <a:r>
              <a:rPr lang="en-US" sz="2800" dirty="0">
                <a:latin typeface="Segoe UI" panose="020B0502040204020203" pitchFamily="34" charset="0"/>
                <a:cs typeface="Segoe UI" panose="020B0502040204020203" pitchFamily="34" charset="0"/>
              </a:rPr>
              <a:t> Access forecasts and insights anytime from a dedicated mobile app.</a:t>
            </a:r>
          </a:p>
          <a:p>
            <a:pPr marL="457200" indent="-457200" algn="just">
              <a:buFont typeface="Wingdings" panose="05000000000000000000" pitchFamily="2" charset="2"/>
              <a:buChar char="ü"/>
            </a:pPr>
            <a:endParaRPr lang="en-US" sz="2800" dirty="0">
              <a:latin typeface="Segoe UI" panose="020B0502040204020203" pitchFamily="34" charset="0"/>
              <a:cs typeface="Segoe UI" panose="020B0502040204020203" pitchFamily="34" charset="0"/>
            </a:endParaRPr>
          </a:p>
          <a:p>
            <a:pPr marL="457200" indent="-457200" algn="just">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SMS &amp; WhatsApp Alerts: </a:t>
            </a:r>
            <a:r>
              <a:rPr lang="en-US" sz="2800" dirty="0">
                <a:latin typeface="Segoe UI" panose="020B0502040204020203" pitchFamily="34" charset="0"/>
                <a:cs typeface="Segoe UI" panose="020B0502040204020203" pitchFamily="34" charset="0"/>
              </a:rPr>
              <a:t>Get instant notifications about low stock or high demand products.</a:t>
            </a:r>
          </a:p>
          <a:p>
            <a:pPr algn="just"/>
            <a:endParaRPr lang="en-US" sz="2800" dirty="0">
              <a:latin typeface="Segoe UI" panose="020B0502040204020203" pitchFamily="34" charset="0"/>
              <a:cs typeface="Segoe UI" panose="020B0502040204020203" pitchFamily="34" charset="0"/>
            </a:endParaRPr>
          </a:p>
          <a:p>
            <a:pPr marL="457200" indent="-457200" algn="just">
              <a:buFont typeface="Wingdings" panose="05000000000000000000" pitchFamily="2" charset="2"/>
              <a:buChar char="ü"/>
            </a:pPr>
            <a:r>
              <a:rPr lang="en-US" sz="2800" b="1" dirty="0">
                <a:latin typeface="Segoe UI" panose="020B0502040204020203" pitchFamily="34" charset="0"/>
                <a:cs typeface="Segoe UI" panose="020B0502040204020203" pitchFamily="34" charset="0"/>
              </a:rPr>
              <a:t>Automated Goal Tracking: </a:t>
            </a:r>
            <a:r>
              <a:rPr lang="en-US" sz="2800" dirty="0">
                <a:latin typeface="Segoe UI" panose="020B0502040204020203" pitchFamily="34" charset="0"/>
                <a:cs typeface="Segoe UI" panose="020B0502040204020203" pitchFamily="34" charset="0"/>
              </a:rPr>
              <a:t>Set sales targets and let the system track and report progress automatically.</a:t>
            </a:r>
          </a:p>
        </p:txBody>
      </p:sp>
      <p:pic>
        <p:nvPicPr>
          <p:cNvPr id="9" name="Picture 8">
            <a:extLst>
              <a:ext uri="{FF2B5EF4-FFF2-40B4-BE49-F238E27FC236}">
                <a16:creationId xmlns:a16="http://schemas.microsoft.com/office/drawing/2014/main" id="{4C90D6EF-7D44-4535-399E-E600CFCC61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73000" y="343459"/>
            <a:ext cx="5233111" cy="5233111"/>
          </a:xfrm>
          <a:prstGeom prst="rect">
            <a:avLst/>
          </a:prstGeom>
        </p:spPr>
      </p:pic>
    </p:spTree>
    <p:extLst>
      <p:ext uri="{BB962C8B-B14F-4D97-AF65-F5344CB8AC3E}">
        <p14:creationId xmlns:p14="http://schemas.microsoft.com/office/powerpoint/2010/main" val="4213840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975D2AB2-F194-CAEC-F02D-46F92E3CF49C}"/>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DAF11A14-835B-1021-066D-89055EA8F56C}"/>
              </a:ext>
            </a:extLst>
          </p:cNvPr>
          <p:cNvSpPr txBox="1"/>
          <p:nvPr/>
        </p:nvSpPr>
        <p:spPr>
          <a:xfrm>
            <a:off x="1142999" y="3780115"/>
            <a:ext cx="10210801" cy="4308872"/>
          </a:xfrm>
          <a:prstGeom prst="rect">
            <a:avLst/>
          </a:prstGeom>
        </p:spPr>
        <p:txBody>
          <a:bodyPr wrap="square" lIns="0" tIns="0" rIns="0" bIns="0" rtlCol="0" anchor="t">
            <a:spAutoFit/>
          </a:bodyPr>
          <a:lstStyle/>
          <a:p>
            <a:pPr algn="just"/>
            <a:r>
              <a:rPr lang="en-US" sz="2800" dirty="0">
                <a:latin typeface="Segoe UI Semibold" panose="020B0702040204020203" pitchFamily="34" charset="0"/>
                <a:cs typeface="Segoe UI Semibold" panose="020B0702040204020203" pitchFamily="34" charset="0"/>
              </a:rPr>
              <a:t>SalesOracle</a:t>
            </a:r>
            <a:r>
              <a:rPr lang="en-US" sz="2800" dirty="0">
                <a:latin typeface="Segoe UI" panose="020B0502040204020203" pitchFamily="34" charset="0"/>
                <a:cs typeface="Segoe UI" panose="020B0502040204020203" pitchFamily="34" charset="0"/>
              </a:rPr>
              <a:t> successfully addresses the challenge of predicting future product sales for retail and departmental stores. It empowers sales managers to make smarter stocking decisions without any technical expertise or expensive tools.</a:t>
            </a:r>
          </a:p>
          <a:p>
            <a:pPr algn="just"/>
            <a:endParaRPr lang="en-US" sz="2800" dirty="0">
              <a:latin typeface="Segoe UI" panose="020B0502040204020203" pitchFamily="34" charset="0"/>
              <a:cs typeface="Segoe UI" panose="020B0502040204020203" pitchFamily="34" charset="0"/>
            </a:endParaRPr>
          </a:p>
          <a:p>
            <a:pPr algn="just"/>
            <a:r>
              <a:rPr lang="en-US" sz="2800" dirty="0">
                <a:latin typeface="Segoe UI" panose="020B0502040204020203" pitchFamily="34" charset="0"/>
                <a:cs typeface="Segoe UI" panose="020B0502040204020203" pitchFamily="34" charset="0"/>
              </a:rPr>
              <a:t>By uploading a simple CSV file, businesses instantly get sales forecasts, business overview, product recommendations, and data analytics, all powered by the XGBoost machine learning model, making </a:t>
            </a:r>
            <a:r>
              <a:rPr lang="en-US" sz="2800" dirty="0">
                <a:latin typeface="Segoe UI Semibold" panose="020B0702040204020203" pitchFamily="34" charset="0"/>
                <a:cs typeface="Segoe UI Semibold" panose="020B0702040204020203" pitchFamily="34" charset="0"/>
              </a:rPr>
              <a:t>SalesOracle</a:t>
            </a:r>
            <a:r>
              <a:rPr lang="en-US" sz="2800" dirty="0">
                <a:latin typeface="Segoe UI" panose="020B0502040204020203" pitchFamily="34" charset="0"/>
                <a:cs typeface="Segoe UI" panose="020B0502040204020203" pitchFamily="34" charset="0"/>
              </a:rPr>
              <a:t> a practical and affordable solution for the retail industry.</a:t>
            </a:r>
          </a:p>
        </p:txBody>
      </p:sp>
      <p:sp>
        <p:nvSpPr>
          <p:cNvPr id="16" name="TextBox 6">
            <a:extLst>
              <a:ext uri="{FF2B5EF4-FFF2-40B4-BE49-F238E27FC236}">
                <a16:creationId xmlns:a16="http://schemas.microsoft.com/office/drawing/2014/main" id="{4D01ED28-D6EC-8575-DA84-41F9978A06FC}"/>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17" name="TextBox 10">
            <a:extLst>
              <a:ext uri="{FF2B5EF4-FFF2-40B4-BE49-F238E27FC236}">
                <a16:creationId xmlns:a16="http://schemas.microsoft.com/office/drawing/2014/main" id="{02691614-AB89-C7D5-DAAB-F8BC857A8C73}"/>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18" name="Graphic 17">
            <a:extLst>
              <a:ext uri="{FF2B5EF4-FFF2-40B4-BE49-F238E27FC236}">
                <a16:creationId xmlns:a16="http://schemas.microsoft.com/office/drawing/2014/main" id="{5BC71F0C-0069-81BB-C5C1-3B41FCFF0A8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20" name="Group 5">
            <a:extLst>
              <a:ext uri="{FF2B5EF4-FFF2-40B4-BE49-F238E27FC236}">
                <a16:creationId xmlns:a16="http://schemas.microsoft.com/office/drawing/2014/main" id="{5ED5A1BA-7070-ADCB-A1C7-FC575E490F33}"/>
              </a:ext>
            </a:extLst>
          </p:cNvPr>
          <p:cNvGrpSpPr/>
          <p:nvPr/>
        </p:nvGrpSpPr>
        <p:grpSpPr>
          <a:xfrm>
            <a:off x="824795" y="9258300"/>
            <a:ext cx="4618433" cy="648429"/>
            <a:chOff x="0" y="0"/>
            <a:chExt cx="6157911" cy="864572"/>
          </a:xfrm>
        </p:grpSpPr>
        <p:sp>
          <p:nvSpPr>
            <p:cNvPr id="21" name="Freeform 6">
              <a:extLst>
                <a:ext uri="{FF2B5EF4-FFF2-40B4-BE49-F238E27FC236}">
                  <a16:creationId xmlns:a16="http://schemas.microsoft.com/office/drawing/2014/main" id="{8F0E1304-59C3-6D6A-163B-798724294BCA}"/>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22" name="TextBox 7">
              <a:extLst>
                <a:ext uri="{FF2B5EF4-FFF2-40B4-BE49-F238E27FC236}">
                  <a16:creationId xmlns:a16="http://schemas.microsoft.com/office/drawing/2014/main" id="{63D56B43-F3C4-A1BA-E3BD-71A444C2631E}"/>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26" name="AutoShape 16">
            <a:extLst>
              <a:ext uri="{FF2B5EF4-FFF2-40B4-BE49-F238E27FC236}">
                <a16:creationId xmlns:a16="http://schemas.microsoft.com/office/drawing/2014/main" id="{69B46A53-8137-9638-C7DE-19834EDB4D80}"/>
              </a:ext>
            </a:extLst>
          </p:cNvPr>
          <p:cNvSpPr/>
          <p:nvPr/>
        </p:nvSpPr>
        <p:spPr>
          <a:xfrm>
            <a:off x="1142999" y="3356916"/>
            <a:ext cx="4038602" cy="17203"/>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27" name="TextBox 6">
            <a:extLst>
              <a:ext uri="{FF2B5EF4-FFF2-40B4-BE49-F238E27FC236}">
                <a16:creationId xmlns:a16="http://schemas.microsoft.com/office/drawing/2014/main" id="{3E27A61C-05FF-5EE9-1363-8F9C47AF69EC}"/>
              </a:ext>
            </a:extLst>
          </p:cNvPr>
          <p:cNvSpPr txBox="1"/>
          <p:nvPr/>
        </p:nvSpPr>
        <p:spPr>
          <a:xfrm>
            <a:off x="1142999" y="2476500"/>
            <a:ext cx="5410202" cy="830997"/>
          </a:xfrm>
          <a:prstGeom prst="rect">
            <a:avLst/>
          </a:prstGeom>
        </p:spPr>
        <p:txBody>
          <a:bodyPr wrap="square" lIns="0" tIns="0" rIns="0" bIns="0" rtlCol="0" anchor="t">
            <a:spAutoFit/>
          </a:bodyPr>
          <a:lstStyle/>
          <a:p>
            <a:pPr>
              <a:spcBef>
                <a:spcPct val="0"/>
              </a:spcBef>
            </a:pPr>
            <a:r>
              <a:rPr lang="en-US" sz="54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Conclusion</a:t>
            </a:r>
          </a:p>
        </p:txBody>
      </p:sp>
      <p:pic>
        <p:nvPicPr>
          <p:cNvPr id="6" name="Picture 5">
            <a:extLst>
              <a:ext uri="{FF2B5EF4-FFF2-40B4-BE49-F238E27FC236}">
                <a16:creationId xmlns:a16="http://schemas.microsoft.com/office/drawing/2014/main" id="{FBC5DD69-83F7-AA24-F071-7CE49CB721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11000" y="3365517"/>
            <a:ext cx="5563281" cy="5563281"/>
          </a:xfrm>
          <a:prstGeom prst="rect">
            <a:avLst/>
          </a:prstGeom>
        </p:spPr>
      </p:pic>
    </p:spTree>
    <p:extLst>
      <p:ext uri="{BB962C8B-B14F-4D97-AF65-F5344CB8AC3E}">
        <p14:creationId xmlns:p14="http://schemas.microsoft.com/office/powerpoint/2010/main" val="3034110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8D44A7ED-4595-86A1-4DEC-F188B101AF71}"/>
            </a:ext>
          </a:extLst>
        </p:cNvPr>
        <p:cNvGrpSpPr/>
        <p:nvPr/>
      </p:nvGrpSpPr>
      <p:grpSpPr>
        <a:xfrm>
          <a:off x="0" y="0"/>
          <a:ext cx="0" cy="0"/>
          <a:chOff x="0" y="0"/>
          <a:chExt cx="0" cy="0"/>
        </a:xfrm>
      </p:grpSpPr>
      <p:sp>
        <p:nvSpPr>
          <p:cNvPr id="16" name="TextBox 6">
            <a:extLst>
              <a:ext uri="{FF2B5EF4-FFF2-40B4-BE49-F238E27FC236}">
                <a16:creationId xmlns:a16="http://schemas.microsoft.com/office/drawing/2014/main" id="{056E23E9-C61E-9353-F722-D04BDB565B1B}"/>
              </a:ext>
            </a:extLst>
          </p:cNvPr>
          <p:cNvSpPr txBox="1"/>
          <p:nvPr/>
        </p:nvSpPr>
        <p:spPr>
          <a:xfrm>
            <a:off x="2286000" y="1579960"/>
            <a:ext cx="13487401" cy="430887"/>
          </a:xfrm>
          <a:prstGeom prst="rect">
            <a:avLst/>
          </a:prstGeom>
        </p:spPr>
        <p:txBody>
          <a:bodyPr wrap="square" lIns="0" tIns="0" rIns="0" bIns="0" rtlCol="0" anchor="t">
            <a:spAutoFit/>
          </a:bodyPr>
          <a:lstStyle/>
          <a:p>
            <a:pPr>
              <a:spcBef>
                <a:spcPct val="0"/>
              </a:spcBef>
            </a:pPr>
            <a:r>
              <a:rPr lang="en-US" sz="2800" dirty="0">
                <a:solidFill>
                  <a:schemeClr val="tx1">
                    <a:lumMod val="65000"/>
                    <a:lumOff val="35000"/>
                  </a:schemeClr>
                </a:solidFill>
                <a:latin typeface="Segoe UI" panose="020B0502040204020203" pitchFamily="34" charset="0"/>
                <a:ea typeface="Montserrat"/>
                <a:cs typeface="Segoe UI" panose="020B0502040204020203" pitchFamily="34" charset="0"/>
                <a:sym typeface="Montserrat"/>
              </a:rPr>
              <a:t>AI Driven Business Sales Forecasting System</a:t>
            </a:r>
          </a:p>
        </p:txBody>
      </p:sp>
      <p:sp>
        <p:nvSpPr>
          <p:cNvPr id="17" name="TextBox 10">
            <a:extLst>
              <a:ext uri="{FF2B5EF4-FFF2-40B4-BE49-F238E27FC236}">
                <a16:creationId xmlns:a16="http://schemas.microsoft.com/office/drawing/2014/main" id="{E268B542-0A57-CF09-DE21-612B3C1DA2A3}"/>
              </a:ext>
            </a:extLst>
          </p:cNvPr>
          <p:cNvSpPr txBox="1"/>
          <p:nvPr/>
        </p:nvSpPr>
        <p:spPr>
          <a:xfrm>
            <a:off x="2286000" y="1015709"/>
            <a:ext cx="5609154" cy="564257"/>
          </a:xfrm>
          <a:prstGeom prst="rect">
            <a:avLst/>
          </a:prstGeom>
        </p:spPr>
        <p:txBody>
          <a:bodyPr wrap="square" lIns="0" tIns="0" rIns="0" bIns="0" rtlCol="0" anchor="t">
            <a:spAutoFit/>
          </a:bodyPr>
          <a:lstStyle/>
          <a:p>
            <a:pPr marL="0" lvl="0" indent="0">
              <a:lnSpc>
                <a:spcPts val="4387"/>
              </a:lnSpc>
            </a:pPr>
            <a:r>
              <a:rPr lang="en-US" sz="4000" b="1" dirty="0">
                <a:solidFill>
                  <a:srgbClr val="101B40"/>
                </a:solidFill>
                <a:latin typeface="Montserrat Bold" panose="00000800000000000000" pitchFamily="2" charset="0"/>
                <a:ea typeface="Montserrat Bold"/>
                <a:cs typeface="Segoe UI" panose="020B0502040204020203" pitchFamily="34" charset="0"/>
                <a:sym typeface="Montserrat Bold"/>
              </a:rPr>
              <a:t>Sales Oracle</a:t>
            </a:r>
          </a:p>
        </p:txBody>
      </p:sp>
      <p:pic>
        <p:nvPicPr>
          <p:cNvPr id="18" name="Graphic 17">
            <a:extLst>
              <a:ext uri="{FF2B5EF4-FFF2-40B4-BE49-F238E27FC236}">
                <a16:creationId xmlns:a16="http://schemas.microsoft.com/office/drawing/2014/main" id="{977ECC81-6F40-7BF6-3A2C-EDF76AF4B7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2999" y="1104900"/>
            <a:ext cx="829747" cy="829747"/>
          </a:xfrm>
          <a:prstGeom prst="rect">
            <a:avLst/>
          </a:prstGeom>
        </p:spPr>
      </p:pic>
      <p:grpSp>
        <p:nvGrpSpPr>
          <p:cNvPr id="20" name="Group 5">
            <a:extLst>
              <a:ext uri="{FF2B5EF4-FFF2-40B4-BE49-F238E27FC236}">
                <a16:creationId xmlns:a16="http://schemas.microsoft.com/office/drawing/2014/main" id="{55721429-92B2-1281-18DC-EB7B99B72B4B}"/>
              </a:ext>
            </a:extLst>
          </p:cNvPr>
          <p:cNvGrpSpPr/>
          <p:nvPr/>
        </p:nvGrpSpPr>
        <p:grpSpPr>
          <a:xfrm>
            <a:off x="824795" y="9258300"/>
            <a:ext cx="4618433" cy="648429"/>
            <a:chOff x="0" y="0"/>
            <a:chExt cx="6157911" cy="864572"/>
          </a:xfrm>
        </p:grpSpPr>
        <p:sp>
          <p:nvSpPr>
            <p:cNvPr id="21" name="Freeform 6">
              <a:extLst>
                <a:ext uri="{FF2B5EF4-FFF2-40B4-BE49-F238E27FC236}">
                  <a16:creationId xmlns:a16="http://schemas.microsoft.com/office/drawing/2014/main" id="{38874A9E-1724-C167-2379-02A243420789}"/>
                </a:ext>
              </a:extLst>
            </p:cNvPr>
            <p:cNvSpPr/>
            <p:nvPr/>
          </p:nvSpPr>
          <p:spPr>
            <a:xfrm>
              <a:off x="0" y="0"/>
              <a:ext cx="1093430" cy="864572"/>
            </a:xfrm>
            <a:custGeom>
              <a:avLst/>
              <a:gdLst/>
              <a:ahLst/>
              <a:cxnLst/>
              <a:rect l="l" t="t" r="r" b="b"/>
              <a:pathLst>
                <a:path w="1093430" h="864572">
                  <a:moveTo>
                    <a:pt x="0" y="0"/>
                  </a:moveTo>
                  <a:lnTo>
                    <a:pt x="1093430" y="0"/>
                  </a:lnTo>
                  <a:lnTo>
                    <a:pt x="1093430" y="864572"/>
                  </a:lnTo>
                  <a:lnTo>
                    <a:pt x="0" y="864572"/>
                  </a:lnTo>
                  <a:lnTo>
                    <a:pt x="0" y="0"/>
                  </a:lnTo>
                  <a:close/>
                </a:path>
              </a:pathLst>
            </a:custGeom>
            <a:blipFill>
              <a:blip r:embed="rId3"/>
              <a:stretch>
                <a:fillRect/>
              </a:stretch>
            </a:blipFill>
          </p:spPr>
          <p:txBody>
            <a:bodyPr/>
            <a:lstStyle/>
            <a:p>
              <a:endParaRPr lang="en-US"/>
            </a:p>
          </p:txBody>
        </p:sp>
        <p:sp>
          <p:nvSpPr>
            <p:cNvPr id="22" name="TextBox 7">
              <a:extLst>
                <a:ext uri="{FF2B5EF4-FFF2-40B4-BE49-F238E27FC236}">
                  <a16:creationId xmlns:a16="http://schemas.microsoft.com/office/drawing/2014/main" id="{98E239A2-7AF6-CFFC-AC9E-8E41E02B1589}"/>
                </a:ext>
              </a:extLst>
            </p:cNvPr>
            <p:cNvSpPr txBox="1"/>
            <p:nvPr/>
          </p:nvSpPr>
          <p:spPr>
            <a:xfrm>
              <a:off x="1195029" y="227363"/>
              <a:ext cx="4962882" cy="514500"/>
            </a:xfrm>
            <a:prstGeom prst="rect">
              <a:avLst/>
            </a:prstGeom>
          </p:spPr>
          <p:txBody>
            <a:bodyPr lIns="0" tIns="0" rIns="0" bIns="0" rtlCol="0" anchor="t">
              <a:spAutoFit/>
            </a:bodyPr>
            <a:lstStyle/>
            <a:p>
              <a:pPr algn="just">
                <a:lnSpc>
                  <a:spcPts val="3287"/>
                </a:lnSpc>
              </a:pPr>
              <a:r>
                <a:rPr lang="en-US" sz="2162" b="1">
                  <a:solidFill>
                    <a:srgbClr val="101B40"/>
                  </a:solidFill>
                  <a:latin typeface="Montserrat Bold"/>
                  <a:ea typeface="Montserrat Bold"/>
                  <a:cs typeface="Montserrat Bold"/>
                  <a:sym typeface="Montserrat Bold"/>
                </a:rPr>
                <a:t>University of South Asia</a:t>
              </a:r>
            </a:p>
          </p:txBody>
        </p:sp>
      </p:grpSp>
      <p:sp>
        <p:nvSpPr>
          <p:cNvPr id="26" name="AutoShape 16">
            <a:extLst>
              <a:ext uri="{FF2B5EF4-FFF2-40B4-BE49-F238E27FC236}">
                <a16:creationId xmlns:a16="http://schemas.microsoft.com/office/drawing/2014/main" id="{2900ECBE-ABE6-3567-9428-284F85C958AC}"/>
              </a:ext>
            </a:extLst>
          </p:cNvPr>
          <p:cNvSpPr/>
          <p:nvPr/>
        </p:nvSpPr>
        <p:spPr>
          <a:xfrm>
            <a:off x="1313462" y="3771901"/>
            <a:ext cx="4630137" cy="0"/>
          </a:xfrm>
          <a:prstGeom prst="line">
            <a:avLst/>
          </a:prstGeom>
          <a:ln>
            <a:headEnd type="none" w="sm" len="sm"/>
            <a:tailEnd type="none" w="sm" len="sm"/>
          </a:ln>
        </p:spPr>
        <p:style>
          <a:lnRef idx="3">
            <a:schemeClr val="accent5"/>
          </a:lnRef>
          <a:fillRef idx="0">
            <a:schemeClr val="accent5"/>
          </a:fillRef>
          <a:effectRef idx="2">
            <a:schemeClr val="accent5"/>
          </a:effectRef>
          <a:fontRef idx="minor">
            <a:schemeClr val="tx1"/>
          </a:fontRef>
        </p:style>
        <p:txBody>
          <a:bodyPr/>
          <a:lstStyle/>
          <a:p>
            <a:endParaRPr lang="en-US" dirty="0"/>
          </a:p>
        </p:txBody>
      </p:sp>
      <p:sp>
        <p:nvSpPr>
          <p:cNvPr id="27" name="TextBox 6">
            <a:extLst>
              <a:ext uri="{FF2B5EF4-FFF2-40B4-BE49-F238E27FC236}">
                <a16:creationId xmlns:a16="http://schemas.microsoft.com/office/drawing/2014/main" id="{C2A83B61-4B7F-06F7-03D3-3FEDFD542408}"/>
              </a:ext>
            </a:extLst>
          </p:cNvPr>
          <p:cNvSpPr txBox="1"/>
          <p:nvPr/>
        </p:nvSpPr>
        <p:spPr>
          <a:xfrm>
            <a:off x="1234831" y="2496030"/>
            <a:ext cx="5410202" cy="1107996"/>
          </a:xfrm>
          <a:prstGeom prst="rect">
            <a:avLst/>
          </a:prstGeom>
        </p:spPr>
        <p:txBody>
          <a:bodyPr wrap="square" lIns="0" tIns="0" rIns="0" bIns="0" rtlCol="0" anchor="t">
            <a:spAutoFit/>
          </a:bodyPr>
          <a:lstStyle/>
          <a:p>
            <a:pPr>
              <a:spcBef>
                <a:spcPct val="0"/>
              </a:spcBef>
            </a:pPr>
            <a:r>
              <a:rPr lang="en-US" sz="7200" b="1" dirty="0">
                <a:solidFill>
                  <a:srgbClr val="101B40"/>
                </a:solidFill>
                <a:latin typeface="Segoe UI" panose="020B0502040204020203" pitchFamily="34" charset="0"/>
                <a:ea typeface="Calibri" panose="020F0502020204030204" pitchFamily="34" charset="0"/>
                <a:cs typeface="Segoe UI" panose="020B0502040204020203" pitchFamily="34" charset="0"/>
                <a:sym typeface="Montserrat"/>
              </a:rPr>
              <a:t>Thank you!</a:t>
            </a:r>
          </a:p>
        </p:txBody>
      </p:sp>
      <p:pic>
        <p:nvPicPr>
          <p:cNvPr id="3" name="Picture 2">
            <a:extLst>
              <a:ext uri="{FF2B5EF4-FFF2-40B4-BE49-F238E27FC236}">
                <a16:creationId xmlns:a16="http://schemas.microsoft.com/office/drawing/2014/main" id="{07082BA3-B77A-0A53-D2AA-E3B2FDAB4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829460" y="2857500"/>
            <a:ext cx="5688753" cy="5688753"/>
          </a:xfrm>
          <a:prstGeom prst="rect">
            <a:avLst/>
          </a:prstGeom>
        </p:spPr>
      </p:pic>
    </p:spTree>
    <p:extLst>
      <p:ext uri="{BB962C8B-B14F-4D97-AF65-F5344CB8AC3E}">
        <p14:creationId xmlns:p14="http://schemas.microsoft.com/office/powerpoint/2010/main" val="10700775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TotalTime>
  <Words>1065</Words>
  <Application>Microsoft Office PowerPoint</Application>
  <PresentationFormat>Custom</PresentationFormat>
  <Paragraphs>198</Paragraphs>
  <Slides>15</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Segoe UI Light</vt:lpstr>
      <vt:lpstr>Aptos</vt:lpstr>
      <vt:lpstr>Arial</vt:lpstr>
      <vt:lpstr>Canva Sans</vt:lpstr>
      <vt:lpstr>Segoe UI</vt:lpstr>
      <vt:lpstr>Montserrat Bold</vt:lpstr>
      <vt:lpstr>DM Sans Bold</vt:lpstr>
      <vt:lpstr>Calibri</vt:lpstr>
      <vt:lpstr>Wingdings</vt:lpstr>
      <vt:lpstr>Segoe UI Semibold</vt:lpstr>
      <vt:lpstr>Garet Bold</vt:lpstr>
      <vt:lpstr>DM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Artificial Intelligence Presentation</dc:title>
  <dc:creator>Hafiz Mudasir Bilal</dc:creator>
  <cp:lastModifiedBy>Muhammad Umair</cp:lastModifiedBy>
  <cp:revision>343</cp:revision>
  <dcterms:created xsi:type="dcterms:W3CDTF">2006-08-16T00:00:00Z</dcterms:created>
  <dcterms:modified xsi:type="dcterms:W3CDTF">2026-05-16T05:18:36Z</dcterms:modified>
  <dc:identifier>DAG563elH2I</dc:identifier>
</cp:coreProperties>
</file>